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8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A3A"/>
    <a:srgbClr val="262626"/>
    <a:srgbClr val="F2F2F2"/>
    <a:srgbClr val="0D1117"/>
    <a:srgbClr val="FF7B61"/>
    <a:srgbClr val="C40E00"/>
    <a:srgbClr val="FF6600"/>
    <a:srgbClr val="D9D9D9"/>
    <a:srgbClr val="171717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2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38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7139A-69AE-81EE-E5D4-5C329D8B4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D538E-ABAC-5449-81C6-603BD7299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2200B-A96D-582A-A2B1-08C2F16B7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DF383-F48D-4C35-882C-8A26F25E24F6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7C78B-533A-3A95-16F7-34A7120E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CC890-A6FF-6D69-03ED-D2D8B4CD7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256-4D1F-4286-8850-6BE354E67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477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98FE0-9026-0E59-C841-0AA5F78C2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D326C-D9EE-F0F9-7816-4417D58F9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8E1B4-3671-B19F-D3C1-2D4B4F75F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DF383-F48D-4C35-882C-8A26F25E24F6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5305B-8A65-3BC5-B1E8-F5AC68ED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E9F5B-AB7C-7FC0-53BA-49AA3573D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256-4D1F-4286-8850-6BE354E67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94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6B182-3F86-216A-A65D-A275C66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A2DFE-28B5-0712-9D73-76C6A1629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83783-13F7-268E-D1F1-3AD45A9C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DF383-F48D-4C35-882C-8A26F25E24F6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C952-ECF1-B048-A635-E181789B0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FC58E-FA6C-14C3-F325-E6D8AB121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256-4D1F-4286-8850-6BE354E67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9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ACB0F-6B9C-0840-CB06-8619997B6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8108B-7CFA-DFC8-5F7A-0788A62E6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6D72A-DA13-B836-292E-359B2321B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0474C-9D01-0B8D-4289-522B7F6E2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DF383-F48D-4C35-882C-8A26F25E24F6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C3E3A-38F9-0A53-DC8F-E1E3A24FA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5CE0B-802C-F764-7F1A-7FB62605E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256-4D1F-4286-8850-6BE354E67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60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5685A-033F-7273-1179-EC2B9279A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FA68A-4479-D09B-72B5-23B4E08CF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EF774-6318-0EE6-4181-3EF31F4BA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F16BD4-704E-4BAF-CCB4-CC010C813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A90820-174E-CFF7-9F27-22AB6D9B8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45FDBA-88C2-60E4-CF11-D0C5FB668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DF383-F48D-4C35-882C-8A26F25E24F6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526508-E48F-0CF7-1614-566E0E5CD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52B0C8-4986-F1E2-5C91-BC2D99431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256-4D1F-4286-8850-6BE354E67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305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9CAE2-6F5F-7CE8-0D71-ACB91A4B8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E5E030-0ABF-95B7-0CEC-E66CC95E3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DF383-F48D-4C35-882C-8A26F25E24F6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5F2FDA-6DA6-9BAB-2D24-005D8C070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6024C-60C4-94DD-C7EA-C2AA1E820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256-4D1F-4286-8850-6BE354E67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574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4A3FAA-3025-C2A3-E262-C6103A4F9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DF383-F48D-4C35-882C-8A26F25E24F6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48D57-270A-89BB-EF2C-E3CCAF3EC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EFEF9-6610-3B57-0863-00894F94D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256-4D1F-4286-8850-6BE354E67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63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43DE4-3AEA-28C6-E5CD-AC99A49E7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453DB-6AE6-32D8-BFE3-4EDC600E4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EDCAE-D717-76E8-A071-B6F84AF34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8D449-ACA5-C79B-CDA4-6823F66F5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DF383-F48D-4C35-882C-8A26F25E24F6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AA32F-53C9-24B0-EDAE-A4FB58046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16677-7D7D-F77A-0483-0E9102F66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256-4D1F-4286-8850-6BE354E67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03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022C7-F13F-F9F0-E772-E64A406F2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52DFE9-0972-7703-8F69-A4BDC19A1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3CBA7-952D-BA5E-BD4D-91C1BF624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178F9-CDD3-2868-CA2C-B9C8E40CD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DF383-F48D-4C35-882C-8A26F25E24F6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A772C-DF9F-EF41-8EAF-9FF62DB17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111318-451C-7C5A-09FB-6402F63CB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256-4D1F-4286-8850-6BE354E67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30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EFF38-177E-B94C-68F8-413D73FFC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E922E8-CFF2-5735-D715-BD06B7E89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35612-693D-C740-6011-AFA1F32D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DF383-F48D-4C35-882C-8A26F25E24F6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2E78C-7A23-173A-1755-B33C9DD69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C841B-641B-D114-5F84-0215E429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256-4D1F-4286-8850-6BE354E67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899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E36EB5-067A-BD48-B8FD-32F2E05A5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92769-E4A3-80AD-221D-25A65CEB0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6F84A-A29E-1223-AC75-AFF9987E7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DF383-F48D-4C35-882C-8A26F25E24F6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ABCA4-FA17-DADC-CBB2-8CBCD1A9A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473B9-8C5C-2C98-01D6-976109111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A9256-4D1F-4286-8850-6BE354E67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22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C8D403-29FC-1986-2CDF-FC2F8A8C5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33665-B61A-4F16-9813-197300C6D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44C0D-FA32-AE9D-7CFC-EA19473AE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DF383-F48D-4C35-882C-8A26F25E24F6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C3ED5-280B-A8C0-897F-F10E397435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0D48E-734C-1C7D-2E36-81DB0642D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0A9256-4D1F-4286-8850-6BE354E67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85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34B10-6BE2-DDE4-0921-56E9F6A48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ACE60489-66B9-A95C-9A12-954E4073475D}"/>
              </a:ext>
            </a:extLst>
          </p:cNvPr>
          <p:cNvGrpSpPr/>
          <p:nvPr/>
        </p:nvGrpSpPr>
        <p:grpSpPr>
          <a:xfrm>
            <a:off x="2008561" y="1641915"/>
            <a:ext cx="8148856" cy="3557833"/>
            <a:chOff x="2008561" y="1641915"/>
            <a:chExt cx="8148856" cy="3557833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0614AD0A-4522-93FF-6A28-19E268C54C5C}"/>
                </a:ext>
              </a:extLst>
            </p:cNvPr>
            <p:cNvSpPr/>
            <p:nvPr/>
          </p:nvSpPr>
          <p:spPr>
            <a:xfrm>
              <a:off x="2008561" y="1641915"/>
              <a:ext cx="8148856" cy="3557833"/>
            </a:xfrm>
            <a:prstGeom prst="roundRect">
              <a:avLst>
                <a:gd name="adj" fmla="val 2232"/>
              </a:avLst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AE003259-7600-E504-CA3C-45658A1D3C60}"/>
                </a:ext>
              </a:extLst>
            </p:cNvPr>
            <p:cNvGrpSpPr/>
            <p:nvPr/>
          </p:nvGrpSpPr>
          <p:grpSpPr>
            <a:xfrm>
              <a:off x="6788425" y="1749715"/>
              <a:ext cx="3309670" cy="1432634"/>
              <a:chOff x="4583028" y="1660130"/>
              <a:chExt cx="3309670" cy="1432634"/>
            </a:xfrm>
          </p:grpSpPr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EF60C0F4-52C4-9738-40DC-518B0A7C197E}"/>
                  </a:ext>
                </a:extLst>
              </p:cNvPr>
              <p:cNvSpPr/>
              <p:nvPr/>
            </p:nvSpPr>
            <p:spPr>
              <a:xfrm>
                <a:off x="5183521" y="1660130"/>
                <a:ext cx="2648141" cy="924852"/>
              </a:xfrm>
              <a:prstGeom prst="roundRect">
                <a:avLst>
                  <a:gd name="adj" fmla="val 8322"/>
                </a:avLst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34" name="Group 233">
                <a:extLst>
                  <a:ext uri="{FF2B5EF4-FFF2-40B4-BE49-F238E27FC236}">
                    <a16:creationId xmlns:a16="http://schemas.microsoft.com/office/drawing/2014/main" id="{010C11B1-7540-CD7F-EE82-E4AF2B261BF1}"/>
                  </a:ext>
                </a:extLst>
              </p:cNvPr>
              <p:cNvGrpSpPr/>
              <p:nvPr/>
            </p:nvGrpSpPr>
            <p:grpSpPr>
              <a:xfrm>
                <a:off x="4583028" y="2611103"/>
                <a:ext cx="3309670" cy="481661"/>
                <a:chOff x="4691340" y="2611103"/>
                <a:chExt cx="3309670" cy="481661"/>
              </a:xfrm>
            </p:grpSpPr>
            <p:sp>
              <p:nvSpPr>
                <p:cNvPr id="232" name="TextBox 231">
                  <a:extLst>
                    <a:ext uri="{FF2B5EF4-FFF2-40B4-BE49-F238E27FC236}">
                      <a16:creationId xmlns:a16="http://schemas.microsoft.com/office/drawing/2014/main" id="{C8D0965C-A620-F621-9868-A7644BAB7ECF}"/>
                    </a:ext>
                  </a:extLst>
                </p:cNvPr>
                <p:cNvSpPr txBox="1"/>
                <p:nvPr/>
              </p:nvSpPr>
              <p:spPr>
                <a:xfrm>
                  <a:off x="4691340" y="2611103"/>
                  <a:ext cx="330967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14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ervice Management and Orchestration</a:t>
                  </a:r>
                  <a:endPara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3" name="TextBox 232">
                  <a:extLst>
                    <a:ext uri="{FF2B5EF4-FFF2-40B4-BE49-F238E27FC236}">
                      <a16:creationId xmlns:a16="http://schemas.microsoft.com/office/drawing/2014/main" id="{07B8609D-259D-C105-4B06-C00BF3F3FE5C}"/>
                    </a:ext>
                  </a:extLst>
                </p:cNvPr>
                <p:cNvSpPr txBox="1"/>
                <p:nvPr/>
              </p:nvSpPr>
              <p:spPr>
                <a:xfrm>
                  <a:off x="5388981" y="2815765"/>
                  <a:ext cx="2078132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O-RAN SC RIC</a:t>
                  </a:r>
                </a:p>
              </p:txBody>
            </p:sp>
          </p:grpSp>
        </p:grp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9FD9B6E5-7E97-70BF-39B6-1F87E31AF9A7}"/>
                </a:ext>
              </a:extLst>
            </p:cNvPr>
            <p:cNvSpPr txBox="1"/>
            <p:nvPr/>
          </p:nvSpPr>
          <p:spPr>
            <a:xfrm>
              <a:off x="7388464" y="2361104"/>
              <a:ext cx="264814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Non-RT RIC</a:t>
              </a:r>
            </a:p>
          </p:txBody>
        </p:sp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97224A4C-CF33-6E82-3D94-BCA348DEDCF7}"/>
                </a:ext>
              </a:extLst>
            </p:cNvPr>
            <p:cNvSpPr/>
            <p:nvPr/>
          </p:nvSpPr>
          <p:spPr>
            <a:xfrm>
              <a:off x="2008561" y="1641915"/>
              <a:ext cx="8148856" cy="3557833"/>
            </a:xfrm>
            <a:prstGeom prst="roundRect">
              <a:avLst>
                <a:gd name="adj" fmla="val 2232"/>
              </a:avLst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386D7656-0F1F-6FD8-CF8D-FA67F52437DC}"/>
                </a:ext>
              </a:extLst>
            </p:cNvPr>
            <p:cNvGrpSpPr/>
            <p:nvPr/>
          </p:nvGrpSpPr>
          <p:grpSpPr>
            <a:xfrm>
              <a:off x="2138333" y="3359303"/>
              <a:ext cx="2912140" cy="1614827"/>
              <a:chOff x="739346" y="2194877"/>
              <a:chExt cx="2912140" cy="1614827"/>
            </a:xfrm>
          </p:grpSpPr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415198F1-6858-9162-A745-12365AA1F713}"/>
                  </a:ext>
                </a:extLst>
              </p:cNvPr>
              <p:cNvGrpSpPr/>
              <p:nvPr/>
            </p:nvGrpSpPr>
            <p:grpSpPr>
              <a:xfrm>
                <a:off x="739346" y="2194877"/>
                <a:ext cx="2912140" cy="1233863"/>
                <a:chOff x="1605224" y="1599108"/>
                <a:chExt cx="2912140" cy="1233863"/>
              </a:xfrm>
            </p:grpSpPr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64A3D375-3DA5-9A82-094F-1C90CF0DE148}"/>
                    </a:ext>
                  </a:extLst>
                </p:cNvPr>
                <p:cNvSpPr txBox="1"/>
                <p:nvPr/>
              </p:nvSpPr>
              <p:spPr>
                <a:xfrm>
                  <a:off x="1605224" y="2525194"/>
                  <a:ext cx="223924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User Equipment</a:t>
                  </a:r>
                  <a:endPara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93C861BC-367F-0A17-C162-028BBB7E157A}"/>
                    </a:ext>
                  </a:extLst>
                </p:cNvPr>
                <p:cNvGrpSpPr/>
                <p:nvPr/>
              </p:nvGrpSpPr>
              <p:grpSpPr>
                <a:xfrm>
                  <a:off x="1605224" y="1599108"/>
                  <a:ext cx="2912140" cy="923272"/>
                  <a:chOff x="1605224" y="1599108"/>
                  <a:chExt cx="2912140" cy="923272"/>
                </a:xfrm>
              </p:grpSpPr>
              <p:grpSp>
                <p:nvGrpSpPr>
                  <p:cNvPr id="98" name="Group 97">
                    <a:extLst>
                      <a:ext uri="{FF2B5EF4-FFF2-40B4-BE49-F238E27FC236}">
                        <a16:creationId xmlns:a16="http://schemas.microsoft.com/office/drawing/2014/main" id="{D652DD24-CDB1-4D10-666D-473C222B25DC}"/>
                      </a:ext>
                    </a:extLst>
                  </p:cNvPr>
                  <p:cNvGrpSpPr/>
                  <p:nvPr/>
                </p:nvGrpSpPr>
                <p:grpSpPr>
                  <a:xfrm>
                    <a:off x="1605224" y="1599108"/>
                    <a:ext cx="2283381" cy="923272"/>
                    <a:chOff x="1746885" y="5238877"/>
                    <a:chExt cx="2283381" cy="923272"/>
                  </a:xfrm>
                </p:grpSpPr>
                <p:grpSp>
                  <p:nvGrpSpPr>
                    <p:cNvPr id="91" name="Group 90">
                      <a:extLst>
                        <a:ext uri="{FF2B5EF4-FFF2-40B4-BE49-F238E27FC236}">
                          <a16:creationId xmlns:a16="http://schemas.microsoft.com/office/drawing/2014/main" id="{5277B5BA-615C-5737-E9D8-342854CC268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46885" y="5238877"/>
                      <a:ext cx="2239249" cy="923272"/>
                      <a:chOff x="1590040" y="5303322"/>
                      <a:chExt cx="2374765" cy="923272"/>
                    </a:xfrm>
                  </p:grpSpPr>
                  <p:sp>
                    <p:nvSpPr>
                      <p:cNvPr id="90" name="Rectangle: Rounded Corners 89">
                        <a:extLst>
                          <a:ext uri="{FF2B5EF4-FFF2-40B4-BE49-F238E27FC236}">
                            <a16:creationId xmlns:a16="http://schemas.microsoft.com/office/drawing/2014/main" id="{23C307BE-3202-A234-F88C-47DC2ED93A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0040" y="5303322"/>
                        <a:ext cx="2374765" cy="923272"/>
                      </a:xfrm>
                      <a:prstGeom prst="roundRect">
                        <a:avLst>
                          <a:gd name="adj" fmla="val 9466"/>
                        </a:avLst>
                      </a:prstGeom>
                      <a:solidFill>
                        <a:schemeClr val="bg1">
                          <a:lumMod val="95000"/>
                        </a:schemeClr>
                      </a:solidFill>
                      <a:ln w="285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87" name="Rectangle 86">
                        <a:extLst>
                          <a:ext uri="{FF2B5EF4-FFF2-40B4-BE49-F238E27FC236}">
                            <a16:creationId xmlns:a16="http://schemas.microsoft.com/office/drawing/2014/main" id="{A9B90A8D-E1C0-69B9-8B17-1842EDB25A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0040" y="5603165"/>
                        <a:ext cx="2374765" cy="3235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8" name="Rectangle: Rounded Corners 87">
                        <a:extLst>
                          <a:ext uri="{FF2B5EF4-FFF2-40B4-BE49-F238E27FC236}">
                            <a16:creationId xmlns:a16="http://schemas.microsoft.com/office/drawing/2014/main" id="{FACB33C4-4DD3-3537-5CC7-D1D25672FF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0040" y="5303322"/>
                        <a:ext cx="2374765" cy="923272"/>
                      </a:xfrm>
                      <a:prstGeom prst="roundRect">
                        <a:avLst>
                          <a:gd name="adj" fmla="val 9879"/>
                        </a:avLst>
                      </a:prstGeom>
                      <a:noFill/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p:grpSp>
                <p:sp>
                  <p:nvSpPr>
                    <p:cNvPr id="83" name="TextBox 82">
                      <a:extLst>
                        <a:ext uri="{FF2B5EF4-FFF2-40B4-BE49-F238E27FC236}">
                          <a16:creationId xmlns:a16="http://schemas.microsoft.com/office/drawing/2014/main" id="{E342B541-F3EC-5218-4138-1FFF0B9888F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60863" y="5848816"/>
                      <a:ext cx="1969403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 Simulator /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ZeroMQ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84" name="TextBox 83">
                      <a:extLst>
                        <a:ext uri="{FF2B5EF4-FFF2-40B4-BE49-F238E27FC236}">
                          <a16:creationId xmlns:a16="http://schemas.microsoft.com/office/drawing/2014/main" id="{45CC95EB-69C7-31B8-040F-B0005938C2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60863" y="5549790"/>
                      <a:ext cx="1969403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5G Mobile Phone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85" name="TextBox 84">
                      <a:extLst>
                        <a:ext uri="{FF2B5EF4-FFF2-40B4-BE49-F238E27FC236}">
                          <a16:creationId xmlns:a16="http://schemas.microsoft.com/office/drawing/2014/main" id="{AEDCEE1D-D82E-7AF9-BADE-57B78FF0A87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60863" y="5250764"/>
                      <a:ext cx="1969403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Software-Defined Radio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pic>
                  <p:nvPicPr>
                    <p:cNvPr id="93" name="Graphic 92" descr="Smart Phone with solid fill">
                      <a:extLst>
                        <a:ext uri="{FF2B5EF4-FFF2-40B4-BE49-F238E27FC236}">
                          <a16:creationId xmlns:a16="http://schemas.microsoft.com/office/drawing/2014/main" id="{7094807C-5F16-DBD2-ABE8-BB31FD412A2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894659" y="5582141"/>
                      <a:ext cx="221508" cy="2215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95" name="Graphic 94">
                      <a:extLst>
                        <a:ext uri="{FF2B5EF4-FFF2-40B4-BE49-F238E27FC236}">
                          <a16:creationId xmlns:a16="http://schemas.microsoft.com/office/drawing/2014/main" id="{A643CB78-4E32-8A61-2B45-CF69ADD84E4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1876918" y="5880130"/>
                      <a:ext cx="256990" cy="25699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97" name="Graphic 96" descr="Wireless router with solid fill">
                      <a:extLst>
                        <a:ext uri="{FF2B5EF4-FFF2-40B4-BE49-F238E27FC236}">
                          <a16:creationId xmlns:a16="http://schemas.microsoft.com/office/drawing/2014/main" id="{72BA2D59-557A-C41F-36DE-23B7DBA8619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888554" y="5271939"/>
                      <a:ext cx="233719" cy="233719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01" name="Graphic 100" descr="Wi-Fi outline">
                    <a:extLst>
                      <a:ext uri="{FF2B5EF4-FFF2-40B4-BE49-F238E27FC236}">
                        <a16:creationId xmlns:a16="http://schemas.microsoft.com/office/drawing/2014/main" id="{43F98100-AAF3-A536-CC6F-86AF63FC48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5400000">
                    <a:off x="3682389" y="1643257"/>
                    <a:ext cx="834976" cy="834975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A2565DCE-C91F-14EE-9807-9EC8C26FFE40}"/>
                  </a:ext>
                </a:extLst>
              </p:cNvPr>
              <p:cNvSpPr txBox="1"/>
              <p:nvPr/>
            </p:nvSpPr>
            <p:spPr>
              <a:xfrm>
                <a:off x="1200150" y="3348039"/>
                <a:ext cx="177844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srsRAN_4G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OpenAirInterface5G</a:t>
                </a:r>
              </a:p>
            </p:txBody>
          </p:sp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543EBD7F-8BC0-F4AF-B72F-A49E02775213}"/>
                </a:ext>
              </a:extLst>
            </p:cNvPr>
            <p:cNvGrpSpPr/>
            <p:nvPr/>
          </p:nvGrpSpPr>
          <p:grpSpPr>
            <a:xfrm>
              <a:off x="4750317" y="3403452"/>
              <a:ext cx="2953942" cy="1694182"/>
              <a:chOff x="3351330" y="2239026"/>
              <a:chExt cx="2953942" cy="1694182"/>
            </a:xfrm>
          </p:grpSpPr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C9566CE4-3BAA-AB37-3D2E-ACFB4F6E6FEE}"/>
                  </a:ext>
                </a:extLst>
              </p:cNvPr>
              <p:cNvGrpSpPr/>
              <p:nvPr/>
            </p:nvGrpSpPr>
            <p:grpSpPr>
              <a:xfrm>
                <a:off x="3351330" y="2239026"/>
                <a:ext cx="2953942" cy="1128754"/>
                <a:chOff x="3351330" y="2239026"/>
                <a:chExt cx="2953942" cy="1128754"/>
              </a:xfrm>
            </p:grpSpPr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9AEDD0CF-8A9F-E610-7384-3D1B371DDA00}"/>
                    </a:ext>
                  </a:extLst>
                </p:cNvPr>
                <p:cNvSpPr txBox="1"/>
                <p:nvPr/>
              </p:nvSpPr>
              <p:spPr>
                <a:xfrm>
                  <a:off x="4021891" y="3060003"/>
                  <a:ext cx="223924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Next Generation Node B</a:t>
                  </a:r>
                  <a:endPara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685B90E1-9109-97D6-5A72-AF62B8EC117C}"/>
                    </a:ext>
                  </a:extLst>
                </p:cNvPr>
                <p:cNvGrpSpPr/>
                <p:nvPr/>
              </p:nvGrpSpPr>
              <p:grpSpPr>
                <a:xfrm>
                  <a:off x="3351330" y="2239026"/>
                  <a:ext cx="2953942" cy="834976"/>
                  <a:chOff x="3351330" y="2239026"/>
                  <a:chExt cx="2953942" cy="834976"/>
                </a:xfrm>
              </p:grpSpPr>
              <p:pic>
                <p:nvPicPr>
                  <p:cNvPr id="150" name="Graphic 149" descr="Wi-Fi outline">
                    <a:extLst>
                      <a:ext uri="{FF2B5EF4-FFF2-40B4-BE49-F238E27FC236}">
                        <a16:creationId xmlns:a16="http://schemas.microsoft.com/office/drawing/2014/main" id="{F86C36EC-AB9C-731B-77FA-4E9A61F891C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 flipH="1">
                    <a:off x="3351330" y="2239026"/>
                    <a:ext cx="834976" cy="834975"/>
                  </a:xfrm>
                  <a:prstGeom prst="rect">
                    <a:avLst/>
                  </a:prstGeom>
                </p:spPr>
              </p:pic>
              <p:grpSp>
                <p:nvGrpSpPr>
                  <p:cNvPr id="164" name="Group 163">
                    <a:extLst>
                      <a:ext uri="{FF2B5EF4-FFF2-40B4-BE49-F238E27FC236}">
                        <a16:creationId xmlns:a16="http://schemas.microsoft.com/office/drawing/2014/main" id="{EDE05E91-43DE-B886-4425-DF885BB144F8}"/>
                      </a:ext>
                    </a:extLst>
                  </p:cNvPr>
                  <p:cNvGrpSpPr/>
                  <p:nvPr/>
                </p:nvGrpSpPr>
                <p:grpSpPr>
                  <a:xfrm>
                    <a:off x="4021891" y="2347277"/>
                    <a:ext cx="2283381" cy="618690"/>
                    <a:chOff x="4021891" y="2194877"/>
                    <a:chExt cx="2283381" cy="618690"/>
                  </a:xfrm>
                </p:grpSpPr>
                <p:grpSp>
                  <p:nvGrpSpPr>
                    <p:cNvPr id="157" name="Group 156">
                      <a:extLst>
                        <a:ext uri="{FF2B5EF4-FFF2-40B4-BE49-F238E27FC236}">
                          <a16:creationId xmlns:a16="http://schemas.microsoft.com/office/drawing/2014/main" id="{F2B637D4-F06E-1C10-76AC-55AF61886E0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021891" y="2194877"/>
                      <a:ext cx="2239249" cy="618690"/>
                      <a:chOff x="4021891" y="2194877"/>
                      <a:chExt cx="2239249" cy="618690"/>
                    </a:xfrm>
                  </p:grpSpPr>
                  <p:sp>
                    <p:nvSpPr>
                      <p:cNvPr id="116" name="Rectangle: Rounded Corners 115">
                        <a:extLst>
                          <a:ext uri="{FF2B5EF4-FFF2-40B4-BE49-F238E27FC236}">
                            <a16:creationId xmlns:a16="http://schemas.microsoft.com/office/drawing/2014/main" id="{04B2F569-8B47-FFB1-6835-95675A38F2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21891" y="2194877"/>
                        <a:ext cx="2239249" cy="618689"/>
                      </a:xfrm>
                      <a:prstGeom prst="roundRect">
                        <a:avLst>
                          <a:gd name="adj" fmla="val 12974"/>
                        </a:avLst>
                      </a:prstGeom>
                      <a:solidFill>
                        <a:schemeClr val="bg1">
                          <a:lumMod val="95000"/>
                        </a:schemeClr>
                      </a:solidFill>
                      <a:ln w="285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54" name="Rectangle: Top Corners Rounded 153">
                        <a:extLst>
                          <a:ext uri="{FF2B5EF4-FFF2-40B4-BE49-F238E27FC236}">
                            <a16:creationId xmlns:a16="http://schemas.microsoft.com/office/drawing/2014/main" id="{F2C3760F-1A26-8F99-FF38-3EC6D5F85DEF}"/>
                          </a:ext>
                        </a:extLst>
                      </p:cNvPr>
                      <p:cNvSpPr/>
                      <p:nvPr/>
                    </p:nvSpPr>
                    <p:spPr>
                      <a:xfrm flipV="1">
                        <a:off x="4022672" y="2504431"/>
                        <a:ext cx="2238468" cy="307778"/>
                      </a:xfrm>
                      <a:prstGeom prst="round2SameRect">
                        <a:avLst>
                          <a:gd name="adj1" fmla="val 28674"/>
                          <a:gd name="adj2" fmla="val 0"/>
                        </a:avLst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18" name="Rectangle: Rounded Corners 117">
                        <a:extLst>
                          <a:ext uri="{FF2B5EF4-FFF2-40B4-BE49-F238E27FC236}">
                            <a16:creationId xmlns:a16="http://schemas.microsoft.com/office/drawing/2014/main" id="{457092CA-2966-B5F6-9B98-F1F6F92706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21891" y="2194878"/>
                        <a:ext cx="2239249" cy="618689"/>
                      </a:xfrm>
                      <a:prstGeom prst="roundRect">
                        <a:avLst>
                          <a:gd name="adj" fmla="val 12974"/>
                        </a:avLst>
                      </a:prstGeom>
                      <a:noFill/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p:grpSp>
                <p:sp>
                  <p:nvSpPr>
                    <p:cNvPr id="158" name="TextBox 157">
                      <a:extLst>
                        <a:ext uri="{FF2B5EF4-FFF2-40B4-BE49-F238E27FC236}">
                          <a16:creationId xmlns:a16="http://schemas.microsoft.com/office/drawing/2014/main" id="{4C779143-B458-A5C7-5AF4-C9E610C3D97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35869" y="2202843"/>
                      <a:ext cx="1969403" cy="2062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Software-Defined Radio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pic>
                  <p:nvPicPr>
                    <p:cNvPr id="159" name="Graphic 158">
                      <a:extLst>
                        <a:ext uri="{FF2B5EF4-FFF2-40B4-BE49-F238E27FC236}">
                          <a16:creationId xmlns:a16="http://schemas.microsoft.com/office/drawing/2014/main" id="{47EB4318-16BE-3805-2798-4FBF1201636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4134842" y="2215325"/>
                      <a:ext cx="289426" cy="28942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62" name="TextBox 161">
                      <a:extLst>
                        <a:ext uri="{FF2B5EF4-FFF2-40B4-BE49-F238E27FC236}">
                          <a16:creationId xmlns:a16="http://schemas.microsoft.com/office/drawing/2014/main" id="{B89D1264-28C0-F096-0109-94F5F52F94A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35869" y="2505790"/>
                      <a:ext cx="1969403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 Simulator /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ZeroMQ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pic>
                  <p:nvPicPr>
                    <p:cNvPr id="163" name="Graphic 162">
                      <a:extLst>
                        <a:ext uri="{FF2B5EF4-FFF2-40B4-BE49-F238E27FC236}">
                          <a16:creationId xmlns:a16="http://schemas.microsoft.com/office/drawing/2014/main" id="{25F9F0CA-0720-2072-A64D-C29DFFE43EA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4167277" y="2528018"/>
                      <a:ext cx="256990" cy="256990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866FED8A-F96E-DF4B-BAA9-78E78914F62B}"/>
                  </a:ext>
                </a:extLst>
              </p:cNvPr>
              <p:cNvSpPr txBox="1"/>
              <p:nvPr/>
            </p:nvSpPr>
            <p:spPr>
              <a:xfrm>
                <a:off x="4167277" y="3286877"/>
                <a:ext cx="209517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OCUDU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OpenAirInterface5G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O-RAN SC E2 Simulator</a:t>
                </a:r>
              </a:p>
            </p:txBody>
          </p:sp>
        </p:grpSp>
        <p:sp>
          <p:nvSpPr>
            <p:cNvPr id="186" name="Rectangle: Rounded Corners 185">
              <a:extLst>
                <a:ext uri="{FF2B5EF4-FFF2-40B4-BE49-F238E27FC236}">
                  <a16:creationId xmlns:a16="http://schemas.microsoft.com/office/drawing/2014/main" id="{2ABE1094-ECC6-B8A8-4B66-95AE49EA6FFE}"/>
                </a:ext>
              </a:extLst>
            </p:cNvPr>
            <p:cNvSpPr/>
            <p:nvPr/>
          </p:nvSpPr>
          <p:spPr>
            <a:xfrm>
              <a:off x="8470803" y="3511703"/>
              <a:ext cx="1565803" cy="618689"/>
            </a:xfrm>
            <a:prstGeom prst="roundRect">
              <a:avLst>
                <a:gd name="adj" fmla="val 12974"/>
              </a:avLst>
            </a:prstGeom>
            <a:solidFill>
              <a:schemeClr val="bg1">
                <a:lumMod val="9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6" name="Connector: Elbow 235">
              <a:extLst>
                <a:ext uri="{FF2B5EF4-FFF2-40B4-BE49-F238E27FC236}">
                  <a16:creationId xmlns:a16="http://schemas.microsoft.com/office/drawing/2014/main" id="{3B180A49-F11D-190D-0E27-D6D70B07789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905226" y="2872617"/>
              <a:ext cx="1105253" cy="165302"/>
            </a:xfrm>
            <a:prstGeom prst="bentConnector2">
              <a:avLst/>
            </a:prstGeom>
            <a:ln w="1270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DC129536-C2B7-4DA3-492D-8BD7E3971FC6}"/>
                </a:ext>
              </a:extLst>
            </p:cNvPr>
            <p:cNvGrpSpPr/>
            <p:nvPr/>
          </p:nvGrpSpPr>
          <p:grpSpPr>
            <a:xfrm>
              <a:off x="2902672" y="1745905"/>
              <a:ext cx="3500830" cy="1617300"/>
              <a:chOff x="4409110" y="1660130"/>
              <a:chExt cx="3500830" cy="1617300"/>
            </a:xfrm>
          </p:grpSpPr>
          <p:sp>
            <p:nvSpPr>
              <p:cNvPr id="299" name="Rectangle: Rounded Corners 298">
                <a:extLst>
                  <a:ext uri="{FF2B5EF4-FFF2-40B4-BE49-F238E27FC236}">
                    <a16:creationId xmlns:a16="http://schemas.microsoft.com/office/drawing/2014/main" id="{51CF1C4A-E6CF-6DEC-B9C9-99C4666537AA}"/>
                  </a:ext>
                </a:extLst>
              </p:cNvPr>
              <p:cNvSpPr/>
              <p:nvPr/>
            </p:nvSpPr>
            <p:spPr>
              <a:xfrm>
                <a:off x="4409110" y="1660130"/>
                <a:ext cx="3500830" cy="924852"/>
              </a:xfrm>
              <a:prstGeom prst="roundRect">
                <a:avLst>
                  <a:gd name="adj" fmla="val 8734"/>
                </a:avLst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00" name="Group 299">
                <a:extLst>
                  <a:ext uri="{FF2B5EF4-FFF2-40B4-BE49-F238E27FC236}">
                    <a16:creationId xmlns:a16="http://schemas.microsoft.com/office/drawing/2014/main" id="{FAA500E9-3DD9-A6B6-791B-3606E086D98F}"/>
                  </a:ext>
                </a:extLst>
              </p:cNvPr>
              <p:cNvGrpSpPr/>
              <p:nvPr/>
            </p:nvGrpSpPr>
            <p:grpSpPr>
              <a:xfrm>
                <a:off x="4746251" y="2611103"/>
                <a:ext cx="3014194" cy="666327"/>
                <a:chOff x="4854563" y="2611103"/>
                <a:chExt cx="3014194" cy="666327"/>
              </a:xfrm>
            </p:grpSpPr>
            <p:sp>
              <p:nvSpPr>
                <p:cNvPr id="301" name="TextBox 300">
                  <a:extLst>
                    <a:ext uri="{FF2B5EF4-FFF2-40B4-BE49-F238E27FC236}">
                      <a16:creationId xmlns:a16="http://schemas.microsoft.com/office/drawing/2014/main" id="{4A7B6B29-0DA7-E032-4721-E7D4CC8E5C00}"/>
                    </a:ext>
                  </a:extLst>
                </p:cNvPr>
                <p:cNvSpPr txBox="1"/>
                <p:nvPr/>
              </p:nvSpPr>
              <p:spPr>
                <a:xfrm>
                  <a:off x="4854563" y="2611103"/>
                  <a:ext cx="301419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Near-RT RAN Intelligent Controller</a:t>
                  </a:r>
                  <a:endPara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2" name="TextBox 301">
                  <a:extLst>
                    <a:ext uri="{FF2B5EF4-FFF2-40B4-BE49-F238E27FC236}">
                      <a16:creationId xmlns:a16="http://schemas.microsoft.com/office/drawing/2014/main" id="{601F6530-67FD-3955-4AAE-AB8259209727}"/>
                    </a:ext>
                  </a:extLst>
                </p:cNvPr>
                <p:cNvSpPr txBox="1"/>
                <p:nvPr/>
              </p:nvSpPr>
              <p:spPr>
                <a:xfrm>
                  <a:off x="5404466" y="2815765"/>
                  <a:ext cx="207813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O-RAN SC RIC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FlexRIC</a:t>
                  </a:r>
                </a:p>
              </p:txBody>
            </p:sp>
          </p:grpSp>
        </p:grp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73E70FC3-33DB-F71F-3C5B-0F817ADA6565}"/>
                </a:ext>
              </a:extLst>
            </p:cNvPr>
            <p:cNvCxnSpPr>
              <a:cxnSpLocks/>
            </p:cNvCxnSpPr>
            <p:nvPr/>
          </p:nvCxnSpPr>
          <p:spPr>
            <a:xfrm>
              <a:off x="6403502" y="2012991"/>
              <a:ext cx="984962" cy="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397A9C2D-DFF1-6646-2360-5F14ECECADBD}"/>
                </a:ext>
              </a:extLst>
            </p:cNvPr>
            <p:cNvGrpSpPr/>
            <p:nvPr/>
          </p:nvGrpSpPr>
          <p:grpSpPr>
            <a:xfrm>
              <a:off x="3783004" y="2241098"/>
              <a:ext cx="1234649" cy="310703"/>
              <a:chOff x="3642152" y="2107690"/>
              <a:chExt cx="1143208" cy="310703"/>
            </a:xfrm>
          </p:grpSpPr>
          <p:sp>
            <p:nvSpPr>
              <p:cNvPr id="240" name="Rectangle: Rounded Corners 239">
                <a:extLst>
                  <a:ext uri="{FF2B5EF4-FFF2-40B4-BE49-F238E27FC236}">
                    <a16:creationId xmlns:a16="http://schemas.microsoft.com/office/drawing/2014/main" id="{62A05DA4-B6C8-36F9-8F9E-306684A99075}"/>
                  </a:ext>
                </a:extLst>
              </p:cNvPr>
              <p:cNvSpPr/>
              <p:nvPr/>
            </p:nvSpPr>
            <p:spPr>
              <a:xfrm>
                <a:off x="3642155" y="2107690"/>
                <a:ext cx="1143205" cy="310703"/>
              </a:xfrm>
              <a:prstGeom prst="roundRect">
                <a:avLst>
                  <a:gd name="adj" fmla="val 12974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4196D5D3-D0EC-73E0-35FC-9426907983B6}"/>
                  </a:ext>
                </a:extLst>
              </p:cNvPr>
              <p:cNvSpPr txBox="1"/>
              <p:nvPr/>
            </p:nvSpPr>
            <p:spPr>
              <a:xfrm>
                <a:off x="3642152" y="2108170"/>
                <a:ext cx="114320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KPM Monitor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33" name="Group 332">
              <a:extLst>
                <a:ext uri="{FF2B5EF4-FFF2-40B4-BE49-F238E27FC236}">
                  <a16:creationId xmlns:a16="http://schemas.microsoft.com/office/drawing/2014/main" id="{A4454A94-363D-D860-C436-9D6D85B336F4}"/>
                </a:ext>
              </a:extLst>
            </p:cNvPr>
            <p:cNvGrpSpPr/>
            <p:nvPr/>
          </p:nvGrpSpPr>
          <p:grpSpPr>
            <a:xfrm>
              <a:off x="5015982" y="1858990"/>
              <a:ext cx="1369001" cy="310703"/>
              <a:chOff x="3579953" y="2107690"/>
              <a:chExt cx="1267610" cy="310703"/>
            </a:xfrm>
          </p:grpSpPr>
          <p:sp>
            <p:nvSpPr>
              <p:cNvPr id="334" name="Rectangle: Rounded Corners 333">
                <a:extLst>
                  <a:ext uri="{FF2B5EF4-FFF2-40B4-BE49-F238E27FC236}">
                    <a16:creationId xmlns:a16="http://schemas.microsoft.com/office/drawing/2014/main" id="{48E00EAB-9E4C-1B65-08DF-2C5496B9B3CA}"/>
                  </a:ext>
                </a:extLst>
              </p:cNvPr>
              <p:cNvSpPr/>
              <p:nvPr/>
            </p:nvSpPr>
            <p:spPr>
              <a:xfrm>
                <a:off x="3642155" y="2107690"/>
                <a:ext cx="1143205" cy="310703"/>
              </a:xfrm>
              <a:prstGeom prst="roundRect">
                <a:avLst>
                  <a:gd name="adj" fmla="val 12974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F42280FE-43A6-365C-358A-C8554DC640BA}"/>
                  </a:ext>
                </a:extLst>
              </p:cNvPr>
              <p:cNvSpPr txBox="1"/>
              <p:nvPr/>
            </p:nvSpPr>
            <p:spPr>
              <a:xfrm>
                <a:off x="3579953" y="2108170"/>
                <a:ext cx="126761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Traffic Steering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36" name="Group 335">
              <a:extLst>
                <a:ext uri="{FF2B5EF4-FFF2-40B4-BE49-F238E27FC236}">
                  <a16:creationId xmlns:a16="http://schemas.microsoft.com/office/drawing/2014/main" id="{2FE08671-6F43-894C-17E7-D7A2F00653FD}"/>
                </a:ext>
              </a:extLst>
            </p:cNvPr>
            <p:cNvGrpSpPr/>
            <p:nvPr/>
          </p:nvGrpSpPr>
          <p:grpSpPr>
            <a:xfrm>
              <a:off x="3715826" y="1858990"/>
              <a:ext cx="1369001" cy="310703"/>
              <a:chOff x="3579953" y="2107690"/>
              <a:chExt cx="1267610" cy="310703"/>
            </a:xfrm>
          </p:grpSpPr>
          <p:sp>
            <p:nvSpPr>
              <p:cNvPr id="337" name="Rectangle: Rounded Corners 336">
                <a:extLst>
                  <a:ext uri="{FF2B5EF4-FFF2-40B4-BE49-F238E27FC236}">
                    <a16:creationId xmlns:a16="http://schemas.microsoft.com/office/drawing/2014/main" id="{F1289BAE-1D1F-3DE1-018F-B6FC63E30E72}"/>
                  </a:ext>
                </a:extLst>
              </p:cNvPr>
              <p:cNvSpPr/>
              <p:nvPr/>
            </p:nvSpPr>
            <p:spPr>
              <a:xfrm>
                <a:off x="3642155" y="2107690"/>
                <a:ext cx="1143205" cy="310703"/>
              </a:xfrm>
              <a:prstGeom prst="roundRect">
                <a:avLst>
                  <a:gd name="adj" fmla="val 12974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D1D07F64-82AD-0D2D-A198-671CB409DB1C}"/>
                  </a:ext>
                </a:extLst>
              </p:cNvPr>
              <p:cNvSpPr txBox="1"/>
              <p:nvPr/>
            </p:nvSpPr>
            <p:spPr>
              <a:xfrm>
                <a:off x="3579953" y="2108170"/>
                <a:ext cx="126761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QoE</a:t>
                </a:r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Prediction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39" name="Group 338">
              <a:extLst>
                <a:ext uri="{FF2B5EF4-FFF2-40B4-BE49-F238E27FC236}">
                  <a16:creationId xmlns:a16="http://schemas.microsoft.com/office/drawing/2014/main" id="{11E2E4B2-0575-7C29-5A70-8AC1D40B0479}"/>
                </a:ext>
              </a:extLst>
            </p:cNvPr>
            <p:cNvGrpSpPr/>
            <p:nvPr/>
          </p:nvGrpSpPr>
          <p:grpSpPr>
            <a:xfrm>
              <a:off x="5083159" y="2241098"/>
              <a:ext cx="1234646" cy="310703"/>
              <a:chOff x="3642154" y="2107690"/>
              <a:chExt cx="1143206" cy="310703"/>
            </a:xfrm>
          </p:grpSpPr>
          <p:sp>
            <p:nvSpPr>
              <p:cNvPr id="340" name="Rectangle: Rounded Corners 339">
                <a:extLst>
                  <a:ext uri="{FF2B5EF4-FFF2-40B4-BE49-F238E27FC236}">
                    <a16:creationId xmlns:a16="http://schemas.microsoft.com/office/drawing/2014/main" id="{A03616DF-9617-C8B7-1C7D-33780E7BBDB2}"/>
                  </a:ext>
                </a:extLst>
              </p:cNvPr>
              <p:cNvSpPr/>
              <p:nvPr/>
            </p:nvSpPr>
            <p:spPr>
              <a:xfrm>
                <a:off x="3642155" y="2107690"/>
                <a:ext cx="1143205" cy="310703"/>
              </a:xfrm>
              <a:prstGeom prst="roundRect">
                <a:avLst>
                  <a:gd name="adj" fmla="val 12974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C615CB26-A7A4-DCAA-F86A-18674011737E}"/>
                  </a:ext>
                </a:extLst>
              </p:cNvPr>
              <p:cNvSpPr txBox="1"/>
              <p:nvPr/>
            </p:nvSpPr>
            <p:spPr>
              <a:xfrm>
                <a:off x="3642154" y="2108170"/>
                <a:ext cx="114320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 Control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47" name="Group 346">
              <a:extLst>
                <a:ext uri="{FF2B5EF4-FFF2-40B4-BE49-F238E27FC236}">
                  <a16:creationId xmlns:a16="http://schemas.microsoft.com/office/drawing/2014/main" id="{13228077-5930-C6D4-2459-FE8167A5D591}"/>
                </a:ext>
              </a:extLst>
            </p:cNvPr>
            <p:cNvGrpSpPr/>
            <p:nvPr/>
          </p:nvGrpSpPr>
          <p:grpSpPr>
            <a:xfrm>
              <a:off x="9238215" y="1943123"/>
              <a:ext cx="655258" cy="310703"/>
              <a:chOff x="3483267" y="2107690"/>
              <a:chExt cx="1267610" cy="310703"/>
            </a:xfrm>
            <a:solidFill>
              <a:schemeClr val="bg1"/>
            </a:solidFill>
          </p:grpSpPr>
          <p:sp>
            <p:nvSpPr>
              <p:cNvPr id="348" name="Rectangle: Rounded Corners 347">
                <a:extLst>
                  <a:ext uri="{FF2B5EF4-FFF2-40B4-BE49-F238E27FC236}">
                    <a16:creationId xmlns:a16="http://schemas.microsoft.com/office/drawing/2014/main" id="{B3451EF3-FB6A-B622-6351-35764418B70D}"/>
                  </a:ext>
                </a:extLst>
              </p:cNvPr>
              <p:cNvSpPr/>
              <p:nvPr/>
            </p:nvSpPr>
            <p:spPr>
              <a:xfrm>
                <a:off x="3545470" y="2107690"/>
                <a:ext cx="1143205" cy="310703"/>
              </a:xfrm>
              <a:prstGeom prst="roundRect">
                <a:avLst>
                  <a:gd name="adj" fmla="val 12974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531045DF-ADD5-D378-5029-7333D4BDAD97}"/>
                  </a:ext>
                </a:extLst>
              </p:cNvPr>
              <p:cNvSpPr txBox="1"/>
              <p:nvPr/>
            </p:nvSpPr>
            <p:spPr>
              <a:xfrm>
                <a:off x="3483267" y="2108170"/>
                <a:ext cx="126761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rApps</a:t>
                </a:r>
              </a:p>
            </p:txBody>
          </p:sp>
        </p:grpSp>
        <p:grpSp>
          <p:nvGrpSpPr>
            <p:cNvPr id="351" name="Group 350">
              <a:extLst>
                <a:ext uri="{FF2B5EF4-FFF2-40B4-BE49-F238E27FC236}">
                  <a16:creationId xmlns:a16="http://schemas.microsoft.com/office/drawing/2014/main" id="{1845557C-7543-BBF8-D8CE-44146F485F3E}"/>
                </a:ext>
              </a:extLst>
            </p:cNvPr>
            <p:cNvGrpSpPr/>
            <p:nvPr/>
          </p:nvGrpSpPr>
          <p:grpSpPr>
            <a:xfrm>
              <a:off x="7572249" y="1943236"/>
              <a:ext cx="1712822" cy="310703"/>
              <a:chOff x="3542966" y="2107690"/>
              <a:chExt cx="1267610" cy="310703"/>
            </a:xfrm>
            <a:solidFill>
              <a:schemeClr val="bg1"/>
            </a:solidFill>
          </p:grpSpPr>
          <p:sp>
            <p:nvSpPr>
              <p:cNvPr id="352" name="Rectangle: Rounded Corners 351">
                <a:extLst>
                  <a:ext uri="{FF2B5EF4-FFF2-40B4-BE49-F238E27FC236}">
                    <a16:creationId xmlns:a16="http://schemas.microsoft.com/office/drawing/2014/main" id="{45B98422-8C70-AEC4-6CDE-299E7131477C}"/>
                  </a:ext>
                </a:extLst>
              </p:cNvPr>
              <p:cNvSpPr/>
              <p:nvPr/>
            </p:nvSpPr>
            <p:spPr>
              <a:xfrm>
                <a:off x="3605168" y="2107690"/>
                <a:ext cx="1143205" cy="310703"/>
              </a:xfrm>
              <a:prstGeom prst="roundRect">
                <a:avLst>
                  <a:gd name="adj" fmla="val 12974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CCBF380C-15C9-4705-8F73-76E0467D483F}"/>
                  </a:ext>
                </a:extLst>
              </p:cNvPr>
              <p:cNvSpPr txBox="1"/>
              <p:nvPr/>
            </p:nvSpPr>
            <p:spPr>
              <a:xfrm>
                <a:off x="3542966" y="2108170"/>
                <a:ext cx="126761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Policy Management</a:t>
                </a: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18D67298-084E-1C66-42D3-0981A488A8BC}"/>
                </a:ext>
              </a:extLst>
            </p:cNvPr>
            <p:cNvSpPr txBox="1"/>
            <p:nvPr/>
          </p:nvSpPr>
          <p:spPr>
            <a:xfrm>
              <a:off x="2887502" y="1783517"/>
              <a:ext cx="74262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xApps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DCA1DED8-91A0-4833-5993-32495D364015}"/>
                </a:ext>
              </a:extLst>
            </p:cNvPr>
            <p:cNvGrpSpPr/>
            <p:nvPr/>
          </p:nvGrpSpPr>
          <p:grpSpPr>
            <a:xfrm>
              <a:off x="9769890" y="2504754"/>
              <a:ext cx="97262" cy="20476"/>
              <a:chOff x="10392777" y="4210335"/>
              <a:chExt cx="97262" cy="20476"/>
            </a:xfrm>
          </p:grpSpPr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990D42A1-D5DC-B9ED-60EE-F8C90E0FDF6F}"/>
                  </a:ext>
                </a:extLst>
              </p:cNvPr>
              <p:cNvSpPr/>
              <p:nvPr/>
            </p:nvSpPr>
            <p:spPr>
              <a:xfrm flipV="1">
                <a:off x="10392777" y="4210335"/>
                <a:ext cx="20476" cy="204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A87127DE-8C89-9021-6583-581CE6DA3103}"/>
                  </a:ext>
                </a:extLst>
              </p:cNvPr>
              <p:cNvSpPr/>
              <p:nvPr/>
            </p:nvSpPr>
            <p:spPr>
              <a:xfrm flipV="1">
                <a:off x="10431170" y="4210335"/>
                <a:ext cx="20476" cy="204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017FC8AF-5B2C-E8B4-E03B-1DCB50D958A3}"/>
                  </a:ext>
                </a:extLst>
              </p:cNvPr>
              <p:cNvSpPr/>
              <p:nvPr/>
            </p:nvSpPr>
            <p:spPr>
              <a:xfrm flipV="1">
                <a:off x="10469563" y="4210335"/>
                <a:ext cx="20476" cy="204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C8B97E36-52B3-ED39-0874-98F7C73F9235}"/>
                </a:ext>
              </a:extLst>
            </p:cNvPr>
            <p:cNvGrpSpPr/>
            <p:nvPr/>
          </p:nvGrpSpPr>
          <p:grpSpPr>
            <a:xfrm>
              <a:off x="3075233" y="2510064"/>
              <a:ext cx="97262" cy="20476"/>
              <a:chOff x="10366573" y="4210335"/>
              <a:chExt cx="97262" cy="20476"/>
            </a:xfrm>
          </p:grpSpPr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8BFA72EC-FAD5-6350-14E3-28F24BE68C79}"/>
                  </a:ext>
                </a:extLst>
              </p:cNvPr>
              <p:cNvSpPr/>
              <p:nvPr/>
            </p:nvSpPr>
            <p:spPr>
              <a:xfrm flipV="1">
                <a:off x="10366573" y="4210335"/>
                <a:ext cx="20476" cy="204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8879AE96-B54D-AF88-3E86-82B2ED5BD75A}"/>
                  </a:ext>
                </a:extLst>
              </p:cNvPr>
              <p:cNvSpPr/>
              <p:nvPr/>
            </p:nvSpPr>
            <p:spPr>
              <a:xfrm flipV="1">
                <a:off x="10404966" y="4210335"/>
                <a:ext cx="20476" cy="204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A3812DBF-61CD-DC0A-9C0D-A532C5A45C03}"/>
                  </a:ext>
                </a:extLst>
              </p:cNvPr>
              <p:cNvSpPr/>
              <p:nvPr/>
            </p:nvSpPr>
            <p:spPr>
              <a:xfrm flipV="1">
                <a:off x="10443359" y="4210335"/>
                <a:ext cx="20476" cy="204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0FC97C58-D90C-802B-F810-BF5B67B2506C}"/>
                </a:ext>
              </a:extLst>
            </p:cNvPr>
            <p:cNvSpPr txBox="1"/>
            <p:nvPr/>
          </p:nvSpPr>
          <p:spPr>
            <a:xfrm>
              <a:off x="7603208" y="3793315"/>
              <a:ext cx="94632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Tunnel from UPF to UE</a:t>
              </a:r>
              <a:br>
                <a: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for internet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BF925D7-7171-122A-6DD5-FAC63B5FD3FC}"/>
                </a:ext>
              </a:extLst>
            </p:cNvPr>
            <p:cNvCxnSpPr>
              <a:stCxn id="116" idx="3"/>
              <a:endCxn id="186" idx="1"/>
            </p:cNvCxnSpPr>
            <p:nvPr/>
          </p:nvCxnSpPr>
          <p:spPr>
            <a:xfrm>
              <a:off x="7660127" y="3821048"/>
              <a:ext cx="810676" cy="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CBE782F-3003-C6D1-EA4D-E740895CCFD1}"/>
                </a:ext>
              </a:extLst>
            </p:cNvPr>
            <p:cNvGrpSpPr/>
            <p:nvPr/>
          </p:nvGrpSpPr>
          <p:grpSpPr>
            <a:xfrm>
              <a:off x="8470803" y="3511704"/>
              <a:ext cx="1565803" cy="618689"/>
              <a:chOff x="8470803" y="3511704"/>
              <a:chExt cx="1565803" cy="618689"/>
            </a:xfrm>
          </p:grpSpPr>
          <p:sp>
            <p:nvSpPr>
              <p:cNvPr id="207" name="Rectangle: Rounded Corners 206">
                <a:extLst>
                  <a:ext uri="{FF2B5EF4-FFF2-40B4-BE49-F238E27FC236}">
                    <a16:creationId xmlns:a16="http://schemas.microsoft.com/office/drawing/2014/main" id="{450964B0-930D-CCE0-9BAF-D2E05A9F5914}"/>
                  </a:ext>
                </a:extLst>
              </p:cNvPr>
              <p:cNvSpPr/>
              <p:nvPr/>
            </p:nvSpPr>
            <p:spPr>
              <a:xfrm>
                <a:off x="8470803" y="3511704"/>
                <a:ext cx="1565803" cy="618689"/>
              </a:xfrm>
              <a:prstGeom prst="roundRect">
                <a:avLst>
                  <a:gd name="adj" fmla="val 12974"/>
                </a:avLst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6618EB8-0A44-5246-1C08-E8D5934D8CF6}"/>
                  </a:ext>
                </a:extLst>
              </p:cNvPr>
              <p:cNvGrpSpPr/>
              <p:nvPr/>
            </p:nvGrpSpPr>
            <p:grpSpPr>
              <a:xfrm>
                <a:off x="8544250" y="3663843"/>
                <a:ext cx="1430022" cy="310703"/>
                <a:chOff x="8544250" y="3663843"/>
                <a:chExt cx="1430022" cy="310703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1A4A7F63-9428-9C54-F025-DA35E18BB52C}"/>
                    </a:ext>
                  </a:extLst>
                </p:cNvPr>
                <p:cNvGrpSpPr/>
                <p:nvPr/>
              </p:nvGrpSpPr>
              <p:grpSpPr>
                <a:xfrm>
                  <a:off x="9877010" y="3808956"/>
                  <a:ext cx="97262" cy="20476"/>
                  <a:chOff x="10423398" y="4210335"/>
                  <a:chExt cx="97262" cy="20476"/>
                </a:xfrm>
              </p:grpSpPr>
              <p:sp>
                <p:nvSpPr>
                  <p:cNvPr id="115" name="Oval 114">
                    <a:extLst>
                      <a:ext uri="{FF2B5EF4-FFF2-40B4-BE49-F238E27FC236}">
                        <a16:creationId xmlns:a16="http://schemas.microsoft.com/office/drawing/2014/main" id="{B1A2696D-500D-0A6C-0D03-918DCDDC62A6}"/>
                      </a:ext>
                    </a:extLst>
                  </p:cNvPr>
                  <p:cNvSpPr/>
                  <p:nvPr/>
                </p:nvSpPr>
                <p:spPr>
                  <a:xfrm flipV="1">
                    <a:off x="10423398" y="4210335"/>
                    <a:ext cx="20476" cy="20476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CC772C2A-767C-EA01-78AE-F96977BB681E}"/>
                      </a:ext>
                    </a:extLst>
                  </p:cNvPr>
                  <p:cNvSpPr/>
                  <p:nvPr/>
                </p:nvSpPr>
                <p:spPr>
                  <a:xfrm flipV="1">
                    <a:off x="10461791" y="4210335"/>
                    <a:ext cx="20476" cy="20476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9" name="Oval 118">
                    <a:extLst>
                      <a:ext uri="{FF2B5EF4-FFF2-40B4-BE49-F238E27FC236}">
                        <a16:creationId xmlns:a16="http://schemas.microsoft.com/office/drawing/2014/main" id="{A3FCB6E3-1292-8438-B3BB-B8337E929420}"/>
                      </a:ext>
                    </a:extLst>
                  </p:cNvPr>
                  <p:cNvSpPr/>
                  <p:nvPr/>
                </p:nvSpPr>
                <p:spPr>
                  <a:xfrm flipV="1">
                    <a:off x="10500184" y="4210335"/>
                    <a:ext cx="20476" cy="20476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F8E13138-047D-D5AF-6FA4-730BEDA737DD}"/>
                    </a:ext>
                  </a:extLst>
                </p:cNvPr>
                <p:cNvGrpSpPr/>
                <p:nvPr/>
              </p:nvGrpSpPr>
              <p:grpSpPr>
                <a:xfrm>
                  <a:off x="8544250" y="3663843"/>
                  <a:ext cx="655258" cy="310703"/>
                  <a:chOff x="8483290" y="3660903"/>
                  <a:chExt cx="655258" cy="310703"/>
                </a:xfrm>
              </p:grpSpPr>
              <p:sp>
                <p:nvSpPr>
                  <p:cNvPr id="3" name="Rectangle: Rounded Corners 2">
                    <a:extLst>
                      <a:ext uri="{FF2B5EF4-FFF2-40B4-BE49-F238E27FC236}">
                        <a16:creationId xmlns:a16="http://schemas.microsoft.com/office/drawing/2014/main" id="{DC34C81B-0305-46CD-F9C4-826E28186BCD}"/>
                      </a:ext>
                    </a:extLst>
                  </p:cNvPr>
                  <p:cNvSpPr/>
                  <p:nvPr/>
                </p:nvSpPr>
                <p:spPr>
                  <a:xfrm>
                    <a:off x="8515444" y="3660903"/>
                    <a:ext cx="590950" cy="310703"/>
                  </a:xfrm>
                  <a:prstGeom prst="roundRect">
                    <a:avLst>
                      <a:gd name="adj" fmla="val 12974"/>
                    </a:avLst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348BC2BF-B84B-E3B6-35EF-5C0866F96D3D}"/>
                      </a:ext>
                    </a:extLst>
                  </p:cNvPr>
                  <p:cNvSpPr txBox="1"/>
                  <p:nvPr/>
                </p:nvSpPr>
                <p:spPr>
                  <a:xfrm>
                    <a:off x="8483290" y="3661383"/>
                    <a:ext cx="655258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UPF</a:t>
                    </a:r>
                  </a:p>
                </p:txBody>
              </p: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1A64A0FD-A5E5-D5F3-1CAB-E578630CB933}"/>
                    </a:ext>
                  </a:extLst>
                </p:cNvPr>
                <p:cNvGrpSpPr/>
                <p:nvPr/>
              </p:nvGrpSpPr>
              <p:grpSpPr>
                <a:xfrm>
                  <a:off x="9189714" y="3663843"/>
                  <a:ext cx="655258" cy="310703"/>
                  <a:chOff x="9128754" y="3666783"/>
                  <a:chExt cx="655258" cy="310703"/>
                </a:xfrm>
              </p:grpSpPr>
              <p:sp>
                <p:nvSpPr>
                  <p:cNvPr id="5" name="Rectangle: Rounded Corners 4">
                    <a:extLst>
                      <a:ext uri="{FF2B5EF4-FFF2-40B4-BE49-F238E27FC236}">
                        <a16:creationId xmlns:a16="http://schemas.microsoft.com/office/drawing/2014/main" id="{BC1EAB85-D75F-08EF-1093-E64DEBD75018}"/>
                      </a:ext>
                    </a:extLst>
                  </p:cNvPr>
                  <p:cNvSpPr/>
                  <p:nvPr/>
                </p:nvSpPr>
                <p:spPr>
                  <a:xfrm>
                    <a:off x="9160908" y="3666783"/>
                    <a:ext cx="590950" cy="310703"/>
                  </a:xfrm>
                  <a:prstGeom prst="roundRect">
                    <a:avLst>
                      <a:gd name="adj" fmla="val 12974"/>
                    </a:avLst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D4229715-6AFF-2E41-69E6-DA72189E21A1}"/>
                      </a:ext>
                    </a:extLst>
                  </p:cNvPr>
                  <p:cNvSpPr txBox="1"/>
                  <p:nvPr/>
                </p:nvSpPr>
                <p:spPr>
                  <a:xfrm>
                    <a:off x="9128754" y="3667263"/>
                    <a:ext cx="655258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AMF</a:t>
                    </a:r>
                  </a:p>
                </p:txBody>
              </p:sp>
            </p:grpSp>
          </p:grp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B0B699B-CBB2-1144-87BD-9EC09572D482}"/>
                </a:ext>
              </a:extLst>
            </p:cNvPr>
            <p:cNvGrpSpPr/>
            <p:nvPr/>
          </p:nvGrpSpPr>
          <p:grpSpPr>
            <a:xfrm>
              <a:off x="8468250" y="4109945"/>
              <a:ext cx="1653015" cy="1059453"/>
              <a:chOff x="8468250" y="4134989"/>
              <a:chExt cx="1653015" cy="1076072"/>
            </a:xfrm>
          </p:grpSpPr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A37A3E02-E00E-4E4C-24B9-DE87DE254A2B}"/>
                  </a:ext>
                </a:extLst>
              </p:cNvPr>
              <p:cNvSpPr txBox="1"/>
              <p:nvPr/>
            </p:nvSpPr>
            <p:spPr>
              <a:xfrm>
                <a:off x="8589063" y="4367030"/>
                <a:ext cx="1532202" cy="844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Open5GS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OAI 5G CN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Free5GC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Open5GCore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24078A0-C9B3-EE91-5200-847FD0169039}"/>
                  </a:ext>
                </a:extLst>
              </p:cNvPr>
              <p:cNvSpPr txBox="1"/>
              <p:nvPr/>
            </p:nvSpPr>
            <p:spPr>
              <a:xfrm>
                <a:off x="8468250" y="4134989"/>
                <a:ext cx="156835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5G Core Network</a:t>
                </a:r>
                <a:endPara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26BF3DA-B90A-5DE9-E13B-54E1D0BB70F6}"/>
                </a:ext>
              </a:extLst>
            </p:cNvPr>
            <p:cNvSpPr txBox="1"/>
            <p:nvPr/>
          </p:nvSpPr>
          <p:spPr>
            <a:xfrm>
              <a:off x="6417137" y="1764477"/>
              <a:ext cx="97132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A1-P, A1-EI</a:t>
              </a:r>
              <a:b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A1-ML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CC65E69-40F3-D591-FFF2-046504C33894}"/>
                </a:ext>
              </a:extLst>
            </p:cNvPr>
            <p:cNvSpPr txBox="1"/>
            <p:nvPr/>
          </p:nvSpPr>
          <p:spPr>
            <a:xfrm>
              <a:off x="6506434" y="3236557"/>
              <a:ext cx="218459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E2AP, E2SM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6561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ectangle 294">
            <a:extLst>
              <a:ext uri="{FF2B5EF4-FFF2-40B4-BE49-F238E27FC236}">
                <a16:creationId xmlns:a16="http://schemas.microsoft.com/office/drawing/2014/main" id="{01227F84-DA99-539E-6970-C4DA0CFAFC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19FEC76-5159-39F9-23D6-C5BF2417B8D7}"/>
              </a:ext>
            </a:extLst>
          </p:cNvPr>
          <p:cNvGrpSpPr/>
          <p:nvPr/>
        </p:nvGrpSpPr>
        <p:grpSpPr>
          <a:xfrm>
            <a:off x="2008561" y="1641915"/>
            <a:ext cx="8148856" cy="3557833"/>
            <a:chOff x="2008561" y="1641915"/>
            <a:chExt cx="8148856" cy="3557833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2E48D905-0F3A-19B5-4417-05FA2C821E70}"/>
                </a:ext>
              </a:extLst>
            </p:cNvPr>
            <p:cNvSpPr/>
            <p:nvPr/>
          </p:nvSpPr>
          <p:spPr>
            <a:xfrm>
              <a:off x="2008561" y="1641915"/>
              <a:ext cx="8148856" cy="3557833"/>
            </a:xfrm>
            <a:prstGeom prst="roundRect">
              <a:avLst>
                <a:gd name="adj" fmla="val 2232"/>
              </a:avLst>
            </a:prstGeom>
            <a:solidFill>
              <a:srgbClr val="0D1117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0FFBFE9F-4487-F723-E9C3-8E9D6B819A45}"/>
                </a:ext>
              </a:extLst>
            </p:cNvPr>
            <p:cNvSpPr/>
            <p:nvPr/>
          </p:nvSpPr>
          <p:spPr>
            <a:xfrm>
              <a:off x="7388918" y="1749715"/>
              <a:ext cx="2648141" cy="924852"/>
            </a:xfrm>
            <a:prstGeom prst="roundRect">
              <a:avLst>
                <a:gd name="adj" fmla="val 8322"/>
              </a:avLst>
            </a:prstGeom>
            <a:solidFill>
              <a:srgbClr val="262626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934EF4DA-BF0E-CE3A-E425-F1FE25767794}"/>
                </a:ext>
              </a:extLst>
            </p:cNvPr>
            <p:cNvSpPr txBox="1"/>
            <p:nvPr/>
          </p:nvSpPr>
          <p:spPr>
            <a:xfrm>
              <a:off x="7388464" y="2361104"/>
              <a:ext cx="264814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Non-RT RIC</a:t>
              </a:r>
            </a:p>
          </p:txBody>
        </p:sp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D204B0F3-4A57-4AB3-AAF6-895DEFA28BDA}"/>
                </a:ext>
              </a:extLst>
            </p:cNvPr>
            <p:cNvSpPr/>
            <p:nvPr/>
          </p:nvSpPr>
          <p:spPr>
            <a:xfrm>
              <a:off x="2008561" y="1641915"/>
              <a:ext cx="8148856" cy="3557833"/>
            </a:xfrm>
            <a:prstGeom prst="roundRect">
              <a:avLst>
                <a:gd name="adj" fmla="val 2232"/>
              </a:avLst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E0FC3736-1AD3-51F7-FF1E-A65B147E173B}"/>
                </a:ext>
              </a:extLst>
            </p:cNvPr>
            <p:cNvGrpSpPr/>
            <p:nvPr/>
          </p:nvGrpSpPr>
          <p:grpSpPr>
            <a:xfrm>
              <a:off x="2138333" y="3359303"/>
              <a:ext cx="2912140" cy="1614827"/>
              <a:chOff x="739346" y="2194877"/>
              <a:chExt cx="2912140" cy="1614827"/>
            </a:xfrm>
          </p:grpSpPr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399C3882-C87A-011B-0BCD-46C25509AA50}"/>
                  </a:ext>
                </a:extLst>
              </p:cNvPr>
              <p:cNvGrpSpPr/>
              <p:nvPr/>
            </p:nvGrpSpPr>
            <p:grpSpPr>
              <a:xfrm>
                <a:off x="739346" y="2194877"/>
                <a:ext cx="2912140" cy="1233863"/>
                <a:chOff x="1605224" y="1599108"/>
                <a:chExt cx="2912140" cy="1233863"/>
              </a:xfrm>
            </p:grpSpPr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B2146AB4-4D02-128A-EC98-CAF89459C873}"/>
                    </a:ext>
                  </a:extLst>
                </p:cNvPr>
                <p:cNvSpPr txBox="1"/>
                <p:nvPr/>
              </p:nvSpPr>
              <p:spPr>
                <a:xfrm>
                  <a:off x="1605224" y="2525194"/>
                  <a:ext cx="223924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User Equipment</a:t>
                  </a:r>
                </a:p>
              </p:txBody>
            </p:sp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19888747-9170-E4AD-78F2-2081289DA324}"/>
                    </a:ext>
                  </a:extLst>
                </p:cNvPr>
                <p:cNvGrpSpPr/>
                <p:nvPr/>
              </p:nvGrpSpPr>
              <p:grpSpPr>
                <a:xfrm>
                  <a:off x="1605224" y="1599108"/>
                  <a:ext cx="2912140" cy="923272"/>
                  <a:chOff x="1605224" y="1599108"/>
                  <a:chExt cx="2912140" cy="923272"/>
                </a:xfrm>
              </p:grpSpPr>
              <p:grpSp>
                <p:nvGrpSpPr>
                  <p:cNvPr id="98" name="Group 97">
                    <a:extLst>
                      <a:ext uri="{FF2B5EF4-FFF2-40B4-BE49-F238E27FC236}">
                        <a16:creationId xmlns:a16="http://schemas.microsoft.com/office/drawing/2014/main" id="{634D968C-4907-C8AB-1683-500984EDAB8F}"/>
                      </a:ext>
                    </a:extLst>
                  </p:cNvPr>
                  <p:cNvGrpSpPr/>
                  <p:nvPr/>
                </p:nvGrpSpPr>
                <p:grpSpPr>
                  <a:xfrm>
                    <a:off x="1605224" y="1599108"/>
                    <a:ext cx="2283381" cy="923272"/>
                    <a:chOff x="1746885" y="5238877"/>
                    <a:chExt cx="2283381" cy="923272"/>
                  </a:xfrm>
                </p:grpSpPr>
                <p:grpSp>
                  <p:nvGrpSpPr>
                    <p:cNvPr id="91" name="Group 90">
                      <a:extLst>
                        <a:ext uri="{FF2B5EF4-FFF2-40B4-BE49-F238E27FC236}">
                          <a16:creationId xmlns:a16="http://schemas.microsoft.com/office/drawing/2014/main" id="{100CEE3F-0B1F-51C4-640B-525CC77D17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46885" y="5238877"/>
                      <a:ext cx="2239249" cy="923272"/>
                      <a:chOff x="1590040" y="5303322"/>
                      <a:chExt cx="2374765" cy="923272"/>
                    </a:xfrm>
                  </p:grpSpPr>
                  <p:sp>
                    <p:nvSpPr>
                      <p:cNvPr id="90" name="Rectangle: Rounded Corners 89">
                        <a:extLst>
                          <a:ext uri="{FF2B5EF4-FFF2-40B4-BE49-F238E27FC236}">
                            <a16:creationId xmlns:a16="http://schemas.microsoft.com/office/drawing/2014/main" id="{6FBF2E9F-5D77-9ADE-7152-C81C1A733C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0040" y="5303322"/>
                        <a:ext cx="2374765" cy="923272"/>
                      </a:xfrm>
                      <a:prstGeom prst="roundRect">
                        <a:avLst>
                          <a:gd name="adj" fmla="val 9466"/>
                        </a:avLst>
                      </a:prstGeom>
                      <a:solidFill>
                        <a:schemeClr val="bg2">
                          <a:lumMod val="25000"/>
                        </a:schemeClr>
                      </a:solidFill>
                      <a:ln w="285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87" name="Rectangle 86">
                        <a:extLst>
                          <a:ext uri="{FF2B5EF4-FFF2-40B4-BE49-F238E27FC236}">
                            <a16:creationId xmlns:a16="http://schemas.microsoft.com/office/drawing/2014/main" id="{2226E9FD-9D7F-477B-5597-2AEA05E3F3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0040" y="5603165"/>
                        <a:ext cx="2374765" cy="323587"/>
                      </a:xfrm>
                      <a:prstGeom prst="rect">
                        <a:avLst/>
                      </a:prstGeom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sp>
                    <p:nvSpPr>
                      <p:cNvPr id="88" name="Rectangle: Rounded Corners 87">
                        <a:extLst>
                          <a:ext uri="{FF2B5EF4-FFF2-40B4-BE49-F238E27FC236}">
                            <a16:creationId xmlns:a16="http://schemas.microsoft.com/office/drawing/2014/main" id="{87BCEB7F-0233-D2C1-3A52-344B63D9C7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0040" y="5303322"/>
                        <a:ext cx="2374765" cy="923272"/>
                      </a:xfrm>
                      <a:prstGeom prst="roundRect">
                        <a:avLst>
                          <a:gd name="adj" fmla="val 9879"/>
                        </a:avLst>
                      </a:prstGeom>
                      <a:noFill/>
                      <a:ln w="12700"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p:grpSp>
                <p:sp>
                  <p:nvSpPr>
                    <p:cNvPr id="83" name="TextBox 82">
                      <a:extLst>
                        <a:ext uri="{FF2B5EF4-FFF2-40B4-BE49-F238E27FC236}">
                          <a16:creationId xmlns:a16="http://schemas.microsoft.com/office/drawing/2014/main" id="{048302D5-242E-EB61-E965-DD80D6F6BC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60863" y="5848816"/>
                      <a:ext cx="1969403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 Simulator /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ZeroMQ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84" name="TextBox 83">
                      <a:extLst>
                        <a:ext uri="{FF2B5EF4-FFF2-40B4-BE49-F238E27FC236}">
                          <a16:creationId xmlns:a16="http://schemas.microsoft.com/office/drawing/2014/main" id="{4F24F3AA-FD33-1A2E-0461-D2F1702107F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60863" y="5549790"/>
                      <a:ext cx="1969403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5G Mobile Phone</a:t>
                      </a:r>
                    </a:p>
                  </p:txBody>
                </p:sp>
                <p:sp>
                  <p:nvSpPr>
                    <p:cNvPr id="85" name="TextBox 84">
                      <a:extLst>
                        <a:ext uri="{FF2B5EF4-FFF2-40B4-BE49-F238E27FC236}">
                          <a16:creationId xmlns:a16="http://schemas.microsoft.com/office/drawing/2014/main" id="{C39D088B-736E-499D-7E43-E5FB7908AB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60863" y="5250764"/>
                      <a:ext cx="1969403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Software-Defined Radio</a:t>
                      </a:r>
                    </a:p>
                  </p:txBody>
                </p:sp>
                <p:pic>
                  <p:nvPicPr>
                    <p:cNvPr id="93" name="Graphic 92" descr="Smart Phone with solid fill">
                      <a:extLst>
                        <a:ext uri="{FF2B5EF4-FFF2-40B4-BE49-F238E27FC236}">
                          <a16:creationId xmlns:a16="http://schemas.microsoft.com/office/drawing/2014/main" id="{7F860B22-AFCA-FBEB-515A-AE4BE6CE5C7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894659" y="5582141"/>
                      <a:ext cx="221508" cy="2215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95" name="Graphic 94">
                      <a:extLst>
                        <a:ext uri="{FF2B5EF4-FFF2-40B4-BE49-F238E27FC236}">
                          <a16:creationId xmlns:a16="http://schemas.microsoft.com/office/drawing/2014/main" id="{617038CE-6DA9-9CAA-9364-7DF6A08B02D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1876918" y="5880130"/>
                      <a:ext cx="256990" cy="25699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97" name="Graphic 96" descr="Wireless router with solid fill">
                      <a:extLst>
                        <a:ext uri="{FF2B5EF4-FFF2-40B4-BE49-F238E27FC236}">
                          <a16:creationId xmlns:a16="http://schemas.microsoft.com/office/drawing/2014/main" id="{C1D75D05-771C-FCE4-A7D9-F5E220AECAA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888554" y="5271939"/>
                      <a:ext cx="233719" cy="233719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01" name="Graphic 100" descr="Wi-Fi outline">
                    <a:extLst>
                      <a:ext uri="{FF2B5EF4-FFF2-40B4-BE49-F238E27FC236}">
                        <a16:creationId xmlns:a16="http://schemas.microsoft.com/office/drawing/2014/main" id="{14C1A9D5-3BE8-3F42-0ADC-45CA9C9FF4E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5400000">
                    <a:off x="3682389" y="1643257"/>
                    <a:ext cx="834976" cy="834975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A648D526-E6A7-758D-E005-A3FD81A65DAB}"/>
                  </a:ext>
                </a:extLst>
              </p:cNvPr>
              <p:cNvSpPr txBox="1"/>
              <p:nvPr/>
            </p:nvSpPr>
            <p:spPr>
              <a:xfrm>
                <a:off x="1200150" y="3348039"/>
                <a:ext cx="177844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srsRAN_4G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OpenAirInterface5G</a:t>
                </a:r>
              </a:p>
            </p:txBody>
          </p:sp>
        </p:grp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94B6153A-628D-51A2-53C1-51D9E895F02A}"/>
                </a:ext>
              </a:extLst>
            </p:cNvPr>
            <p:cNvGrpSpPr/>
            <p:nvPr/>
          </p:nvGrpSpPr>
          <p:grpSpPr>
            <a:xfrm>
              <a:off x="4750317" y="3403452"/>
              <a:ext cx="2953942" cy="834976"/>
              <a:chOff x="3351330" y="2239026"/>
              <a:chExt cx="2953942" cy="834976"/>
            </a:xfrm>
          </p:grpSpPr>
          <p:pic>
            <p:nvPicPr>
              <p:cNvPr id="150" name="Graphic 149" descr="Wi-Fi outline">
                <a:extLst>
                  <a:ext uri="{FF2B5EF4-FFF2-40B4-BE49-F238E27FC236}">
                    <a16:creationId xmlns:a16="http://schemas.microsoft.com/office/drawing/2014/main" id="{A4384971-E0FA-83AB-3ECA-EA68B53631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rot="16200000" flipH="1">
                <a:off x="3351330" y="2239026"/>
                <a:ext cx="834976" cy="834975"/>
              </a:xfrm>
              <a:prstGeom prst="rect">
                <a:avLst/>
              </a:prstGeom>
            </p:spPr>
          </p:pic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FEDF8195-14CB-11B2-B6D5-E25DE2BBA929}"/>
                  </a:ext>
                </a:extLst>
              </p:cNvPr>
              <p:cNvGrpSpPr/>
              <p:nvPr/>
            </p:nvGrpSpPr>
            <p:grpSpPr>
              <a:xfrm>
                <a:off x="4021891" y="2347277"/>
                <a:ext cx="2283381" cy="618690"/>
                <a:chOff x="4021891" y="2194877"/>
                <a:chExt cx="2283381" cy="618690"/>
              </a:xfrm>
            </p:grpSpPr>
            <p:grpSp>
              <p:nvGrpSpPr>
                <p:cNvPr id="157" name="Group 156">
                  <a:extLst>
                    <a:ext uri="{FF2B5EF4-FFF2-40B4-BE49-F238E27FC236}">
                      <a16:creationId xmlns:a16="http://schemas.microsoft.com/office/drawing/2014/main" id="{26375E39-3569-ADBB-F1AE-67A9EF281BC7}"/>
                    </a:ext>
                  </a:extLst>
                </p:cNvPr>
                <p:cNvGrpSpPr/>
                <p:nvPr/>
              </p:nvGrpSpPr>
              <p:grpSpPr>
                <a:xfrm>
                  <a:off x="4021891" y="2194877"/>
                  <a:ext cx="2239249" cy="618690"/>
                  <a:chOff x="4021891" y="2194877"/>
                  <a:chExt cx="2239249" cy="618690"/>
                </a:xfrm>
              </p:grpSpPr>
              <p:sp>
                <p:nvSpPr>
                  <p:cNvPr id="116" name="Rectangle: Rounded Corners 115">
                    <a:extLst>
                      <a:ext uri="{FF2B5EF4-FFF2-40B4-BE49-F238E27FC236}">
                        <a16:creationId xmlns:a16="http://schemas.microsoft.com/office/drawing/2014/main" id="{763E022C-45EC-17F5-4D28-50ED4E68B3D8}"/>
                      </a:ext>
                    </a:extLst>
                  </p:cNvPr>
                  <p:cNvSpPr/>
                  <p:nvPr/>
                </p:nvSpPr>
                <p:spPr>
                  <a:xfrm>
                    <a:off x="4021891" y="2194877"/>
                    <a:ext cx="2239249" cy="618689"/>
                  </a:xfrm>
                  <a:prstGeom prst="roundRect">
                    <a:avLst>
                      <a:gd name="adj" fmla="val 12974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4" name="Rectangle: Top Corners Rounded 153">
                    <a:extLst>
                      <a:ext uri="{FF2B5EF4-FFF2-40B4-BE49-F238E27FC236}">
                        <a16:creationId xmlns:a16="http://schemas.microsoft.com/office/drawing/2014/main" id="{FC1DFCF3-A2B2-8659-C2ED-0301735E43E7}"/>
                      </a:ext>
                    </a:extLst>
                  </p:cNvPr>
                  <p:cNvSpPr/>
                  <p:nvPr/>
                </p:nvSpPr>
                <p:spPr>
                  <a:xfrm flipV="1">
                    <a:off x="4022672" y="2504431"/>
                    <a:ext cx="2238468" cy="307778"/>
                  </a:xfrm>
                  <a:prstGeom prst="round2SameRect">
                    <a:avLst>
                      <a:gd name="adj1" fmla="val 28674"/>
                      <a:gd name="adj2" fmla="val 0"/>
                    </a:avLst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18" name="Rectangle: Rounded Corners 117">
                    <a:extLst>
                      <a:ext uri="{FF2B5EF4-FFF2-40B4-BE49-F238E27FC236}">
                        <a16:creationId xmlns:a16="http://schemas.microsoft.com/office/drawing/2014/main" id="{B5766D04-B969-3849-BAD6-E5FBF42BA676}"/>
                      </a:ext>
                    </a:extLst>
                  </p:cNvPr>
                  <p:cNvSpPr/>
                  <p:nvPr/>
                </p:nvSpPr>
                <p:spPr>
                  <a:xfrm>
                    <a:off x="4021891" y="2194878"/>
                    <a:ext cx="2239249" cy="618689"/>
                  </a:xfrm>
                  <a:prstGeom prst="roundRect">
                    <a:avLst>
                      <a:gd name="adj" fmla="val 12974"/>
                    </a:avLst>
                  </a:prstGeom>
                  <a:noFill/>
                  <a:ln w="127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118DB05C-DAB0-A421-F073-A792FE4EAAA3}"/>
                    </a:ext>
                  </a:extLst>
                </p:cNvPr>
                <p:cNvSpPr txBox="1"/>
                <p:nvPr/>
              </p:nvSpPr>
              <p:spPr>
                <a:xfrm>
                  <a:off x="4335869" y="2202843"/>
                  <a:ext cx="1969403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Software-Defined Radio</a:t>
                  </a:r>
                </a:p>
              </p:txBody>
            </p:sp>
            <p:pic>
              <p:nvPicPr>
                <p:cNvPr id="159" name="Graphic 158">
                  <a:extLst>
                    <a:ext uri="{FF2B5EF4-FFF2-40B4-BE49-F238E27FC236}">
                      <a16:creationId xmlns:a16="http://schemas.microsoft.com/office/drawing/2014/main" id="{D29AD5AF-3219-6D63-1EA7-142390B52B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rcRect/>
                <a:stretch/>
              </p:blipFill>
              <p:spPr>
                <a:xfrm>
                  <a:off x="4134842" y="2215325"/>
                  <a:ext cx="289426" cy="289426"/>
                </a:xfrm>
                <a:prstGeom prst="rect">
                  <a:avLst/>
                </a:prstGeom>
              </p:spPr>
            </p:pic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0BF92B8E-1B5B-2C80-D2F6-A6431705198E}"/>
                    </a:ext>
                  </a:extLst>
                </p:cNvPr>
                <p:cNvSpPr txBox="1"/>
                <p:nvPr/>
              </p:nvSpPr>
              <p:spPr>
                <a:xfrm>
                  <a:off x="4335869" y="2505790"/>
                  <a:ext cx="1969403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RF Simulator / </a:t>
                  </a:r>
                  <a:r>
                    <a:rPr lang="en-US" sz="1400" dirty="0" err="1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ZeroMQ</a:t>
                  </a:r>
                  <a:endPara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163" name="Graphic 162">
                  <a:extLst>
                    <a:ext uri="{FF2B5EF4-FFF2-40B4-BE49-F238E27FC236}">
                      <a16:creationId xmlns:a16="http://schemas.microsoft.com/office/drawing/2014/main" id="{8BF6375D-4174-C1B1-57AE-E2DA824F94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rcRect/>
                <a:stretch/>
              </p:blipFill>
              <p:spPr>
                <a:xfrm>
                  <a:off x="4167277" y="2528018"/>
                  <a:ext cx="256990" cy="256990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236" name="Connector: Elbow 235">
              <a:extLst>
                <a:ext uri="{FF2B5EF4-FFF2-40B4-BE49-F238E27FC236}">
                  <a16:creationId xmlns:a16="http://schemas.microsoft.com/office/drawing/2014/main" id="{AF73C65C-EB2D-83CA-18A4-ED9FC7D18AE9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905226" y="2872617"/>
              <a:ext cx="1105253" cy="165302"/>
            </a:xfrm>
            <a:prstGeom prst="bentConnector2">
              <a:avLst/>
            </a:prstGeom>
            <a:ln w="12700">
              <a:solidFill>
                <a:schemeClr val="bg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F4F66483-A881-AB8E-EA24-A1046F52E2A4}"/>
                </a:ext>
              </a:extLst>
            </p:cNvPr>
            <p:cNvGrpSpPr/>
            <p:nvPr/>
          </p:nvGrpSpPr>
          <p:grpSpPr>
            <a:xfrm>
              <a:off x="2902672" y="1745905"/>
              <a:ext cx="3500830" cy="1617300"/>
              <a:chOff x="4409110" y="1660130"/>
              <a:chExt cx="3500830" cy="1617300"/>
            </a:xfrm>
          </p:grpSpPr>
          <p:sp>
            <p:nvSpPr>
              <p:cNvPr id="299" name="Rectangle: Rounded Corners 298">
                <a:extLst>
                  <a:ext uri="{FF2B5EF4-FFF2-40B4-BE49-F238E27FC236}">
                    <a16:creationId xmlns:a16="http://schemas.microsoft.com/office/drawing/2014/main" id="{F9387809-F426-D5E8-6E1E-11DD2B11E5EC}"/>
                  </a:ext>
                </a:extLst>
              </p:cNvPr>
              <p:cNvSpPr/>
              <p:nvPr/>
            </p:nvSpPr>
            <p:spPr>
              <a:xfrm>
                <a:off x="4409110" y="1660130"/>
                <a:ext cx="3500830" cy="924852"/>
              </a:xfrm>
              <a:prstGeom prst="roundRect">
                <a:avLst>
                  <a:gd name="adj" fmla="val 8734"/>
                </a:avLst>
              </a:prstGeom>
              <a:solidFill>
                <a:srgbClr val="262626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00" name="Group 299">
                <a:extLst>
                  <a:ext uri="{FF2B5EF4-FFF2-40B4-BE49-F238E27FC236}">
                    <a16:creationId xmlns:a16="http://schemas.microsoft.com/office/drawing/2014/main" id="{BE3ABA9F-C4F0-6B23-7A0B-536CE88F0275}"/>
                  </a:ext>
                </a:extLst>
              </p:cNvPr>
              <p:cNvGrpSpPr/>
              <p:nvPr/>
            </p:nvGrpSpPr>
            <p:grpSpPr>
              <a:xfrm>
                <a:off x="4746251" y="2611103"/>
                <a:ext cx="3014194" cy="666327"/>
                <a:chOff x="4854563" y="2611103"/>
                <a:chExt cx="3014194" cy="666327"/>
              </a:xfrm>
            </p:grpSpPr>
            <p:sp>
              <p:nvSpPr>
                <p:cNvPr id="301" name="TextBox 300">
                  <a:extLst>
                    <a:ext uri="{FF2B5EF4-FFF2-40B4-BE49-F238E27FC236}">
                      <a16:creationId xmlns:a16="http://schemas.microsoft.com/office/drawing/2014/main" id="{6C148EEF-91F3-60B8-DD63-926E75254BC6}"/>
                    </a:ext>
                  </a:extLst>
                </p:cNvPr>
                <p:cNvSpPr txBox="1"/>
                <p:nvPr/>
              </p:nvSpPr>
              <p:spPr>
                <a:xfrm>
                  <a:off x="4854563" y="2611103"/>
                  <a:ext cx="301419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Near-RT RAN Intelligent Controller</a:t>
                  </a:r>
                </a:p>
              </p:txBody>
            </p:sp>
            <p:sp>
              <p:nvSpPr>
                <p:cNvPr id="302" name="TextBox 301">
                  <a:extLst>
                    <a:ext uri="{FF2B5EF4-FFF2-40B4-BE49-F238E27FC236}">
                      <a16:creationId xmlns:a16="http://schemas.microsoft.com/office/drawing/2014/main" id="{9CEF86A8-EAFC-DCF5-1A14-9BEF19C47DC4}"/>
                    </a:ext>
                  </a:extLst>
                </p:cNvPr>
                <p:cNvSpPr txBox="1"/>
                <p:nvPr/>
              </p:nvSpPr>
              <p:spPr>
                <a:xfrm>
                  <a:off x="5404466" y="2815765"/>
                  <a:ext cx="207813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2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O-RAN SC RIC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2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FlexRIC</a:t>
                  </a:r>
                </a:p>
              </p:txBody>
            </p:sp>
          </p:grpSp>
        </p:grp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6F0B4269-577E-98FD-100F-DD6A17414AED}"/>
                </a:ext>
              </a:extLst>
            </p:cNvPr>
            <p:cNvCxnSpPr>
              <a:cxnSpLocks/>
            </p:cNvCxnSpPr>
            <p:nvPr/>
          </p:nvCxnSpPr>
          <p:spPr>
            <a:xfrm>
              <a:off x="6403502" y="2012991"/>
              <a:ext cx="984962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A3453D33-2D6E-00C9-72F9-A28C5247CD8D}"/>
                </a:ext>
              </a:extLst>
            </p:cNvPr>
            <p:cNvGrpSpPr/>
            <p:nvPr/>
          </p:nvGrpSpPr>
          <p:grpSpPr>
            <a:xfrm>
              <a:off x="3783004" y="2241098"/>
              <a:ext cx="1234649" cy="310703"/>
              <a:chOff x="3642152" y="2107690"/>
              <a:chExt cx="1143208" cy="310703"/>
            </a:xfrm>
          </p:grpSpPr>
          <p:sp>
            <p:nvSpPr>
              <p:cNvPr id="240" name="Rectangle: Rounded Corners 239">
                <a:extLst>
                  <a:ext uri="{FF2B5EF4-FFF2-40B4-BE49-F238E27FC236}">
                    <a16:creationId xmlns:a16="http://schemas.microsoft.com/office/drawing/2014/main" id="{4A65C48E-E36E-50DA-D253-3AC63BF3C65F}"/>
                  </a:ext>
                </a:extLst>
              </p:cNvPr>
              <p:cNvSpPr/>
              <p:nvPr/>
            </p:nvSpPr>
            <p:spPr>
              <a:xfrm>
                <a:off x="3642155" y="2107690"/>
                <a:ext cx="1143205" cy="310703"/>
              </a:xfrm>
              <a:prstGeom prst="roundRect">
                <a:avLst>
                  <a:gd name="adj" fmla="val 12974"/>
                </a:avLst>
              </a:prstGeom>
              <a:solidFill>
                <a:schemeClr val="bg2">
                  <a:lumMod val="25000"/>
                </a:schemeClr>
              </a:solidFill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B086C52C-90A0-EFDE-550F-66D20D667835}"/>
                  </a:ext>
                </a:extLst>
              </p:cNvPr>
              <p:cNvSpPr txBox="1"/>
              <p:nvPr/>
            </p:nvSpPr>
            <p:spPr>
              <a:xfrm>
                <a:off x="3642152" y="2108170"/>
                <a:ext cx="114320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KPM Monitor</a:t>
                </a:r>
              </a:p>
            </p:txBody>
          </p:sp>
        </p:grpSp>
        <p:grpSp>
          <p:nvGrpSpPr>
            <p:cNvPr id="333" name="Group 332">
              <a:extLst>
                <a:ext uri="{FF2B5EF4-FFF2-40B4-BE49-F238E27FC236}">
                  <a16:creationId xmlns:a16="http://schemas.microsoft.com/office/drawing/2014/main" id="{07E36321-4845-2DC1-D2B9-9B8F056221B6}"/>
                </a:ext>
              </a:extLst>
            </p:cNvPr>
            <p:cNvGrpSpPr/>
            <p:nvPr/>
          </p:nvGrpSpPr>
          <p:grpSpPr>
            <a:xfrm>
              <a:off x="5015982" y="1858990"/>
              <a:ext cx="1369001" cy="310703"/>
              <a:chOff x="3579953" y="2107690"/>
              <a:chExt cx="1267610" cy="310703"/>
            </a:xfrm>
          </p:grpSpPr>
          <p:sp>
            <p:nvSpPr>
              <p:cNvPr id="334" name="Rectangle: Rounded Corners 333">
                <a:extLst>
                  <a:ext uri="{FF2B5EF4-FFF2-40B4-BE49-F238E27FC236}">
                    <a16:creationId xmlns:a16="http://schemas.microsoft.com/office/drawing/2014/main" id="{D3E13052-BC5E-8FDC-228F-391E8C378CAF}"/>
                  </a:ext>
                </a:extLst>
              </p:cNvPr>
              <p:cNvSpPr/>
              <p:nvPr/>
            </p:nvSpPr>
            <p:spPr>
              <a:xfrm>
                <a:off x="3642155" y="2107690"/>
                <a:ext cx="1143205" cy="310703"/>
              </a:xfrm>
              <a:prstGeom prst="roundRect">
                <a:avLst>
                  <a:gd name="adj" fmla="val 12974"/>
                </a:avLst>
              </a:prstGeom>
              <a:solidFill>
                <a:schemeClr val="bg2">
                  <a:lumMod val="25000"/>
                </a:schemeClr>
              </a:solidFill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D029EA8F-BBA0-5B94-A6E0-EF02786A1ECE}"/>
                  </a:ext>
                </a:extLst>
              </p:cNvPr>
              <p:cNvSpPr txBox="1"/>
              <p:nvPr/>
            </p:nvSpPr>
            <p:spPr>
              <a:xfrm>
                <a:off x="3579953" y="2108170"/>
                <a:ext cx="126761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Traffic Steering</a:t>
                </a:r>
              </a:p>
            </p:txBody>
          </p:sp>
        </p:grpSp>
        <p:grpSp>
          <p:nvGrpSpPr>
            <p:cNvPr id="336" name="Group 335">
              <a:extLst>
                <a:ext uri="{FF2B5EF4-FFF2-40B4-BE49-F238E27FC236}">
                  <a16:creationId xmlns:a16="http://schemas.microsoft.com/office/drawing/2014/main" id="{84A20A0E-78FB-9D01-1459-3C069A1299BC}"/>
                </a:ext>
              </a:extLst>
            </p:cNvPr>
            <p:cNvGrpSpPr/>
            <p:nvPr/>
          </p:nvGrpSpPr>
          <p:grpSpPr>
            <a:xfrm>
              <a:off x="3715826" y="1858990"/>
              <a:ext cx="1369001" cy="310703"/>
              <a:chOff x="3579953" y="2107690"/>
              <a:chExt cx="1267610" cy="310703"/>
            </a:xfrm>
          </p:grpSpPr>
          <p:sp>
            <p:nvSpPr>
              <p:cNvPr id="337" name="Rectangle: Rounded Corners 336">
                <a:extLst>
                  <a:ext uri="{FF2B5EF4-FFF2-40B4-BE49-F238E27FC236}">
                    <a16:creationId xmlns:a16="http://schemas.microsoft.com/office/drawing/2014/main" id="{E58C9A7A-9CC9-A0E6-4D96-B5CC2855D9F2}"/>
                  </a:ext>
                </a:extLst>
              </p:cNvPr>
              <p:cNvSpPr/>
              <p:nvPr/>
            </p:nvSpPr>
            <p:spPr>
              <a:xfrm>
                <a:off x="3642155" y="2107690"/>
                <a:ext cx="1143205" cy="310703"/>
              </a:xfrm>
              <a:prstGeom prst="roundRect">
                <a:avLst>
                  <a:gd name="adj" fmla="val 12974"/>
                </a:avLst>
              </a:prstGeom>
              <a:solidFill>
                <a:schemeClr val="bg2">
                  <a:lumMod val="25000"/>
                </a:schemeClr>
              </a:solidFill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A3485B05-CDBC-7ABB-426B-CA02365E2BAD}"/>
                  </a:ext>
                </a:extLst>
              </p:cNvPr>
              <p:cNvSpPr txBox="1"/>
              <p:nvPr/>
            </p:nvSpPr>
            <p:spPr>
              <a:xfrm>
                <a:off x="3579953" y="2108170"/>
                <a:ext cx="126761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QoE</a:t>
                </a:r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Prediction</a:t>
                </a:r>
              </a:p>
            </p:txBody>
          </p:sp>
        </p:grpSp>
        <p:grpSp>
          <p:nvGrpSpPr>
            <p:cNvPr id="339" name="Group 338">
              <a:extLst>
                <a:ext uri="{FF2B5EF4-FFF2-40B4-BE49-F238E27FC236}">
                  <a16:creationId xmlns:a16="http://schemas.microsoft.com/office/drawing/2014/main" id="{A8B71324-C15E-9BEE-9D24-A267C3F55BB8}"/>
                </a:ext>
              </a:extLst>
            </p:cNvPr>
            <p:cNvGrpSpPr/>
            <p:nvPr/>
          </p:nvGrpSpPr>
          <p:grpSpPr>
            <a:xfrm>
              <a:off x="5083159" y="2241098"/>
              <a:ext cx="1234646" cy="310703"/>
              <a:chOff x="3642154" y="2107690"/>
              <a:chExt cx="1143206" cy="310703"/>
            </a:xfrm>
          </p:grpSpPr>
          <p:sp>
            <p:nvSpPr>
              <p:cNvPr id="340" name="Rectangle: Rounded Corners 339">
                <a:extLst>
                  <a:ext uri="{FF2B5EF4-FFF2-40B4-BE49-F238E27FC236}">
                    <a16:creationId xmlns:a16="http://schemas.microsoft.com/office/drawing/2014/main" id="{77EA2108-4F43-856E-BF34-DC07A4CBBC2A}"/>
                  </a:ext>
                </a:extLst>
              </p:cNvPr>
              <p:cNvSpPr/>
              <p:nvPr/>
            </p:nvSpPr>
            <p:spPr>
              <a:xfrm>
                <a:off x="3642155" y="2107690"/>
                <a:ext cx="1143205" cy="310703"/>
              </a:xfrm>
              <a:prstGeom prst="roundRect">
                <a:avLst>
                  <a:gd name="adj" fmla="val 12974"/>
                </a:avLst>
              </a:prstGeom>
              <a:solidFill>
                <a:schemeClr val="bg2">
                  <a:lumMod val="25000"/>
                </a:schemeClr>
              </a:solidFill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DB65914A-4674-4E33-9508-79A71B1F851E}"/>
                  </a:ext>
                </a:extLst>
              </p:cNvPr>
              <p:cNvSpPr txBox="1"/>
              <p:nvPr/>
            </p:nvSpPr>
            <p:spPr>
              <a:xfrm>
                <a:off x="3642154" y="2108170"/>
                <a:ext cx="114320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 Control</a:t>
                </a:r>
              </a:p>
            </p:txBody>
          </p:sp>
        </p:grpSp>
        <p:grpSp>
          <p:nvGrpSpPr>
            <p:cNvPr id="347" name="Group 346">
              <a:extLst>
                <a:ext uri="{FF2B5EF4-FFF2-40B4-BE49-F238E27FC236}">
                  <a16:creationId xmlns:a16="http://schemas.microsoft.com/office/drawing/2014/main" id="{5B9BE978-A5DB-D685-10B4-4EA319C39598}"/>
                </a:ext>
              </a:extLst>
            </p:cNvPr>
            <p:cNvGrpSpPr/>
            <p:nvPr/>
          </p:nvGrpSpPr>
          <p:grpSpPr>
            <a:xfrm>
              <a:off x="9238215" y="1943123"/>
              <a:ext cx="655258" cy="310703"/>
              <a:chOff x="3483267" y="2107690"/>
              <a:chExt cx="1267610" cy="310703"/>
            </a:xfrm>
            <a:solidFill>
              <a:schemeClr val="bg1"/>
            </a:solidFill>
          </p:grpSpPr>
          <p:sp>
            <p:nvSpPr>
              <p:cNvPr id="348" name="Rectangle: Rounded Corners 347">
                <a:extLst>
                  <a:ext uri="{FF2B5EF4-FFF2-40B4-BE49-F238E27FC236}">
                    <a16:creationId xmlns:a16="http://schemas.microsoft.com/office/drawing/2014/main" id="{3C9841D4-45DC-778F-BEA6-220674ADD499}"/>
                  </a:ext>
                </a:extLst>
              </p:cNvPr>
              <p:cNvSpPr/>
              <p:nvPr/>
            </p:nvSpPr>
            <p:spPr>
              <a:xfrm>
                <a:off x="3545470" y="2107690"/>
                <a:ext cx="1143205" cy="310703"/>
              </a:xfrm>
              <a:prstGeom prst="roundRect">
                <a:avLst>
                  <a:gd name="adj" fmla="val 12974"/>
                </a:avLst>
              </a:prstGeom>
              <a:solidFill>
                <a:schemeClr val="bg2">
                  <a:lumMod val="25000"/>
                </a:schemeClr>
              </a:solidFill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492D15C4-5FCA-05B8-E67C-219273E0EB3D}"/>
                  </a:ext>
                </a:extLst>
              </p:cNvPr>
              <p:cNvSpPr txBox="1"/>
              <p:nvPr/>
            </p:nvSpPr>
            <p:spPr>
              <a:xfrm>
                <a:off x="3483267" y="2108170"/>
                <a:ext cx="126761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rApps</a:t>
                </a:r>
              </a:p>
            </p:txBody>
          </p:sp>
        </p:grpSp>
        <p:grpSp>
          <p:nvGrpSpPr>
            <p:cNvPr id="351" name="Group 350">
              <a:extLst>
                <a:ext uri="{FF2B5EF4-FFF2-40B4-BE49-F238E27FC236}">
                  <a16:creationId xmlns:a16="http://schemas.microsoft.com/office/drawing/2014/main" id="{C0E76DF9-91EC-A649-B11A-91E1BE183B4C}"/>
                </a:ext>
              </a:extLst>
            </p:cNvPr>
            <p:cNvGrpSpPr/>
            <p:nvPr/>
          </p:nvGrpSpPr>
          <p:grpSpPr>
            <a:xfrm>
              <a:off x="7572249" y="1943236"/>
              <a:ext cx="1712822" cy="310703"/>
              <a:chOff x="3542966" y="2107690"/>
              <a:chExt cx="1267610" cy="310703"/>
            </a:xfrm>
            <a:solidFill>
              <a:schemeClr val="bg1"/>
            </a:solidFill>
          </p:grpSpPr>
          <p:sp>
            <p:nvSpPr>
              <p:cNvPr id="352" name="Rectangle: Rounded Corners 351">
                <a:extLst>
                  <a:ext uri="{FF2B5EF4-FFF2-40B4-BE49-F238E27FC236}">
                    <a16:creationId xmlns:a16="http://schemas.microsoft.com/office/drawing/2014/main" id="{A35C3105-3252-BC99-072B-85E2366034C7}"/>
                  </a:ext>
                </a:extLst>
              </p:cNvPr>
              <p:cNvSpPr/>
              <p:nvPr/>
            </p:nvSpPr>
            <p:spPr>
              <a:xfrm>
                <a:off x="3605168" y="2107690"/>
                <a:ext cx="1143205" cy="310703"/>
              </a:xfrm>
              <a:prstGeom prst="roundRect">
                <a:avLst>
                  <a:gd name="adj" fmla="val 12974"/>
                </a:avLst>
              </a:prstGeom>
              <a:solidFill>
                <a:srgbClr val="3A3A3A"/>
              </a:solidFill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EC5E2325-62FF-4D4A-BD7C-D53E117B8772}"/>
                  </a:ext>
                </a:extLst>
              </p:cNvPr>
              <p:cNvSpPr txBox="1"/>
              <p:nvPr/>
            </p:nvSpPr>
            <p:spPr>
              <a:xfrm>
                <a:off x="3542966" y="2108170"/>
                <a:ext cx="126761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Policy Management</a:t>
                </a: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3342515B-D298-43A1-9E16-E6FD971A6A41}"/>
                </a:ext>
              </a:extLst>
            </p:cNvPr>
            <p:cNvSpPr txBox="1"/>
            <p:nvPr/>
          </p:nvSpPr>
          <p:spPr>
            <a:xfrm>
              <a:off x="2887502" y="1783517"/>
              <a:ext cx="74262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xApps</a:t>
              </a:r>
              <a:endPara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57872673-AAAD-4628-B781-C1A7A5F491EC}"/>
                </a:ext>
              </a:extLst>
            </p:cNvPr>
            <p:cNvGrpSpPr/>
            <p:nvPr/>
          </p:nvGrpSpPr>
          <p:grpSpPr>
            <a:xfrm>
              <a:off x="9769890" y="2504754"/>
              <a:ext cx="97262" cy="20476"/>
              <a:chOff x="10392777" y="4210335"/>
              <a:chExt cx="97262" cy="20476"/>
            </a:xfrm>
          </p:grpSpPr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24631A37-9689-4B10-8ADB-0416A5B0735E}"/>
                  </a:ext>
                </a:extLst>
              </p:cNvPr>
              <p:cNvSpPr/>
              <p:nvPr/>
            </p:nvSpPr>
            <p:spPr>
              <a:xfrm flipV="1">
                <a:off x="10392777" y="4210335"/>
                <a:ext cx="20476" cy="2047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0A1B9C14-F6A3-4685-834A-A8A1851159D4}"/>
                  </a:ext>
                </a:extLst>
              </p:cNvPr>
              <p:cNvSpPr/>
              <p:nvPr/>
            </p:nvSpPr>
            <p:spPr>
              <a:xfrm flipV="1">
                <a:off x="10431170" y="4210335"/>
                <a:ext cx="20476" cy="2047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B25E1B82-A1FA-4694-AA25-FAEC6C0B5254}"/>
                  </a:ext>
                </a:extLst>
              </p:cNvPr>
              <p:cNvSpPr/>
              <p:nvPr/>
            </p:nvSpPr>
            <p:spPr>
              <a:xfrm flipV="1">
                <a:off x="10469563" y="4210335"/>
                <a:ext cx="20476" cy="2047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26AD37C1-FC4C-445B-A475-2C31F113B111}"/>
                </a:ext>
              </a:extLst>
            </p:cNvPr>
            <p:cNvGrpSpPr/>
            <p:nvPr/>
          </p:nvGrpSpPr>
          <p:grpSpPr>
            <a:xfrm>
              <a:off x="3075233" y="2510064"/>
              <a:ext cx="97262" cy="20476"/>
              <a:chOff x="10366573" y="4210335"/>
              <a:chExt cx="97262" cy="20476"/>
            </a:xfrm>
          </p:grpSpPr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BE600BD0-3962-416A-B573-62FC9571329A}"/>
                  </a:ext>
                </a:extLst>
              </p:cNvPr>
              <p:cNvSpPr/>
              <p:nvPr/>
            </p:nvSpPr>
            <p:spPr>
              <a:xfrm flipV="1">
                <a:off x="10366573" y="4210335"/>
                <a:ext cx="20476" cy="2047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A8E8DF44-D72F-48F7-BC48-12898EF88200}"/>
                  </a:ext>
                </a:extLst>
              </p:cNvPr>
              <p:cNvSpPr/>
              <p:nvPr/>
            </p:nvSpPr>
            <p:spPr>
              <a:xfrm flipV="1">
                <a:off x="10404966" y="4210335"/>
                <a:ext cx="20476" cy="2047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0E65D4E3-D00A-48E5-99ED-8AC57DBB500A}"/>
                  </a:ext>
                </a:extLst>
              </p:cNvPr>
              <p:cNvSpPr/>
              <p:nvPr/>
            </p:nvSpPr>
            <p:spPr>
              <a:xfrm flipV="1">
                <a:off x="10443359" y="4210335"/>
                <a:ext cx="20476" cy="2047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8AE9E19A-B742-44B1-ABAF-2240637F635F}"/>
                </a:ext>
              </a:extLst>
            </p:cNvPr>
            <p:cNvSpPr txBox="1"/>
            <p:nvPr/>
          </p:nvSpPr>
          <p:spPr>
            <a:xfrm>
              <a:off x="7603208" y="3805525"/>
              <a:ext cx="94632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Tunnel from UPF to UE</a:t>
              </a:r>
              <a:br>
                <a:rPr lang="en-US" sz="1200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1200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for internet</a:t>
              </a: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7571666-D429-4300-4F2A-97EA7815726F}"/>
                </a:ext>
              </a:extLst>
            </p:cNvPr>
            <p:cNvSpPr/>
            <p:nvPr/>
          </p:nvSpPr>
          <p:spPr>
            <a:xfrm>
              <a:off x="8470803" y="3511703"/>
              <a:ext cx="1565803" cy="618689"/>
            </a:xfrm>
            <a:prstGeom prst="roundRect">
              <a:avLst>
                <a:gd name="adj" fmla="val 12974"/>
              </a:avLst>
            </a:prstGeom>
            <a:solidFill>
              <a:srgbClr val="262626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3DE7ACA-42A3-9C44-756C-47D4AC75B3DA}"/>
                </a:ext>
              </a:extLst>
            </p:cNvPr>
            <p:cNvCxnSpPr>
              <a:endCxn id="3" idx="1"/>
            </p:cNvCxnSpPr>
            <p:nvPr/>
          </p:nvCxnSpPr>
          <p:spPr>
            <a:xfrm>
              <a:off x="7660127" y="3821048"/>
              <a:ext cx="810676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8919BBE-89B4-C169-F885-E2C41B5D3829}"/>
                </a:ext>
              </a:extLst>
            </p:cNvPr>
            <p:cNvGrpSpPr/>
            <p:nvPr/>
          </p:nvGrpSpPr>
          <p:grpSpPr>
            <a:xfrm>
              <a:off x="8470803" y="3511704"/>
              <a:ext cx="1565803" cy="618689"/>
              <a:chOff x="8470803" y="3511704"/>
              <a:chExt cx="1565803" cy="618689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CE0C6DFE-1B4A-CDD8-414E-2C8F06CF267A}"/>
                  </a:ext>
                </a:extLst>
              </p:cNvPr>
              <p:cNvSpPr/>
              <p:nvPr/>
            </p:nvSpPr>
            <p:spPr>
              <a:xfrm>
                <a:off x="8470803" y="3511704"/>
                <a:ext cx="1565803" cy="618689"/>
              </a:xfrm>
              <a:prstGeom prst="roundRect">
                <a:avLst>
                  <a:gd name="adj" fmla="val 12974"/>
                </a:avLst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790A086-C9BB-9F22-01C8-627725552182}"/>
                  </a:ext>
                </a:extLst>
              </p:cNvPr>
              <p:cNvGrpSpPr/>
              <p:nvPr/>
            </p:nvGrpSpPr>
            <p:grpSpPr>
              <a:xfrm>
                <a:off x="8544250" y="3663843"/>
                <a:ext cx="1430022" cy="310703"/>
                <a:chOff x="8544250" y="3663843"/>
                <a:chExt cx="1430022" cy="310703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109BC3B5-7515-6387-B152-338A0545A48A}"/>
                    </a:ext>
                  </a:extLst>
                </p:cNvPr>
                <p:cNvGrpSpPr/>
                <p:nvPr/>
              </p:nvGrpSpPr>
              <p:grpSpPr>
                <a:xfrm>
                  <a:off x="9877010" y="3808956"/>
                  <a:ext cx="97262" cy="20476"/>
                  <a:chOff x="10423398" y="4210335"/>
                  <a:chExt cx="97262" cy="20476"/>
                </a:xfrm>
              </p:grpSpPr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0F7E4327-3B24-A579-20DC-4E04FBE9762A}"/>
                      </a:ext>
                    </a:extLst>
                  </p:cNvPr>
                  <p:cNvSpPr/>
                  <p:nvPr/>
                </p:nvSpPr>
                <p:spPr>
                  <a:xfrm flipV="1">
                    <a:off x="10423398" y="4210335"/>
                    <a:ext cx="20476" cy="204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65CC17AB-E282-B165-2260-E04A0D47220B}"/>
                      </a:ext>
                    </a:extLst>
                  </p:cNvPr>
                  <p:cNvSpPr/>
                  <p:nvPr/>
                </p:nvSpPr>
                <p:spPr>
                  <a:xfrm flipV="1">
                    <a:off x="10461791" y="4210335"/>
                    <a:ext cx="20476" cy="204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6AAF88ED-F440-9178-BA85-686FF7B57F3E}"/>
                      </a:ext>
                    </a:extLst>
                  </p:cNvPr>
                  <p:cNvSpPr/>
                  <p:nvPr/>
                </p:nvSpPr>
                <p:spPr>
                  <a:xfrm flipV="1">
                    <a:off x="10500184" y="4210335"/>
                    <a:ext cx="20476" cy="204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49F32863-BFC1-757F-5B01-BAC1A230BA39}"/>
                    </a:ext>
                  </a:extLst>
                </p:cNvPr>
                <p:cNvGrpSpPr/>
                <p:nvPr/>
              </p:nvGrpSpPr>
              <p:grpSpPr>
                <a:xfrm>
                  <a:off x="8544250" y="3663843"/>
                  <a:ext cx="655258" cy="310703"/>
                  <a:chOff x="8483290" y="3660903"/>
                  <a:chExt cx="655258" cy="310703"/>
                </a:xfrm>
              </p:grpSpPr>
              <p:sp>
                <p:nvSpPr>
                  <p:cNvPr id="19" name="Rectangle: Rounded Corners 18">
                    <a:extLst>
                      <a:ext uri="{FF2B5EF4-FFF2-40B4-BE49-F238E27FC236}">
                        <a16:creationId xmlns:a16="http://schemas.microsoft.com/office/drawing/2014/main" id="{DD049208-FC03-CA31-F96B-4B622E9F569D}"/>
                      </a:ext>
                    </a:extLst>
                  </p:cNvPr>
                  <p:cNvSpPr/>
                  <p:nvPr/>
                </p:nvSpPr>
                <p:spPr>
                  <a:xfrm>
                    <a:off x="8515444" y="3660903"/>
                    <a:ext cx="590950" cy="310703"/>
                  </a:xfrm>
                  <a:prstGeom prst="roundRect">
                    <a:avLst>
                      <a:gd name="adj" fmla="val 12974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127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156A02F-6D01-C389-75B6-745AC5F21490}"/>
                      </a:ext>
                    </a:extLst>
                  </p:cNvPr>
                  <p:cNvSpPr txBox="1"/>
                  <p:nvPr/>
                </p:nvSpPr>
                <p:spPr>
                  <a:xfrm>
                    <a:off x="8483290" y="3661383"/>
                    <a:ext cx="655258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UPF</a:t>
                    </a:r>
                  </a:p>
                </p:txBody>
              </p:sp>
            </p:grp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12A7027B-5E3A-EC2D-BCB4-EDA5D1C0BEC8}"/>
                    </a:ext>
                  </a:extLst>
                </p:cNvPr>
                <p:cNvGrpSpPr/>
                <p:nvPr/>
              </p:nvGrpSpPr>
              <p:grpSpPr>
                <a:xfrm>
                  <a:off x="9189714" y="3663843"/>
                  <a:ext cx="655258" cy="310703"/>
                  <a:chOff x="9128754" y="3666783"/>
                  <a:chExt cx="655258" cy="310703"/>
                </a:xfrm>
              </p:grpSpPr>
              <p:sp>
                <p:nvSpPr>
                  <p:cNvPr id="17" name="Rectangle: Rounded Corners 16">
                    <a:extLst>
                      <a:ext uri="{FF2B5EF4-FFF2-40B4-BE49-F238E27FC236}">
                        <a16:creationId xmlns:a16="http://schemas.microsoft.com/office/drawing/2014/main" id="{10ABB812-6101-B7BC-B307-C5F721932CA7}"/>
                      </a:ext>
                    </a:extLst>
                  </p:cNvPr>
                  <p:cNvSpPr/>
                  <p:nvPr/>
                </p:nvSpPr>
                <p:spPr>
                  <a:xfrm>
                    <a:off x="9160908" y="3666783"/>
                    <a:ext cx="590950" cy="310703"/>
                  </a:xfrm>
                  <a:prstGeom prst="roundRect">
                    <a:avLst>
                      <a:gd name="adj" fmla="val 12974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127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B2DE4C59-4701-798A-7ABE-6AB0F969D911}"/>
                      </a:ext>
                    </a:extLst>
                  </p:cNvPr>
                  <p:cNvSpPr txBox="1"/>
                  <p:nvPr/>
                </p:nvSpPr>
                <p:spPr>
                  <a:xfrm>
                    <a:off x="9128754" y="3667263"/>
                    <a:ext cx="655258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AMF</a:t>
                    </a:r>
                  </a:p>
                </p:txBody>
              </p:sp>
            </p:grpSp>
          </p:grp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08AF785-64DD-5213-EFB1-C72E9837A77B}"/>
                </a:ext>
              </a:extLst>
            </p:cNvPr>
            <p:cNvSpPr txBox="1"/>
            <p:nvPr/>
          </p:nvSpPr>
          <p:spPr>
            <a:xfrm>
              <a:off x="6417137" y="1764477"/>
              <a:ext cx="97132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A1-P, A1-EI</a:t>
              </a:r>
              <a:b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A1-ML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CE108E2-A257-1689-DEB3-58EACB4F7465}"/>
                </a:ext>
              </a:extLst>
            </p:cNvPr>
            <p:cNvSpPr txBox="1"/>
            <p:nvPr/>
          </p:nvSpPr>
          <p:spPr>
            <a:xfrm>
              <a:off x="6506434" y="3236557"/>
              <a:ext cx="218459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E2AP, E2SM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AD74077-27C2-09AC-7CE1-70F5C84ABC60}"/>
                </a:ext>
              </a:extLst>
            </p:cNvPr>
            <p:cNvSpPr txBox="1"/>
            <p:nvPr/>
          </p:nvSpPr>
          <p:spPr>
            <a:xfrm>
              <a:off x="6788425" y="2700688"/>
              <a:ext cx="330967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Service Management and Orchestration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24651D9-0BC3-A5D9-407D-1196EBDD0FE4}"/>
                </a:ext>
              </a:extLst>
            </p:cNvPr>
            <p:cNvSpPr txBox="1"/>
            <p:nvPr/>
          </p:nvSpPr>
          <p:spPr>
            <a:xfrm>
              <a:off x="7486066" y="2905350"/>
              <a:ext cx="207813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O-RAN SC RIC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D1816B3-2F0C-5BC7-EF43-2643BC9F317C}"/>
                </a:ext>
              </a:extLst>
            </p:cNvPr>
            <p:cNvSpPr txBox="1"/>
            <p:nvPr/>
          </p:nvSpPr>
          <p:spPr>
            <a:xfrm>
              <a:off x="5420878" y="4224429"/>
              <a:ext cx="223924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Next Generation Node B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65A236D-5DC4-4924-E9BF-5BCBC5CC0DB4}"/>
                </a:ext>
              </a:extLst>
            </p:cNvPr>
            <p:cNvSpPr txBox="1"/>
            <p:nvPr/>
          </p:nvSpPr>
          <p:spPr>
            <a:xfrm>
              <a:off x="5566264" y="4451303"/>
              <a:ext cx="209517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OCUDU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OpenAirInterface5G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O-RAN SC E2 Simulator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983C6B6-9442-28D0-3F90-CC015BA1CA48}"/>
                </a:ext>
              </a:extLst>
            </p:cNvPr>
            <p:cNvSpPr txBox="1"/>
            <p:nvPr/>
          </p:nvSpPr>
          <p:spPr>
            <a:xfrm>
              <a:off x="8589063" y="4338402"/>
              <a:ext cx="1532202" cy="830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Open5GS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OAI 5G CN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Free5GC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Open5GCore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3BE429E-B8C4-A416-EB71-203FC89A1B08}"/>
                </a:ext>
              </a:extLst>
            </p:cNvPr>
            <p:cNvSpPr txBox="1"/>
            <p:nvPr/>
          </p:nvSpPr>
          <p:spPr>
            <a:xfrm>
              <a:off x="8468250" y="4109945"/>
              <a:ext cx="156835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5G Core Network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6227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roup 225">
            <a:extLst>
              <a:ext uri="{FF2B5EF4-FFF2-40B4-BE49-F238E27FC236}">
                <a16:creationId xmlns:a16="http://schemas.microsoft.com/office/drawing/2014/main" id="{90F26478-879E-D4B3-A75A-5E42646C065C}"/>
              </a:ext>
            </a:extLst>
          </p:cNvPr>
          <p:cNvGrpSpPr/>
          <p:nvPr/>
        </p:nvGrpSpPr>
        <p:grpSpPr>
          <a:xfrm>
            <a:off x="496467" y="1900165"/>
            <a:ext cx="11199066" cy="3057669"/>
            <a:chOff x="575839" y="1513908"/>
            <a:chExt cx="11199066" cy="3057669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0739420-0123-DB6F-5885-960E057BE8AB}"/>
                </a:ext>
              </a:extLst>
            </p:cNvPr>
            <p:cNvSpPr/>
            <p:nvPr/>
          </p:nvSpPr>
          <p:spPr>
            <a:xfrm>
              <a:off x="575839" y="1513908"/>
              <a:ext cx="11199066" cy="3057028"/>
            </a:xfrm>
            <a:prstGeom prst="roundRect">
              <a:avLst>
                <a:gd name="adj" fmla="val 280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AA778A2D-5D6E-872D-16E0-E2154F72147B}"/>
                </a:ext>
              </a:extLst>
            </p:cNvPr>
            <p:cNvCxnSpPr>
              <a:cxnSpLocks/>
              <a:stCxn id="277" idx="3"/>
              <a:endCxn id="237" idx="1"/>
            </p:cNvCxnSpPr>
            <p:nvPr/>
          </p:nvCxnSpPr>
          <p:spPr>
            <a:xfrm>
              <a:off x="5817331" y="3559019"/>
              <a:ext cx="680627" cy="2434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19AEC2F8-5A21-3B40-519C-F2CA97AA5EE4}"/>
                </a:ext>
              </a:extLst>
            </p:cNvPr>
            <p:cNvCxnSpPr>
              <a:cxnSpLocks/>
              <a:stCxn id="201" idx="3"/>
              <a:endCxn id="276" idx="1"/>
            </p:cNvCxnSpPr>
            <p:nvPr/>
          </p:nvCxnSpPr>
          <p:spPr>
            <a:xfrm>
              <a:off x="2929887" y="2336371"/>
              <a:ext cx="676819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B08242A5-1335-1B3A-F36E-92F7ACADE36C}"/>
                </a:ext>
              </a:extLst>
            </p:cNvPr>
            <p:cNvCxnSpPr>
              <a:cxnSpLocks/>
              <a:stCxn id="200" idx="3"/>
              <a:endCxn id="275" idx="1"/>
            </p:cNvCxnSpPr>
            <p:nvPr/>
          </p:nvCxnSpPr>
          <p:spPr>
            <a:xfrm>
              <a:off x="2929886" y="2642033"/>
              <a:ext cx="6806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03562168-DCAA-1D7C-522F-29E8943268AD}"/>
                </a:ext>
              </a:extLst>
            </p:cNvPr>
            <p:cNvCxnSpPr>
              <a:cxnSpLocks/>
              <a:stCxn id="202" idx="3"/>
              <a:endCxn id="276" idx="1"/>
            </p:cNvCxnSpPr>
            <p:nvPr/>
          </p:nvCxnSpPr>
          <p:spPr>
            <a:xfrm flipV="1">
              <a:off x="2929886" y="2336371"/>
              <a:ext cx="676820" cy="1222648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E96F9127-6829-F9FD-FB9A-07BC9E2C0085}"/>
                </a:ext>
              </a:extLst>
            </p:cNvPr>
            <p:cNvCxnSpPr>
              <a:cxnSpLocks/>
              <a:stCxn id="209" idx="3"/>
              <a:endCxn id="280" idx="1"/>
            </p:cNvCxnSpPr>
            <p:nvPr/>
          </p:nvCxnSpPr>
          <p:spPr>
            <a:xfrm>
              <a:off x="2929886" y="3253357"/>
              <a:ext cx="6806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85981B5D-8D58-316D-8BA0-E0B5EC7F6C13}"/>
                </a:ext>
              </a:extLst>
            </p:cNvPr>
            <p:cNvCxnSpPr>
              <a:cxnSpLocks/>
              <a:stCxn id="199" idx="3"/>
              <a:endCxn id="274" idx="1"/>
            </p:cNvCxnSpPr>
            <p:nvPr/>
          </p:nvCxnSpPr>
          <p:spPr>
            <a:xfrm>
              <a:off x="2929886" y="2947695"/>
              <a:ext cx="665196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ight Brace 1">
              <a:extLst>
                <a:ext uri="{FF2B5EF4-FFF2-40B4-BE49-F238E27FC236}">
                  <a16:creationId xmlns:a16="http://schemas.microsoft.com/office/drawing/2014/main" id="{2A8D8D8A-42F1-94E4-4204-822955899560}"/>
                </a:ext>
              </a:extLst>
            </p:cNvPr>
            <p:cNvSpPr/>
            <p:nvPr/>
          </p:nvSpPr>
          <p:spPr>
            <a:xfrm>
              <a:off x="5861045" y="2206203"/>
              <a:ext cx="82756" cy="574896"/>
            </a:xfrm>
            <a:prstGeom prst="rightBrace">
              <a:avLst>
                <a:gd name="adj1" fmla="val 88901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7E2A8974-C683-F013-EE39-E7DAD5BD85E5}"/>
                </a:ext>
              </a:extLst>
            </p:cNvPr>
            <p:cNvSpPr/>
            <p:nvPr/>
          </p:nvSpPr>
          <p:spPr>
            <a:xfrm>
              <a:off x="5861045" y="2819553"/>
              <a:ext cx="82756" cy="574896"/>
            </a:xfrm>
            <a:prstGeom prst="rightBrace">
              <a:avLst>
                <a:gd name="adj1" fmla="val 88901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0" name="Group 269">
              <a:extLst>
                <a:ext uri="{FF2B5EF4-FFF2-40B4-BE49-F238E27FC236}">
                  <a16:creationId xmlns:a16="http://schemas.microsoft.com/office/drawing/2014/main" id="{A9832EC4-0E44-30A3-4E70-CD46C82868E4}"/>
                </a:ext>
              </a:extLst>
            </p:cNvPr>
            <p:cNvGrpSpPr/>
            <p:nvPr/>
          </p:nvGrpSpPr>
          <p:grpSpPr>
            <a:xfrm>
              <a:off x="3594298" y="2171378"/>
              <a:ext cx="2263961" cy="1844033"/>
              <a:chOff x="3916949" y="3691197"/>
              <a:chExt cx="2263961" cy="1844033"/>
            </a:xfrm>
          </p:grpSpPr>
          <p:sp>
            <p:nvSpPr>
              <p:cNvPr id="271" name="Rectangle: Rounded Corners 270">
                <a:extLst>
                  <a:ext uri="{FF2B5EF4-FFF2-40B4-BE49-F238E27FC236}">
                    <a16:creationId xmlns:a16="http://schemas.microsoft.com/office/drawing/2014/main" id="{D7B4D6CF-6257-A2E5-C9CA-3300DB701243}"/>
                  </a:ext>
                </a:extLst>
              </p:cNvPr>
              <p:cNvSpPr/>
              <p:nvPr/>
            </p:nvSpPr>
            <p:spPr>
              <a:xfrm>
                <a:off x="3916949" y="3692460"/>
                <a:ext cx="2239249" cy="1531642"/>
              </a:xfrm>
              <a:prstGeom prst="roundRect">
                <a:avLst>
                  <a:gd name="adj" fmla="val 5859"/>
                </a:avLst>
              </a:prstGeom>
              <a:solidFill>
                <a:schemeClr val="bg1">
                  <a:lumMod val="8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2" name="Rectangle: Top Corners Rounded 271">
                <a:extLst>
                  <a:ext uri="{FF2B5EF4-FFF2-40B4-BE49-F238E27FC236}">
                    <a16:creationId xmlns:a16="http://schemas.microsoft.com/office/drawing/2014/main" id="{9EACF07D-32F6-2137-DA90-32B66227DEC0}"/>
                  </a:ext>
                </a:extLst>
              </p:cNvPr>
              <p:cNvSpPr/>
              <p:nvPr/>
            </p:nvSpPr>
            <p:spPr>
              <a:xfrm rot="10800000">
                <a:off x="3916952" y="4613172"/>
                <a:ext cx="2239248" cy="323588"/>
              </a:xfrm>
              <a:prstGeom prst="round2SameRect">
                <a:avLst>
                  <a:gd name="adj1" fmla="val 28890"/>
                  <a:gd name="adj2" fmla="val 0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D6075B7C-6B1B-AA09-28DC-A0AB26B8A4EF}"/>
                  </a:ext>
                </a:extLst>
              </p:cNvPr>
              <p:cNvSpPr/>
              <p:nvPr/>
            </p:nvSpPr>
            <p:spPr>
              <a:xfrm>
                <a:off x="3916951" y="3990559"/>
                <a:ext cx="2239249" cy="32358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0F1D9381-EB89-C1C5-783F-90CB3F61BF0E}"/>
                  </a:ext>
                </a:extLst>
              </p:cNvPr>
              <p:cNvSpPr txBox="1"/>
              <p:nvPr/>
            </p:nvSpPr>
            <p:spPr>
              <a:xfrm>
                <a:off x="3917733" y="4313625"/>
                <a:ext cx="223768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OAI : USRP</a:t>
                </a:r>
              </a:p>
            </p:txBody>
          </p:sp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A8AE50F6-876D-1B55-54CD-525FF6E92E84}"/>
                  </a:ext>
                </a:extLst>
              </p:cNvPr>
              <p:cNvSpPr txBox="1"/>
              <p:nvPr/>
            </p:nvSpPr>
            <p:spPr>
              <a:xfrm>
                <a:off x="3933168" y="4007963"/>
                <a:ext cx="220681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OCUDU :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ZeroMQ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1413A169-90A0-F78F-98F8-C95D3D06F347}"/>
                  </a:ext>
                </a:extLst>
              </p:cNvPr>
              <p:cNvSpPr txBox="1"/>
              <p:nvPr/>
            </p:nvSpPr>
            <p:spPr>
              <a:xfrm>
                <a:off x="3929357" y="3702301"/>
                <a:ext cx="220681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OCUDU : USRP</a:t>
                </a:r>
              </a:p>
            </p:txBody>
          </p: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96F5014D-82C8-C27A-8EF4-CC8285452C10}"/>
                  </a:ext>
                </a:extLst>
              </p:cNvPr>
              <p:cNvSpPr txBox="1"/>
              <p:nvPr/>
            </p:nvSpPr>
            <p:spPr>
              <a:xfrm>
                <a:off x="3933168" y="4924949"/>
                <a:ext cx="220681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O-RAN SC : E2 Simulator</a:t>
                </a:r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3BDAD62F-06B2-79B2-26C5-B0000A989788}"/>
                  </a:ext>
                </a:extLst>
              </p:cNvPr>
              <p:cNvSpPr txBox="1"/>
              <p:nvPr/>
            </p:nvSpPr>
            <p:spPr>
              <a:xfrm>
                <a:off x="3941661" y="5227453"/>
                <a:ext cx="22392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Next Generation Node B</a:t>
                </a:r>
                <a:endPara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83A50FAE-7494-A2B4-0F14-D16BA097F548}"/>
                  </a:ext>
                </a:extLst>
              </p:cNvPr>
              <p:cNvSpPr/>
              <p:nvPr/>
            </p:nvSpPr>
            <p:spPr>
              <a:xfrm>
                <a:off x="3916950" y="4615547"/>
                <a:ext cx="2239249" cy="32358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B116DFE2-7F21-FE11-0F36-441A58E9A2C3}"/>
                  </a:ext>
                </a:extLst>
              </p:cNvPr>
              <p:cNvSpPr txBox="1"/>
              <p:nvPr/>
            </p:nvSpPr>
            <p:spPr>
              <a:xfrm>
                <a:off x="3933168" y="4619287"/>
                <a:ext cx="220681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OAI : RF Simulator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1" name="Rectangle: Rounded Corners 280">
                <a:extLst>
                  <a:ext uri="{FF2B5EF4-FFF2-40B4-BE49-F238E27FC236}">
                    <a16:creationId xmlns:a16="http://schemas.microsoft.com/office/drawing/2014/main" id="{4D54D83B-619F-C188-C380-2C35CAF9BF85}"/>
                  </a:ext>
                </a:extLst>
              </p:cNvPr>
              <p:cNvSpPr/>
              <p:nvPr/>
            </p:nvSpPr>
            <p:spPr>
              <a:xfrm>
                <a:off x="3916951" y="3691197"/>
                <a:ext cx="2239249" cy="1534218"/>
              </a:xfrm>
              <a:prstGeom prst="roundRect">
                <a:avLst>
                  <a:gd name="adj" fmla="val 5819"/>
                </a:avLst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7A854522-CD14-6BE1-A26D-F4B8091652DF}"/>
                </a:ext>
              </a:extLst>
            </p:cNvPr>
            <p:cNvGrpSpPr/>
            <p:nvPr/>
          </p:nvGrpSpPr>
          <p:grpSpPr>
            <a:xfrm>
              <a:off x="690637" y="2171378"/>
              <a:ext cx="2263961" cy="1844033"/>
              <a:chOff x="3916949" y="3691197"/>
              <a:chExt cx="2263961" cy="1844033"/>
            </a:xfrm>
          </p:grpSpPr>
          <p:sp>
            <p:nvSpPr>
              <p:cNvPr id="210" name="Rectangle: Rounded Corners 209">
                <a:extLst>
                  <a:ext uri="{FF2B5EF4-FFF2-40B4-BE49-F238E27FC236}">
                    <a16:creationId xmlns:a16="http://schemas.microsoft.com/office/drawing/2014/main" id="{70ADBDF1-D32C-AE54-601E-E1D8D6CDE9CC}"/>
                  </a:ext>
                </a:extLst>
              </p:cNvPr>
              <p:cNvSpPr/>
              <p:nvPr/>
            </p:nvSpPr>
            <p:spPr>
              <a:xfrm>
                <a:off x="3916949" y="3692460"/>
                <a:ext cx="2239249" cy="1531642"/>
              </a:xfrm>
              <a:prstGeom prst="roundRect">
                <a:avLst>
                  <a:gd name="adj" fmla="val 5859"/>
                </a:avLst>
              </a:prstGeom>
              <a:solidFill>
                <a:schemeClr val="bg1">
                  <a:lumMod val="8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5" name="Rectangle: Top Corners Rounded 194">
                <a:extLst>
                  <a:ext uri="{FF2B5EF4-FFF2-40B4-BE49-F238E27FC236}">
                    <a16:creationId xmlns:a16="http://schemas.microsoft.com/office/drawing/2014/main" id="{49EE529D-3822-3C34-2FCF-96301FCBDE2B}"/>
                  </a:ext>
                </a:extLst>
              </p:cNvPr>
              <p:cNvSpPr/>
              <p:nvPr/>
            </p:nvSpPr>
            <p:spPr>
              <a:xfrm rot="10800000">
                <a:off x="3916952" y="4613172"/>
                <a:ext cx="2239248" cy="323588"/>
              </a:xfrm>
              <a:prstGeom prst="round2SameRect">
                <a:avLst>
                  <a:gd name="adj1" fmla="val 28890"/>
                  <a:gd name="adj2" fmla="val 0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9D8422CA-4FF5-7187-2D0D-ADC45EB74032}"/>
                  </a:ext>
                </a:extLst>
              </p:cNvPr>
              <p:cNvSpPr/>
              <p:nvPr/>
            </p:nvSpPr>
            <p:spPr>
              <a:xfrm>
                <a:off x="3916951" y="3990559"/>
                <a:ext cx="2239249" cy="32358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9F8EDD21-A0C6-EE8F-DB27-D2CD5236A366}"/>
                  </a:ext>
                </a:extLst>
              </p:cNvPr>
              <p:cNvSpPr txBox="1"/>
              <p:nvPr/>
            </p:nvSpPr>
            <p:spPr>
              <a:xfrm>
                <a:off x="3916952" y="4313625"/>
                <a:ext cx="223924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OAI : USRP</a:t>
                </a: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F4E12DF1-F6ED-9A1D-33B3-ACB6D007555A}"/>
                  </a:ext>
                </a:extLst>
              </p:cNvPr>
              <p:cNvSpPr txBox="1"/>
              <p:nvPr/>
            </p:nvSpPr>
            <p:spPr>
              <a:xfrm>
                <a:off x="3916952" y="4007963"/>
                <a:ext cx="223924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srsRAN_4G :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ZeroMQ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0E36D728-D080-9470-0E71-4C5261DE33FD}"/>
                  </a:ext>
                </a:extLst>
              </p:cNvPr>
              <p:cNvSpPr txBox="1"/>
              <p:nvPr/>
            </p:nvSpPr>
            <p:spPr>
              <a:xfrm>
                <a:off x="3916951" y="3702301"/>
                <a:ext cx="223924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srsRAN_4G : USRP</a:t>
                </a: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16FB98B6-AA11-EA1B-485F-18B0C2E0C573}"/>
                  </a:ext>
                </a:extLst>
              </p:cNvPr>
              <p:cNvSpPr txBox="1"/>
              <p:nvPr/>
            </p:nvSpPr>
            <p:spPr>
              <a:xfrm>
                <a:off x="3916952" y="4924949"/>
                <a:ext cx="223924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5G Mobile Phone</a:t>
                </a: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2BC8A388-630D-2F0A-E362-E58FB4DE4B4B}"/>
                  </a:ext>
                </a:extLst>
              </p:cNvPr>
              <p:cNvSpPr txBox="1"/>
              <p:nvPr/>
            </p:nvSpPr>
            <p:spPr>
              <a:xfrm>
                <a:off x="3941661" y="5227453"/>
                <a:ext cx="22392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 Equipment</a:t>
                </a:r>
                <a:endPara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212011C4-EBF3-EB29-D80C-BEAECBCA7B62}"/>
                  </a:ext>
                </a:extLst>
              </p:cNvPr>
              <p:cNvSpPr/>
              <p:nvPr/>
            </p:nvSpPr>
            <p:spPr>
              <a:xfrm>
                <a:off x="3916950" y="4615547"/>
                <a:ext cx="2239249" cy="32358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84E8EFF1-03BE-6A27-CF24-939A0A21B022}"/>
                  </a:ext>
                </a:extLst>
              </p:cNvPr>
              <p:cNvSpPr txBox="1"/>
              <p:nvPr/>
            </p:nvSpPr>
            <p:spPr>
              <a:xfrm>
                <a:off x="3916952" y="4619287"/>
                <a:ext cx="223924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OAI : RF Simulator</a:t>
                </a:r>
              </a:p>
            </p:txBody>
          </p:sp>
          <p:sp>
            <p:nvSpPr>
              <p:cNvPr id="198" name="Rectangle: Rounded Corners 197">
                <a:extLst>
                  <a:ext uri="{FF2B5EF4-FFF2-40B4-BE49-F238E27FC236}">
                    <a16:creationId xmlns:a16="http://schemas.microsoft.com/office/drawing/2014/main" id="{4F21D880-AC22-436C-BBFD-41B6AC956B7F}"/>
                  </a:ext>
                </a:extLst>
              </p:cNvPr>
              <p:cNvSpPr/>
              <p:nvPr/>
            </p:nvSpPr>
            <p:spPr>
              <a:xfrm>
                <a:off x="3916951" y="3691197"/>
                <a:ext cx="2239249" cy="1534218"/>
              </a:xfrm>
              <a:prstGeom prst="roundRect">
                <a:avLst>
                  <a:gd name="adj" fmla="val 5819"/>
                </a:avLst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35" name="Group 334">
              <a:extLst>
                <a:ext uri="{FF2B5EF4-FFF2-40B4-BE49-F238E27FC236}">
                  <a16:creationId xmlns:a16="http://schemas.microsoft.com/office/drawing/2014/main" id="{C7A28311-B01E-C743-5717-5D14FED17C39}"/>
                </a:ext>
              </a:extLst>
            </p:cNvPr>
            <p:cNvGrpSpPr/>
            <p:nvPr/>
          </p:nvGrpSpPr>
          <p:grpSpPr>
            <a:xfrm>
              <a:off x="9376910" y="3337714"/>
              <a:ext cx="2302213" cy="647296"/>
              <a:chOff x="9110915" y="4521647"/>
              <a:chExt cx="2302213" cy="647296"/>
            </a:xfrm>
          </p:grpSpPr>
          <p:sp>
            <p:nvSpPr>
              <p:cNvPr id="314" name="Rectangle: Rounded Corners 313">
                <a:extLst>
                  <a:ext uri="{FF2B5EF4-FFF2-40B4-BE49-F238E27FC236}">
                    <a16:creationId xmlns:a16="http://schemas.microsoft.com/office/drawing/2014/main" id="{C9184302-A9D9-791B-1672-1678F45A7E55}"/>
                  </a:ext>
                </a:extLst>
              </p:cNvPr>
              <p:cNvSpPr/>
              <p:nvPr/>
            </p:nvSpPr>
            <p:spPr>
              <a:xfrm>
                <a:off x="9110917" y="4521647"/>
                <a:ext cx="2239249" cy="333931"/>
              </a:xfrm>
              <a:prstGeom prst="roundRect">
                <a:avLst>
                  <a:gd name="adj" fmla="val 2894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9BDE51E9-FC26-93B1-D16F-98B8FB9FEE2F}"/>
                  </a:ext>
                </a:extLst>
              </p:cNvPr>
              <p:cNvSpPr txBox="1"/>
              <p:nvPr/>
            </p:nvSpPr>
            <p:spPr>
              <a:xfrm>
                <a:off x="9110915" y="4535517"/>
                <a:ext cx="223846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O-RAN SC : Non-RT RIC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C18DB793-99BB-9141-9857-0496732E9F2F}"/>
                  </a:ext>
                </a:extLst>
              </p:cNvPr>
              <p:cNvSpPr txBox="1"/>
              <p:nvPr/>
            </p:nvSpPr>
            <p:spPr>
              <a:xfrm>
                <a:off x="9173879" y="4861166"/>
                <a:ext cx="22392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Non-RT RIC</a:t>
                </a:r>
                <a:endPara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F4BAE37-81CB-F3FB-EAED-6C481A15D7A4}"/>
                </a:ext>
              </a:extLst>
            </p:cNvPr>
            <p:cNvGrpSpPr/>
            <p:nvPr/>
          </p:nvGrpSpPr>
          <p:grpSpPr>
            <a:xfrm>
              <a:off x="8873989" y="1610328"/>
              <a:ext cx="2860204" cy="543694"/>
              <a:chOff x="8873989" y="2167447"/>
              <a:chExt cx="2860204" cy="543694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40F11AF-0E17-5252-2864-12FAED76A826}"/>
                  </a:ext>
                </a:extLst>
              </p:cNvPr>
              <p:cNvSpPr/>
              <p:nvPr/>
            </p:nvSpPr>
            <p:spPr>
              <a:xfrm>
                <a:off x="8873989" y="2187920"/>
                <a:ext cx="2787151" cy="52322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6EB7CE28-570D-A649-CDDD-D2D4267E56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67214" y="2323726"/>
                <a:ext cx="21047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D782A1-F8AE-355C-132E-E89499CD1C8D}"/>
                  </a:ext>
                </a:extLst>
              </p:cNvPr>
              <p:cNvSpPr txBox="1"/>
              <p:nvPr/>
            </p:nvSpPr>
            <p:spPr>
              <a:xfrm>
                <a:off x="9147085" y="2167447"/>
                <a:ext cx="25871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Supported by default installation</a:t>
                </a:r>
                <a:b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Supported after adjusting configs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E90BE35D-3534-C8E0-8BAC-13AA49C1B7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67214" y="2541315"/>
                <a:ext cx="21047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45E9855-DB2F-EF47-9B6D-8D24DD2BDB8D}"/>
                </a:ext>
              </a:extLst>
            </p:cNvPr>
            <p:cNvCxnSpPr>
              <a:cxnSpLocks/>
              <a:stCxn id="202" idx="3"/>
              <a:endCxn id="281" idx="1"/>
            </p:cNvCxnSpPr>
            <p:nvPr/>
          </p:nvCxnSpPr>
          <p:spPr>
            <a:xfrm flipV="1">
              <a:off x="2929886" y="2938487"/>
              <a:ext cx="664414" cy="620532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00ED7F0F-60DC-1536-A747-6184C3BCA9BE}"/>
                </a:ext>
              </a:extLst>
            </p:cNvPr>
            <p:cNvGrpSpPr/>
            <p:nvPr/>
          </p:nvGrpSpPr>
          <p:grpSpPr>
            <a:xfrm>
              <a:off x="6497958" y="3337714"/>
              <a:ext cx="2239249" cy="1233863"/>
              <a:chOff x="1028392" y="2318655"/>
              <a:chExt cx="2239249" cy="1233863"/>
            </a:xfrm>
          </p:grpSpPr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1D447C6C-DBB4-1E2B-28C0-122262FFC526}"/>
                  </a:ext>
                </a:extLst>
              </p:cNvPr>
              <p:cNvSpPr txBox="1"/>
              <p:nvPr/>
            </p:nvSpPr>
            <p:spPr>
              <a:xfrm>
                <a:off x="1028392" y="3244741"/>
                <a:ext cx="22392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Near-RT RIC</a:t>
                </a:r>
                <a:endPara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35" name="Group 234">
                <a:extLst>
                  <a:ext uri="{FF2B5EF4-FFF2-40B4-BE49-F238E27FC236}">
                    <a16:creationId xmlns:a16="http://schemas.microsoft.com/office/drawing/2014/main" id="{D43FEA2F-F6B1-5C6E-588B-A05B26190774}"/>
                  </a:ext>
                </a:extLst>
              </p:cNvPr>
              <p:cNvGrpSpPr/>
              <p:nvPr/>
            </p:nvGrpSpPr>
            <p:grpSpPr>
              <a:xfrm>
                <a:off x="1028392" y="2318655"/>
                <a:ext cx="2239249" cy="923272"/>
                <a:chOff x="1590040" y="5303322"/>
                <a:chExt cx="2374765" cy="923272"/>
              </a:xfrm>
            </p:grpSpPr>
            <p:sp>
              <p:nvSpPr>
                <p:cNvPr id="239" name="Rectangle: Rounded Corners 238">
                  <a:extLst>
                    <a:ext uri="{FF2B5EF4-FFF2-40B4-BE49-F238E27FC236}">
                      <a16:creationId xmlns:a16="http://schemas.microsoft.com/office/drawing/2014/main" id="{A4D60007-5474-BEA2-4BFA-9BC486259CA7}"/>
                    </a:ext>
                  </a:extLst>
                </p:cNvPr>
                <p:cNvSpPr/>
                <p:nvPr/>
              </p:nvSpPr>
              <p:spPr>
                <a:xfrm>
                  <a:off x="1590040" y="5303322"/>
                  <a:ext cx="2374765" cy="923272"/>
                </a:xfrm>
                <a:prstGeom prst="roundRect">
                  <a:avLst>
                    <a:gd name="adj" fmla="val 9466"/>
                  </a:avLst>
                </a:prstGeom>
                <a:solidFill>
                  <a:schemeClr val="bg1">
                    <a:lumMod val="85000"/>
                  </a:schemeClr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0" name="Rectangle 239">
                  <a:extLst>
                    <a:ext uri="{FF2B5EF4-FFF2-40B4-BE49-F238E27FC236}">
                      <a16:creationId xmlns:a16="http://schemas.microsoft.com/office/drawing/2014/main" id="{664D770F-BF79-4EE6-E4F3-5C75388C93E3}"/>
                    </a:ext>
                  </a:extLst>
                </p:cNvPr>
                <p:cNvSpPr/>
                <p:nvPr/>
              </p:nvSpPr>
              <p:spPr>
                <a:xfrm>
                  <a:off x="1590040" y="5603165"/>
                  <a:ext cx="2374765" cy="323587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1" name="Rectangle: Rounded Corners 240">
                  <a:extLst>
                    <a:ext uri="{FF2B5EF4-FFF2-40B4-BE49-F238E27FC236}">
                      <a16:creationId xmlns:a16="http://schemas.microsoft.com/office/drawing/2014/main" id="{A848D181-7B55-B5B1-5BAE-AF8A42EC5A00}"/>
                    </a:ext>
                  </a:extLst>
                </p:cNvPr>
                <p:cNvSpPr/>
                <p:nvPr/>
              </p:nvSpPr>
              <p:spPr>
                <a:xfrm>
                  <a:off x="1590040" y="5303322"/>
                  <a:ext cx="2374765" cy="923272"/>
                </a:xfrm>
                <a:prstGeom prst="roundRect">
                  <a:avLst>
                    <a:gd name="adj" fmla="val 9879"/>
                  </a:avLst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A60306A6-CD1B-62E6-4CD0-FA864383631B}"/>
                  </a:ext>
                </a:extLst>
              </p:cNvPr>
              <p:cNvSpPr txBox="1"/>
              <p:nvPr/>
            </p:nvSpPr>
            <p:spPr>
              <a:xfrm>
                <a:off x="1028392" y="2928594"/>
                <a:ext cx="22392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Mosaic5G : FlexRIC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B43BC923-2C5D-2AAE-BD1F-3637CD533B4A}"/>
                  </a:ext>
                </a:extLst>
              </p:cNvPr>
              <p:cNvSpPr txBox="1"/>
              <p:nvPr/>
            </p:nvSpPr>
            <p:spPr>
              <a:xfrm>
                <a:off x="1028392" y="2629568"/>
                <a:ext cx="22392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O-RAN SC : Near-RT RIC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01F21BA0-7B22-2985-C4B7-BEC32317C4DA}"/>
                  </a:ext>
                </a:extLst>
              </p:cNvPr>
              <p:cNvSpPr txBox="1"/>
              <p:nvPr/>
            </p:nvSpPr>
            <p:spPr>
              <a:xfrm>
                <a:off x="1028392" y="2330542"/>
                <a:ext cx="22392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O-RAN SC : A1 Simulator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85101B2-3441-45C3-4D5F-B32E7D1461C5}"/>
                </a:ext>
              </a:extLst>
            </p:cNvPr>
            <p:cNvGrpSpPr/>
            <p:nvPr/>
          </p:nvGrpSpPr>
          <p:grpSpPr>
            <a:xfrm>
              <a:off x="6497956" y="1616395"/>
              <a:ext cx="2301839" cy="1514666"/>
              <a:chOff x="4580555" y="3243709"/>
              <a:chExt cx="2301839" cy="1514666"/>
            </a:xfrm>
          </p:grpSpPr>
          <p:sp>
            <p:nvSpPr>
              <p:cNvPr id="22" name="Rectangle: Top Corners Rounded 21">
                <a:extLst>
                  <a:ext uri="{FF2B5EF4-FFF2-40B4-BE49-F238E27FC236}">
                    <a16:creationId xmlns:a16="http://schemas.microsoft.com/office/drawing/2014/main" id="{77878395-64F7-3C4F-756B-7DB9A3FFACED}"/>
                  </a:ext>
                </a:extLst>
              </p:cNvPr>
              <p:cNvSpPr/>
              <p:nvPr/>
            </p:nvSpPr>
            <p:spPr>
              <a:xfrm rot="10800000">
                <a:off x="4580557" y="4166644"/>
                <a:ext cx="2239248" cy="323588"/>
              </a:xfrm>
              <a:prstGeom prst="round2SameRect">
                <a:avLst>
                  <a:gd name="adj1" fmla="val 28890"/>
                  <a:gd name="adj2" fmla="val 0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Top Corners Rounded 22">
                <a:extLst>
                  <a:ext uri="{FF2B5EF4-FFF2-40B4-BE49-F238E27FC236}">
                    <a16:creationId xmlns:a16="http://schemas.microsoft.com/office/drawing/2014/main" id="{1B3C8D2A-C9D1-9D95-D967-D15933172E7C}"/>
                  </a:ext>
                </a:extLst>
              </p:cNvPr>
              <p:cNvSpPr/>
              <p:nvPr/>
            </p:nvSpPr>
            <p:spPr>
              <a:xfrm>
                <a:off x="4580556" y="3243709"/>
                <a:ext cx="2239248" cy="923272"/>
              </a:xfrm>
              <a:prstGeom prst="round2SameRect">
                <a:avLst>
                  <a:gd name="adj1" fmla="val 9715"/>
                  <a:gd name="adj2" fmla="val 0"/>
                </a:avLst>
              </a:prstGeom>
              <a:solidFill>
                <a:srgbClr val="D9D9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320646D-E588-66BF-2291-C28731EB62C6}"/>
                  </a:ext>
                </a:extLst>
              </p:cNvPr>
              <p:cNvSpPr/>
              <p:nvPr/>
            </p:nvSpPr>
            <p:spPr>
              <a:xfrm>
                <a:off x="4580556" y="3544031"/>
                <a:ext cx="2239249" cy="32358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CDD7B7F2-522F-30DC-707E-115B5707AD6C}"/>
                  </a:ext>
                </a:extLst>
              </p:cNvPr>
              <p:cNvSpPr/>
              <p:nvPr/>
            </p:nvSpPr>
            <p:spPr>
              <a:xfrm>
                <a:off x="4580556" y="3244668"/>
                <a:ext cx="2239249" cy="1246101"/>
              </a:xfrm>
              <a:prstGeom prst="roundRect">
                <a:avLst>
                  <a:gd name="adj" fmla="val 7433"/>
                </a:avLst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4582B19-FF4F-F533-E626-177EA2EE43FA}"/>
                  </a:ext>
                </a:extLst>
              </p:cNvPr>
              <p:cNvSpPr txBox="1"/>
              <p:nvPr/>
            </p:nvSpPr>
            <p:spPr>
              <a:xfrm>
                <a:off x="4580557" y="3853825"/>
                <a:ext cx="223924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Open5GCore (5gdeploy)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D8250A4-D4DE-5B5F-A55F-B8F6432AF1CA}"/>
                  </a:ext>
                </a:extLst>
              </p:cNvPr>
              <p:cNvSpPr txBox="1"/>
              <p:nvPr/>
            </p:nvSpPr>
            <p:spPr>
              <a:xfrm>
                <a:off x="4580557" y="3554799"/>
                <a:ext cx="223924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Free5GC (5gdeploy)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4DFD742-DB1D-C83C-32E6-9DCE1C152217}"/>
                  </a:ext>
                </a:extLst>
              </p:cNvPr>
              <p:cNvSpPr txBox="1"/>
              <p:nvPr/>
            </p:nvSpPr>
            <p:spPr>
              <a:xfrm>
                <a:off x="4580555" y="3255773"/>
                <a:ext cx="223924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OAI 5G CN (5gdeploy)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85AE1C1-5F7F-93A3-D1D3-3A3A14493B4D}"/>
                  </a:ext>
                </a:extLst>
              </p:cNvPr>
              <p:cNvSpPr txBox="1"/>
              <p:nvPr/>
            </p:nvSpPr>
            <p:spPr>
              <a:xfrm>
                <a:off x="4580557" y="4173617"/>
                <a:ext cx="223924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Open5GS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34260CC-1F20-1BA6-9F62-4C53EBD2BEAC}"/>
                  </a:ext>
                </a:extLst>
              </p:cNvPr>
              <p:cNvSpPr txBox="1"/>
              <p:nvPr/>
            </p:nvSpPr>
            <p:spPr>
              <a:xfrm>
                <a:off x="4643145" y="4450598"/>
                <a:ext cx="22392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5G Core Network</a:t>
                </a:r>
                <a:endPara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E8158BD4-8CEA-CB0D-3588-00251A11F8D0}"/>
                </a:ext>
              </a:extLst>
            </p:cNvPr>
            <p:cNvCxnSpPr>
              <a:cxnSpLocks/>
              <a:stCxn id="3" idx="1"/>
              <a:endCxn id="237" idx="1"/>
            </p:cNvCxnSpPr>
            <p:nvPr/>
          </p:nvCxnSpPr>
          <p:spPr>
            <a:xfrm>
              <a:off x="5943801" y="3107001"/>
              <a:ext cx="554157" cy="695515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0292EA4F-C1D1-7DDC-D7FC-4367D17C623C}"/>
                </a:ext>
              </a:extLst>
            </p:cNvPr>
            <p:cNvCxnSpPr>
              <a:cxnSpLocks/>
              <a:stCxn id="2" idx="1"/>
              <a:endCxn id="29" idx="1"/>
            </p:cNvCxnSpPr>
            <p:nvPr/>
          </p:nvCxnSpPr>
          <p:spPr>
            <a:xfrm>
              <a:off x="5943801" y="2493651"/>
              <a:ext cx="554157" cy="2065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1463F92E-A5E1-B471-7536-4E2BB81B1C71}"/>
                </a:ext>
              </a:extLst>
            </p:cNvPr>
            <p:cNvCxnSpPr>
              <a:cxnSpLocks/>
              <a:stCxn id="3" idx="1"/>
              <a:endCxn id="29" idx="1"/>
            </p:cNvCxnSpPr>
            <p:nvPr/>
          </p:nvCxnSpPr>
          <p:spPr>
            <a:xfrm flipV="1">
              <a:off x="5943801" y="2700192"/>
              <a:ext cx="554157" cy="4068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DCB765BE-C6D0-9C88-B79C-0653B5D0E5AF}"/>
                </a:ext>
              </a:extLst>
            </p:cNvPr>
            <p:cNvCxnSpPr>
              <a:cxnSpLocks/>
              <a:stCxn id="3" idx="1"/>
              <a:endCxn id="236" idx="1"/>
            </p:cNvCxnSpPr>
            <p:nvPr/>
          </p:nvCxnSpPr>
          <p:spPr>
            <a:xfrm>
              <a:off x="5943801" y="3107001"/>
              <a:ext cx="554157" cy="9945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86974C24-CD13-AB9D-5659-40C787D7C759}"/>
                </a:ext>
              </a:extLst>
            </p:cNvPr>
            <p:cNvCxnSpPr>
              <a:cxnSpLocks/>
              <a:stCxn id="2" idx="1"/>
              <a:endCxn id="236" idx="1"/>
            </p:cNvCxnSpPr>
            <p:nvPr/>
          </p:nvCxnSpPr>
          <p:spPr>
            <a:xfrm>
              <a:off x="5943801" y="2493651"/>
              <a:ext cx="554157" cy="1607891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6404A511-24EF-F2E0-E620-746E32F0E998}"/>
                </a:ext>
              </a:extLst>
            </p:cNvPr>
            <p:cNvCxnSpPr>
              <a:cxnSpLocks/>
              <a:stCxn id="3" idx="1"/>
              <a:endCxn id="27" idx="1"/>
            </p:cNvCxnSpPr>
            <p:nvPr/>
          </p:nvCxnSpPr>
          <p:spPr>
            <a:xfrm flipV="1">
              <a:off x="5943801" y="2081374"/>
              <a:ext cx="554157" cy="102562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70465907-0F64-4965-9163-B2C700A48E2C}"/>
                </a:ext>
              </a:extLst>
            </p:cNvPr>
            <p:cNvCxnSpPr>
              <a:cxnSpLocks/>
              <a:stCxn id="3" idx="1"/>
              <a:endCxn id="28" idx="1"/>
            </p:cNvCxnSpPr>
            <p:nvPr/>
          </p:nvCxnSpPr>
          <p:spPr>
            <a:xfrm flipV="1">
              <a:off x="5943801" y="1782348"/>
              <a:ext cx="554155" cy="1324653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411F421E-1B73-D5DA-0B27-75EF7C35376E}"/>
                </a:ext>
              </a:extLst>
            </p:cNvPr>
            <p:cNvCxnSpPr>
              <a:cxnSpLocks/>
              <a:stCxn id="2" idx="1"/>
              <a:endCxn id="26" idx="1"/>
            </p:cNvCxnSpPr>
            <p:nvPr/>
          </p:nvCxnSpPr>
          <p:spPr>
            <a:xfrm flipV="1">
              <a:off x="5943801" y="2380400"/>
              <a:ext cx="554157" cy="113251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6C08D5E6-1E0C-25D0-ED10-FE79EF24D209}"/>
                </a:ext>
              </a:extLst>
            </p:cNvPr>
            <p:cNvCxnSpPr>
              <a:cxnSpLocks/>
              <a:stCxn id="2" idx="1"/>
              <a:endCxn id="27" idx="1"/>
            </p:cNvCxnSpPr>
            <p:nvPr/>
          </p:nvCxnSpPr>
          <p:spPr>
            <a:xfrm flipV="1">
              <a:off x="5943801" y="2081374"/>
              <a:ext cx="554157" cy="41227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D5B6C4AD-F7E9-7B2A-2D7D-25E385B05D6D}"/>
                </a:ext>
              </a:extLst>
            </p:cNvPr>
            <p:cNvCxnSpPr>
              <a:cxnSpLocks/>
              <a:stCxn id="2" idx="1"/>
              <a:endCxn id="28" idx="1"/>
            </p:cNvCxnSpPr>
            <p:nvPr/>
          </p:nvCxnSpPr>
          <p:spPr>
            <a:xfrm flipV="1">
              <a:off x="5943801" y="1782348"/>
              <a:ext cx="554155" cy="711303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CCB705AB-188A-483B-5A34-A75DADA65705}"/>
                </a:ext>
              </a:extLst>
            </p:cNvPr>
            <p:cNvCxnSpPr>
              <a:cxnSpLocks/>
              <a:stCxn id="3" idx="1"/>
              <a:endCxn id="26" idx="1"/>
            </p:cNvCxnSpPr>
            <p:nvPr/>
          </p:nvCxnSpPr>
          <p:spPr>
            <a:xfrm flipV="1">
              <a:off x="5943801" y="2380400"/>
              <a:ext cx="554157" cy="726601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203454DD-698B-FE70-9DDA-C59F2DCB67D9}"/>
                </a:ext>
              </a:extLst>
            </p:cNvPr>
            <p:cNvCxnSpPr>
              <a:cxnSpLocks/>
              <a:stCxn id="2" idx="1"/>
              <a:endCxn id="237" idx="1"/>
            </p:cNvCxnSpPr>
            <p:nvPr/>
          </p:nvCxnSpPr>
          <p:spPr>
            <a:xfrm>
              <a:off x="5943801" y="2493651"/>
              <a:ext cx="554157" cy="13088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C221BBAA-9FEE-8D9E-6872-58AEB1FAFC02}"/>
                </a:ext>
              </a:extLst>
            </p:cNvPr>
            <p:cNvCxnSpPr>
              <a:cxnSpLocks/>
              <a:stCxn id="237" idx="3"/>
              <a:endCxn id="315" idx="1"/>
            </p:cNvCxnSpPr>
            <p:nvPr/>
          </p:nvCxnSpPr>
          <p:spPr>
            <a:xfrm flipV="1">
              <a:off x="8737207" y="3505473"/>
              <a:ext cx="639703" cy="297043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91DD07F7-2F86-0E54-F54F-7BDC7A59D6BD}"/>
                </a:ext>
              </a:extLst>
            </p:cNvPr>
            <p:cNvCxnSpPr>
              <a:cxnSpLocks/>
              <a:stCxn id="238" idx="3"/>
              <a:endCxn id="315" idx="1"/>
            </p:cNvCxnSpPr>
            <p:nvPr/>
          </p:nvCxnSpPr>
          <p:spPr>
            <a:xfrm>
              <a:off x="8737207" y="3503490"/>
              <a:ext cx="639703" cy="19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5947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197">
            <a:extLst>
              <a:ext uri="{FF2B5EF4-FFF2-40B4-BE49-F238E27FC236}">
                <a16:creationId xmlns:a16="http://schemas.microsoft.com/office/drawing/2014/main" id="{48F3AFCA-C6E8-6EAA-EE14-23BCAADE73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3F2B56B-2A1B-AAED-75E7-7EF400469EE5}"/>
              </a:ext>
            </a:extLst>
          </p:cNvPr>
          <p:cNvGrpSpPr/>
          <p:nvPr/>
        </p:nvGrpSpPr>
        <p:grpSpPr>
          <a:xfrm>
            <a:off x="496467" y="1900165"/>
            <a:ext cx="11199066" cy="3057669"/>
            <a:chOff x="575839" y="1513908"/>
            <a:chExt cx="11199066" cy="3057669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4A26B3F-15A3-D629-EB52-62377911DD27}"/>
                </a:ext>
              </a:extLst>
            </p:cNvPr>
            <p:cNvSpPr/>
            <p:nvPr/>
          </p:nvSpPr>
          <p:spPr>
            <a:xfrm>
              <a:off x="575839" y="1513908"/>
              <a:ext cx="11199066" cy="3057028"/>
            </a:xfrm>
            <a:prstGeom prst="roundRect">
              <a:avLst>
                <a:gd name="adj" fmla="val 2805"/>
              </a:avLst>
            </a:prstGeom>
            <a:solidFill>
              <a:srgbClr val="0D1117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A39A4587-AE3D-D35E-ADC6-8CC323C253CF}"/>
                </a:ext>
              </a:extLst>
            </p:cNvPr>
            <p:cNvCxnSpPr>
              <a:cxnSpLocks/>
              <a:stCxn id="238" idx="3"/>
              <a:endCxn id="208" idx="1"/>
            </p:cNvCxnSpPr>
            <p:nvPr/>
          </p:nvCxnSpPr>
          <p:spPr>
            <a:xfrm>
              <a:off x="5817331" y="3559019"/>
              <a:ext cx="680627" cy="24349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D3AFDF2-EA1A-B0FF-B379-D800EAA448CC}"/>
                </a:ext>
              </a:extLst>
            </p:cNvPr>
            <p:cNvCxnSpPr>
              <a:cxnSpLocks/>
              <a:stCxn id="226" idx="3"/>
              <a:endCxn id="237" idx="1"/>
            </p:cNvCxnSpPr>
            <p:nvPr/>
          </p:nvCxnSpPr>
          <p:spPr>
            <a:xfrm>
              <a:off x="2929887" y="2336371"/>
              <a:ext cx="676819" cy="0"/>
            </a:xfrm>
            <a:prstGeom prst="line">
              <a:avLst/>
            </a:prstGeom>
            <a:ln w="12700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82F8985-A178-E076-4917-A5370ACBC601}"/>
                </a:ext>
              </a:extLst>
            </p:cNvPr>
            <p:cNvCxnSpPr>
              <a:cxnSpLocks/>
              <a:stCxn id="225" idx="3"/>
              <a:endCxn id="236" idx="1"/>
            </p:cNvCxnSpPr>
            <p:nvPr/>
          </p:nvCxnSpPr>
          <p:spPr>
            <a:xfrm>
              <a:off x="2929886" y="2642033"/>
              <a:ext cx="680631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B8AAFA0-CAE8-2B1F-4E26-94C723A65781}"/>
                </a:ext>
              </a:extLst>
            </p:cNvPr>
            <p:cNvCxnSpPr>
              <a:cxnSpLocks/>
              <a:stCxn id="227" idx="3"/>
              <a:endCxn id="237" idx="1"/>
            </p:cNvCxnSpPr>
            <p:nvPr/>
          </p:nvCxnSpPr>
          <p:spPr>
            <a:xfrm flipV="1">
              <a:off x="2929886" y="2336371"/>
              <a:ext cx="676820" cy="1222648"/>
            </a:xfrm>
            <a:prstGeom prst="line">
              <a:avLst/>
            </a:prstGeom>
            <a:ln w="12700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035DE4D-3950-1680-7C80-CD2732746056}"/>
                </a:ext>
              </a:extLst>
            </p:cNvPr>
            <p:cNvCxnSpPr>
              <a:cxnSpLocks/>
              <a:stCxn id="230" idx="3"/>
              <a:endCxn id="241" idx="1"/>
            </p:cNvCxnSpPr>
            <p:nvPr/>
          </p:nvCxnSpPr>
          <p:spPr>
            <a:xfrm>
              <a:off x="2929886" y="3253357"/>
              <a:ext cx="680631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8517B87-3347-BAFC-30A4-C32FB9E6475C}"/>
                </a:ext>
              </a:extLst>
            </p:cNvPr>
            <p:cNvCxnSpPr>
              <a:cxnSpLocks/>
              <a:stCxn id="224" idx="3"/>
              <a:endCxn id="235" idx="1"/>
            </p:cNvCxnSpPr>
            <p:nvPr/>
          </p:nvCxnSpPr>
          <p:spPr>
            <a:xfrm>
              <a:off x="2929886" y="2947695"/>
              <a:ext cx="665196" cy="0"/>
            </a:xfrm>
            <a:prstGeom prst="line">
              <a:avLst/>
            </a:prstGeom>
            <a:ln w="12700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ight Brace 32">
              <a:extLst>
                <a:ext uri="{FF2B5EF4-FFF2-40B4-BE49-F238E27FC236}">
                  <a16:creationId xmlns:a16="http://schemas.microsoft.com/office/drawing/2014/main" id="{6AA9718F-0B06-7882-E106-86151133E8A8}"/>
                </a:ext>
              </a:extLst>
            </p:cNvPr>
            <p:cNvSpPr/>
            <p:nvPr/>
          </p:nvSpPr>
          <p:spPr>
            <a:xfrm>
              <a:off x="5861045" y="2206203"/>
              <a:ext cx="82756" cy="574896"/>
            </a:xfrm>
            <a:prstGeom prst="rightBrace">
              <a:avLst>
                <a:gd name="adj1" fmla="val 88901"/>
                <a:gd name="adj2" fmla="val 50000"/>
              </a:avLst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ight Brace 33">
              <a:extLst>
                <a:ext uri="{FF2B5EF4-FFF2-40B4-BE49-F238E27FC236}">
                  <a16:creationId xmlns:a16="http://schemas.microsoft.com/office/drawing/2014/main" id="{65D8AF6B-D011-8ACA-801B-042F88C8AADC}"/>
                </a:ext>
              </a:extLst>
            </p:cNvPr>
            <p:cNvSpPr/>
            <p:nvPr/>
          </p:nvSpPr>
          <p:spPr>
            <a:xfrm>
              <a:off x="5861045" y="2819553"/>
              <a:ext cx="82756" cy="574896"/>
            </a:xfrm>
            <a:prstGeom prst="rightBrace">
              <a:avLst>
                <a:gd name="adj1" fmla="val 88901"/>
                <a:gd name="adj2" fmla="val 50000"/>
              </a:avLst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B4A6845-A427-CA62-2C08-0BAA2F810697}"/>
                </a:ext>
              </a:extLst>
            </p:cNvPr>
            <p:cNvGrpSpPr/>
            <p:nvPr/>
          </p:nvGrpSpPr>
          <p:grpSpPr>
            <a:xfrm>
              <a:off x="3594298" y="2171378"/>
              <a:ext cx="2263961" cy="1844033"/>
              <a:chOff x="3916949" y="3691197"/>
              <a:chExt cx="2263961" cy="1844033"/>
            </a:xfrm>
          </p:grpSpPr>
          <p:sp>
            <p:nvSpPr>
              <p:cNvPr id="232" name="Rectangle: Rounded Corners 231">
                <a:extLst>
                  <a:ext uri="{FF2B5EF4-FFF2-40B4-BE49-F238E27FC236}">
                    <a16:creationId xmlns:a16="http://schemas.microsoft.com/office/drawing/2014/main" id="{133216DE-A09A-02DA-F73D-F609EA354A37}"/>
                  </a:ext>
                </a:extLst>
              </p:cNvPr>
              <p:cNvSpPr/>
              <p:nvPr/>
            </p:nvSpPr>
            <p:spPr>
              <a:xfrm>
                <a:off x="3916949" y="3692460"/>
                <a:ext cx="2239249" cy="1531642"/>
              </a:xfrm>
              <a:prstGeom prst="roundRect">
                <a:avLst>
                  <a:gd name="adj" fmla="val 5859"/>
                </a:avLst>
              </a:prstGeom>
              <a:solidFill>
                <a:srgbClr val="262626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3" name="Rectangle: Top Corners Rounded 232">
                <a:extLst>
                  <a:ext uri="{FF2B5EF4-FFF2-40B4-BE49-F238E27FC236}">
                    <a16:creationId xmlns:a16="http://schemas.microsoft.com/office/drawing/2014/main" id="{E3F1A58A-3DA1-B726-50A5-443D5C10D3BF}"/>
                  </a:ext>
                </a:extLst>
              </p:cNvPr>
              <p:cNvSpPr/>
              <p:nvPr/>
            </p:nvSpPr>
            <p:spPr>
              <a:xfrm rot="10800000">
                <a:off x="3916952" y="4613172"/>
                <a:ext cx="2239248" cy="323588"/>
              </a:xfrm>
              <a:prstGeom prst="round2SameRect">
                <a:avLst>
                  <a:gd name="adj1" fmla="val 28890"/>
                  <a:gd name="adj2" fmla="val 0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7D729002-84E1-D59E-85F9-F19919C03FF4}"/>
                  </a:ext>
                </a:extLst>
              </p:cNvPr>
              <p:cNvSpPr/>
              <p:nvPr/>
            </p:nvSpPr>
            <p:spPr>
              <a:xfrm>
                <a:off x="3916951" y="3990559"/>
                <a:ext cx="2239249" cy="323587"/>
              </a:xfrm>
              <a:prstGeom prst="rect">
                <a:avLst/>
              </a:prstGeom>
              <a:solidFill>
                <a:srgbClr val="3A3A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D275F4CA-9251-4571-DCC0-33EB207DE7D5}"/>
                  </a:ext>
                </a:extLst>
              </p:cNvPr>
              <p:cNvSpPr txBox="1"/>
              <p:nvPr/>
            </p:nvSpPr>
            <p:spPr>
              <a:xfrm>
                <a:off x="3917733" y="4313625"/>
                <a:ext cx="223768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OAI : USRP</a:t>
                </a:r>
              </a:p>
            </p:txBody>
          </p: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1F26A111-5EBC-8A84-F8A9-6B4AAE92CFC2}"/>
                  </a:ext>
                </a:extLst>
              </p:cNvPr>
              <p:cNvSpPr txBox="1"/>
              <p:nvPr/>
            </p:nvSpPr>
            <p:spPr>
              <a:xfrm>
                <a:off x="3933168" y="4007963"/>
                <a:ext cx="220681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OCUDU : </a:t>
                </a:r>
                <a:r>
                  <a:rPr lang="en-US" sz="14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ZeroMQ</a:t>
                </a:r>
                <a:endParaRPr 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B012CE6A-2E67-AA61-B919-3E6BD14B18D3}"/>
                  </a:ext>
                </a:extLst>
              </p:cNvPr>
              <p:cNvSpPr txBox="1"/>
              <p:nvPr/>
            </p:nvSpPr>
            <p:spPr>
              <a:xfrm>
                <a:off x="3929357" y="3702301"/>
                <a:ext cx="220681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OCUDU : USRP</a:t>
                </a:r>
              </a:p>
            </p:txBody>
          </p:sp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CFCF6271-F672-6D8D-EEAC-7FE0D0B10B1B}"/>
                  </a:ext>
                </a:extLst>
              </p:cNvPr>
              <p:cNvSpPr txBox="1"/>
              <p:nvPr/>
            </p:nvSpPr>
            <p:spPr>
              <a:xfrm>
                <a:off x="3933168" y="4924949"/>
                <a:ext cx="220681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O-RAN SC : E2 Simulator</a:t>
                </a:r>
              </a:p>
            </p:txBody>
          </p: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C1671B07-F128-BF85-84FA-343EA2772B8E}"/>
                  </a:ext>
                </a:extLst>
              </p:cNvPr>
              <p:cNvSpPr txBox="1"/>
              <p:nvPr/>
            </p:nvSpPr>
            <p:spPr>
              <a:xfrm>
                <a:off x="3941661" y="5227453"/>
                <a:ext cx="22392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Next Generation Node B</a:t>
                </a:r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FA825144-48E1-D560-99D8-BB8AA43C40A7}"/>
                  </a:ext>
                </a:extLst>
              </p:cNvPr>
              <p:cNvSpPr/>
              <p:nvPr/>
            </p:nvSpPr>
            <p:spPr>
              <a:xfrm>
                <a:off x="3916950" y="4615547"/>
                <a:ext cx="2239249" cy="323587"/>
              </a:xfrm>
              <a:prstGeom prst="rect">
                <a:avLst/>
              </a:prstGeom>
              <a:solidFill>
                <a:srgbClr val="3A3A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D0F41E38-7A95-0BD7-0F50-C263DC866D37}"/>
                  </a:ext>
                </a:extLst>
              </p:cNvPr>
              <p:cNvSpPr txBox="1"/>
              <p:nvPr/>
            </p:nvSpPr>
            <p:spPr>
              <a:xfrm>
                <a:off x="3933168" y="4619287"/>
                <a:ext cx="220681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OAI : RF Simulator</a:t>
                </a:r>
              </a:p>
            </p:txBody>
          </p:sp>
          <p:sp>
            <p:nvSpPr>
              <p:cNvPr id="242" name="Rectangle: Rounded Corners 241">
                <a:extLst>
                  <a:ext uri="{FF2B5EF4-FFF2-40B4-BE49-F238E27FC236}">
                    <a16:creationId xmlns:a16="http://schemas.microsoft.com/office/drawing/2014/main" id="{FCDA3A55-BBEB-2089-FAA6-4D345E6A8BAF}"/>
                  </a:ext>
                </a:extLst>
              </p:cNvPr>
              <p:cNvSpPr/>
              <p:nvPr/>
            </p:nvSpPr>
            <p:spPr>
              <a:xfrm>
                <a:off x="3916951" y="3691197"/>
                <a:ext cx="2239249" cy="1534218"/>
              </a:xfrm>
              <a:prstGeom prst="roundRect">
                <a:avLst>
                  <a:gd name="adj" fmla="val 5819"/>
                </a:avLst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D9E5AA5-6332-81FB-B6C5-522A256BD1FB}"/>
                </a:ext>
              </a:extLst>
            </p:cNvPr>
            <p:cNvGrpSpPr/>
            <p:nvPr/>
          </p:nvGrpSpPr>
          <p:grpSpPr>
            <a:xfrm>
              <a:off x="690637" y="2171378"/>
              <a:ext cx="2263961" cy="1844033"/>
              <a:chOff x="3916949" y="3691197"/>
              <a:chExt cx="2263961" cy="1844033"/>
            </a:xfrm>
          </p:grpSpPr>
          <p:sp>
            <p:nvSpPr>
              <p:cNvPr id="221" name="Rectangle: Rounded Corners 220">
                <a:extLst>
                  <a:ext uri="{FF2B5EF4-FFF2-40B4-BE49-F238E27FC236}">
                    <a16:creationId xmlns:a16="http://schemas.microsoft.com/office/drawing/2014/main" id="{41FEA0C9-417A-93F4-3A0D-F05E5B35C040}"/>
                  </a:ext>
                </a:extLst>
              </p:cNvPr>
              <p:cNvSpPr/>
              <p:nvPr/>
            </p:nvSpPr>
            <p:spPr>
              <a:xfrm>
                <a:off x="3916949" y="3692460"/>
                <a:ext cx="2239249" cy="1531642"/>
              </a:xfrm>
              <a:prstGeom prst="roundRect">
                <a:avLst>
                  <a:gd name="adj" fmla="val 5859"/>
                </a:avLst>
              </a:prstGeom>
              <a:solidFill>
                <a:srgbClr val="262626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2" name="Rectangle: Top Corners Rounded 221">
                <a:extLst>
                  <a:ext uri="{FF2B5EF4-FFF2-40B4-BE49-F238E27FC236}">
                    <a16:creationId xmlns:a16="http://schemas.microsoft.com/office/drawing/2014/main" id="{7EF6E28E-C708-CF19-2E8C-A5E1FDCB3147}"/>
                  </a:ext>
                </a:extLst>
              </p:cNvPr>
              <p:cNvSpPr/>
              <p:nvPr/>
            </p:nvSpPr>
            <p:spPr>
              <a:xfrm rot="10800000">
                <a:off x="3916952" y="4613172"/>
                <a:ext cx="2239248" cy="323588"/>
              </a:xfrm>
              <a:prstGeom prst="round2SameRect">
                <a:avLst>
                  <a:gd name="adj1" fmla="val 28890"/>
                  <a:gd name="adj2" fmla="val 0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EFFA4B82-D054-49E8-9AF5-3B6B4F929CC0}"/>
                  </a:ext>
                </a:extLst>
              </p:cNvPr>
              <p:cNvSpPr/>
              <p:nvPr/>
            </p:nvSpPr>
            <p:spPr>
              <a:xfrm>
                <a:off x="3916951" y="3990559"/>
                <a:ext cx="2239249" cy="323587"/>
              </a:xfrm>
              <a:prstGeom prst="rect">
                <a:avLst/>
              </a:prstGeom>
              <a:solidFill>
                <a:srgbClr val="3A3A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D77F2D1E-111A-0EC9-59CB-FDAB785FE13C}"/>
                  </a:ext>
                </a:extLst>
              </p:cNvPr>
              <p:cNvSpPr txBox="1"/>
              <p:nvPr/>
            </p:nvSpPr>
            <p:spPr>
              <a:xfrm>
                <a:off x="3916952" y="4313625"/>
                <a:ext cx="223924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OAI : USRP</a:t>
                </a:r>
              </a:p>
            </p:txBody>
          </p: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B373C4ED-2749-B46B-095E-84788FBA5171}"/>
                  </a:ext>
                </a:extLst>
              </p:cNvPr>
              <p:cNvSpPr txBox="1"/>
              <p:nvPr/>
            </p:nvSpPr>
            <p:spPr>
              <a:xfrm>
                <a:off x="3916952" y="4007963"/>
                <a:ext cx="223924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srsRAN_4G : </a:t>
                </a:r>
                <a:r>
                  <a:rPr lang="en-US" sz="14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ZeroMQ</a:t>
                </a:r>
                <a:endParaRPr 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DC968F22-74C4-7656-0EE4-CBD09D779742}"/>
                  </a:ext>
                </a:extLst>
              </p:cNvPr>
              <p:cNvSpPr txBox="1"/>
              <p:nvPr/>
            </p:nvSpPr>
            <p:spPr>
              <a:xfrm>
                <a:off x="3916951" y="3702301"/>
                <a:ext cx="223924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srsRAN_4G : USRP</a:t>
                </a:r>
              </a:p>
            </p:txBody>
          </p:sp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5EF3BAB1-6306-6257-0820-1E60E62D4525}"/>
                  </a:ext>
                </a:extLst>
              </p:cNvPr>
              <p:cNvSpPr txBox="1"/>
              <p:nvPr/>
            </p:nvSpPr>
            <p:spPr>
              <a:xfrm>
                <a:off x="3916952" y="4924949"/>
                <a:ext cx="223924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5G Mobile Phone</a:t>
                </a:r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12FCE961-5104-E038-0C85-DB23BFA112B8}"/>
                  </a:ext>
                </a:extLst>
              </p:cNvPr>
              <p:cNvSpPr txBox="1"/>
              <p:nvPr/>
            </p:nvSpPr>
            <p:spPr>
              <a:xfrm>
                <a:off x="3941661" y="5227453"/>
                <a:ext cx="22392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 Equipment</a:t>
                </a: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739DA047-9F92-EB9C-2612-A758AA6CDEC6}"/>
                  </a:ext>
                </a:extLst>
              </p:cNvPr>
              <p:cNvSpPr/>
              <p:nvPr/>
            </p:nvSpPr>
            <p:spPr>
              <a:xfrm>
                <a:off x="3916950" y="4615547"/>
                <a:ext cx="2239249" cy="323587"/>
              </a:xfrm>
              <a:prstGeom prst="rect">
                <a:avLst/>
              </a:prstGeom>
              <a:solidFill>
                <a:srgbClr val="3A3A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55A31A15-A388-A0BF-27C0-7AC7A3C8A0FF}"/>
                  </a:ext>
                </a:extLst>
              </p:cNvPr>
              <p:cNvSpPr txBox="1"/>
              <p:nvPr/>
            </p:nvSpPr>
            <p:spPr>
              <a:xfrm>
                <a:off x="3916952" y="4619287"/>
                <a:ext cx="223924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OAI : RF Simulator</a:t>
                </a:r>
              </a:p>
            </p:txBody>
          </p:sp>
          <p:sp>
            <p:nvSpPr>
              <p:cNvPr id="231" name="Rectangle: Rounded Corners 230">
                <a:extLst>
                  <a:ext uri="{FF2B5EF4-FFF2-40B4-BE49-F238E27FC236}">
                    <a16:creationId xmlns:a16="http://schemas.microsoft.com/office/drawing/2014/main" id="{75A40120-D9C1-6243-5381-63C01A2743D1}"/>
                  </a:ext>
                </a:extLst>
              </p:cNvPr>
              <p:cNvSpPr/>
              <p:nvPr/>
            </p:nvSpPr>
            <p:spPr>
              <a:xfrm>
                <a:off x="3916951" y="3691197"/>
                <a:ext cx="2239249" cy="1534218"/>
              </a:xfrm>
              <a:prstGeom prst="roundRect">
                <a:avLst>
                  <a:gd name="adj" fmla="val 5819"/>
                </a:avLst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A444277-0F73-A39B-C352-8FA6548B93F8}"/>
                </a:ext>
              </a:extLst>
            </p:cNvPr>
            <p:cNvGrpSpPr/>
            <p:nvPr/>
          </p:nvGrpSpPr>
          <p:grpSpPr>
            <a:xfrm>
              <a:off x="9376910" y="3337714"/>
              <a:ext cx="2302213" cy="647296"/>
              <a:chOff x="9110915" y="4521647"/>
              <a:chExt cx="2302213" cy="647296"/>
            </a:xfrm>
          </p:grpSpPr>
          <p:sp>
            <p:nvSpPr>
              <p:cNvPr id="218" name="Rectangle: Rounded Corners 217">
                <a:extLst>
                  <a:ext uri="{FF2B5EF4-FFF2-40B4-BE49-F238E27FC236}">
                    <a16:creationId xmlns:a16="http://schemas.microsoft.com/office/drawing/2014/main" id="{551267A1-2D66-4219-F608-D12BA60A3FA9}"/>
                  </a:ext>
                </a:extLst>
              </p:cNvPr>
              <p:cNvSpPr/>
              <p:nvPr/>
            </p:nvSpPr>
            <p:spPr>
              <a:xfrm>
                <a:off x="9110917" y="4521647"/>
                <a:ext cx="2239249" cy="333931"/>
              </a:xfrm>
              <a:prstGeom prst="roundRect">
                <a:avLst>
                  <a:gd name="adj" fmla="val 28947"/>
                </a:avLst>
              </a:prstGeom>
              <a:solidFill>
                <a:srgbClr val="262626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7E7D7925-5010-B9F8-C6A4-BE12BD5694B7}"/>
                  </a:ext>
                </a:extLst>
              </p:cNvPr>
              <p:cNvSpPr txBox="1"/>
              <p:nvPr/>
            </p:nvSpPr>
            <p:spPr>
              <a:xfrm>
                <a:off x="9110915" y="4535517"/>
                <a:ext cx="223846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O-RAN SC : Non-RT RIC</a:t>
                </a:r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F55670F8-1A8A-D361-2D01-AF4E54B2B247}"/>
                  </a:ext>
                </a:extLst>
              </p:cNvPr>
              <p:cNvSpPr txBox="1"/>
              <p:nvPr/>
            </p:nvSpPr>
            <p:spPr>
              <a:xfrm>
                <a:off x="9173879" y="4861166"/>
                <a:ext cx="22392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Non-RT RIC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6F41372-48AB-4106-0DEE-4D3241A9AEFF}"/>
                </a:ext>
              </a:extLst>
            </p:cNvPr>
            <p:cNvGrpSpPr/>
            <p:nvPr/>
          </p:nvGrpSpPr>
          <p:grpSpPr>
            <a:xfrm>
              <a:off x="8873989" y="1610328"/>
              <a:ext cx="2860204" cy="543694"/>
              <a:chOff x="8873989" y="2167447"/>
              <a:chExt cx="2860204" cy="543694"/>
            </a:xfrm>
          </p:grpSpPr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E90A7441-1D6D-E1DE-D169-632EF87216FF}"/>
                  </a:ext>
                </a:extLst>
              </p:cNvPr>
              <p:cNvSpPr/>
              <p:nvPr/>
            </p:nvSpPr>
            <p:spPr>
              <a:xfrm>
                <a:off x="8873989" y="2187920"/>
                <a:ext cx="2787151" cy="523221"/>
              </a:xfrm>
              <a:prstGeom prst="rect">
                <a:avLst/>
              </a:prstGeom>
              <a:solidFill>
                <a:srgbClr val="0D1117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4E44ACEE-DC6D-C183-393B-FF669D5F74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67214" y="2323726"/>
                <a:ext cx="210474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C41C3D65-F48B-24FF-1025-F5097C6F7F11}"/>
                  </a:ext>
                </a:extLst>
              </p:cNvPr>
              <p:cNvSpPr txBox="1"/>
              <p:nvPr/>
            </p:nvSpPr>
            <p:spPr>
              <a:xfrm>
                <a:off x="9147085" y="2167447"/>
                <a:ext cx="25871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Supported by default installation</a:t>
                </a:r>
                <a:b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Supported after adjusting configs</a:t>
                </a:r>
              </a:p>
            </p:txBody>
          </p: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0B699A1B-14D6-8418-8E5C-DF7D00B5E0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67214" y="2541315"/>
                <a:ext cx="210474" cy="0"/>
              </a:xfrm>
              <a:prstGeom prst="line">
                <a:avLst/>
              </a:prstGeom>
              <a:ln w="12700">
                <a:solidFill>
                  <a:schemeClr val="bg1"/>
                </a:solidFill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9AC9ED8-C188-B031-1A0D-1ECB5C4CE475}"/>
                </a:ext>
              </a:extLst>
            </p:cNvPr>
            <p:cNvCxnSpPr>
              <a:cxnSpLocks/>
              <a:stCxn id="227" idx="3"/>
              <a:endCxn id="242" idx="1"/>
            </p:cNvCxnSpPr>
            <p:nvPr/>
          </p:nvCxnSpPr>
          <p:spPr>
            <a:xfrm flipV="1">
              <a:off x="2929886" y="2938487"/>
              <a:ext cx="664414" cy="620532"/>
            </a:xfrm>
            <a:prstGeom prst="line">
              <a:avLst/>
            </a:prstGeom>
            <a:ln w="12700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4A93F2A7-DB38-2C63-309B-648C770A0779}"/>
                </a:ext>
              </a:extLst>
            </p:cNvPr>
            <p:cNvGrpSpPr/>
            <p:nvPr/>
          </p:nvGrpSpPr>
          <p:grpSpPr>
            <a:xfrm>
              <a:off x="6497958" y="3337714"/>
              <a:ext cx="2239249" cy="1233863"/>
              <a:chOff x="1028392" y="2318655"/>
              <a:chExt cx="2239249" cy="1233863"/>
            </a:xfrm>
          </p:grpSpPr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C155961E-CD47-4E5D-3E0F-20CB4549B363}"/>
                  </a:ext>
                </a:extLst>
              </p:cNvPr>
              <p:cNvSpPr txBox="1"/>
              <p:nvPr/>
            </p:nvSpPr>
            <p:spPr>
              <a:xfrm>
                <a:off x="1028392" y="3244741"/>
                <a:ext cx="22392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Near-RT RIC</a:t>
                </a:r>
              </a:p>
            </p:txBody>
          </p:sp>
          <p:grpSp>
            <p:nvGrpSpPr>
              <p:cNvPr id="206" name="Group 205">
                <a:extLst>
                  <a:ext uri="{FF2B5EF4-FFF2-40B4-BE49-F238E27FC236}">
                    <a16:creationId xmlns:a16="http://schemas.microsoft.com/office/drawing/2014/main" id="{158D54F2-6A69-C5D1-05A5-4D9D53992726}"/>
                  </a:ext>
                </a:extLst>
              </p:cNvPr>
              <p:cNvGrpSpPr/>
              <p:nvPr/>
            </p:nvGrpSpPr>
            <p:grpSpPr>
              <a:xfrm>
                <a:off x="1028392" y="2318655"/>
                <a:ext cx="2239249" cy="923272"/>
                <a:chOff x="1590040" y="5303322"/>
                <a:chExt cx="2374765" cy="923272"/>
              </a:xfrm>
            </p:grpSpPr>
            <p:sp>
              <p:nvSpPr>
                <p:cNvPr id="210" name="Rectangle: Rounded Corners 209">
                  <a:extLst>
                    <a:ext uri="{FF2B5EF4-FFF2-40B4-BE49-F238E27FC236}">
                      <a16:creationId xmlns:a16="http://schemas.microsoft.com/office/drawing/2014/main" id="{1C87FD3E-74EE-B08D-F033-6265850F27A3}"/>
                    </a:ext>
                  </a:extLst>
                </p:cNvPr>
                <p:cNvSpPr/>
                <p:nvPr/>
              </p:nvSpPr>
              <p:spPr>
                <a:xfrm>
                  <a:off x="1590040" y="5303322"/>
                  <a:ext cx="2374765" cy="923272"/>
                </a:xfrm>
                <a:prstGeom prst="roundRect">
                  <a:avLst>
                    <a:gd name="adj" fmla="val 9466"/>
                  </a:avLst>
                </a:prstGeom>
                <a:solidFill>
                  <a:srgbClr val="262626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89CE6125-7D92-4E83-C15B-65CA0B5BC614}"/>
                    </a:ext>
                  </a:extLst>
                </p:cNvPr>
                <p:cNvSpPr/>
                <p:nvPr/>
              </p:nvSpPr>
              <p:spPr>
                <a:xfrm>
                  <a:off x="1590040" y="5603165"/>
                  <a:ext cx="2374765" cy="323587"/>
                </a:xfrm>
                <a:prstGeom prst="rect">
                  <a:avLst/>
                </a:prstGeom>
                <a:solidFill>
                  <a:srgbClr val="3A3A3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" name="Rectangle: Rounded Corners 211">
                  <a:extLst>
                    <a:ext uri="{FF2B5EF4-FFF2-40B4-BE49-F238E27FC236}">
                      <a16:creationId xmlns:a16="http://schemas.microsoft.com/office/drawing/2014/main" id="{4F9FC162-0F12-A4BC-04F7-8DD83BD7515B}"/>
                    </a:ext>
                  </a:extLst>
                </p:cNvPr>
                <p:cNvSpPr/>
                <p:nvPr/>
              </p:nvSpPr>
              <p:spPr>
                <a:xfrm>
                  <a:off x="1590040" y="5303322"/>
                  <a:ext cx="2374765" cy="923272"/>
                </a:xfrm>
                <a:prstGeom prst="roundRect">
                  <a:avLst>
                    <a:gd name="adj" fmla="val 9879"/>
                  </a:avLst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F2F84A3F-249C-8FD3-F60A-8557386BA8D4}"/>
                  </a:ext>
                </a:extLst>
              </p:cNvPr>
              <p:cNvSpPr txBox="1"/>
              <p:nvPr/>
            </p:nvSpPr>
            <p:spPr>
              <a:xfrm>
                <a:off x="1028392" y="2928594"/>
                <a:ext cx="22392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Mosaic5G : FlexRIC</a:t>
                </a: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C6969DC3-F468-1931-A91D-72377057E4B1}"/>
                  </a:ext>
                </a:extLst>
              </p:cNvPr>
              <p:cNvSpPr txBox="1"/>
              <p:nvPr/>
            </p:nvSpPr>
            <p:spPr>
              <a:xfrm>
                <a:off x="1028392" y="2629568"/>
                <a:ext cx="22392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O-RAN SC : Near-RT RIC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63F46770-9FAE-4033-01DF-505C6605CBBF}"/>
                  </a:ext>
                </a:extLst>
              </p:cNvPr>
              <p:cNvSpPr txBox="1"/>
              <p:nvPr/>
            </p:nvSpPr>
            <p:spPr>
              <a:xfrm>
                <a:off x="1028392" y="2330542"/>
                <a:ext cx="22392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O-RAN SC : A1 Simulator</a:t>
                </a: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9385791-FCD2-2C18-30A3-CF089E5ED518}"/>
                </a:ext>
              </a:extLst>
            </p:cNvPr>
            <p:cNvGrpSpPr/>
            <p:nvPr/>
          </p:nvGrpSpPr>
          <p:grpSpPr>
            <a:xfrm>
              <a:off x="6497956" y="1616395"/>
              <a:ext cx="2301839" cy="1514666"/>
              <a:chOff x="4580555" y="3243709"/>
              <a:chExt cx="2301839" cy="1514666"/>
            </a:xfrm>
          </p:grpSpPr>
          <p:sp>
            <p:nvSpPr>
              <p:cNvPr id="195" name="Rectangle: Top Corners Rounded 194">
                <a:extLst>
                  <a:ext uri="{FF2B5EF4-FFF2-40B4-BE49-F238E27FC236}">
                    <a16:creationId xmlns:a16="http://schemas.microsoft.com/office/drawing/2014/main" id="{38E669CB-15B4-F93C-A58B-ED54620A5240}"/>
                  </a:ext>
                </a:extLst>
              </p:cNvPr>
              <p:cNvSpPr/>
              <p:nvPr/>
            </p:nvSpPr>
            <p:spPr>
              <a:xfrm rot="10800000">
                <a:off x="4580557" y="4166644"/>
                <a:ext cx="2239248" cy="323588"/>
              </a:xfrm>
              <a:prstGeom prst="round2SameRect">
                <a:avLst>
                  <a:gd name="adj1" fmla="val 28890"/>
                  <a:gd name="adj2" fmla="val 0"/>
                </a:avLst>
              </a:prstGeom>
              <a:solidFill>
                <a:srgbClr val="3A3A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Rectangle: Top Corners Rounded 195">
                <a:extLst>
                  <a:ext uri="{FF2B5EF4-FFF2-40B4-BE49-F238E27FC236}">
                    <a16:creationId xmlns:a16="http://schemas.microsoft.com/office/drawing/2014/main" id="{AB77D8F3-7981-EDBA-DC19-03C1F9B73F2D}"/>
                  </a:ext>
                </a:extLst>
              </p:cNvPr>
              <p:cNvSpPr/>
              <p:nvPr/>
            </p:nvSpPr>
            <p:spPr>
              <a:xfrm>
                <a:off x="4580556" y="3243709"/>
                <a:ext cx="2239248" cy="923272"/>
              </a:xfrm>
              <a:prstGeom prst="round2SameRect">
                <a:avLst>
                  <a:gd name="adj1" fmla="val 9715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F770037B-525D-9C88-53AB-60EFF8DA4163}"/>
                  </a:ext>
                </a:extLst>
              </p:cNvPr>
              <p:cNvSpPr/>
              <p:nvPr/>
            </p:nvSpPr>
            <p:spPr>
              <a:xfrm>
                <a:off x="4580556" y="3544031"/>
                <a:ext cx="2239249" cy="323587"/>
              </a:xfrm>
              <a:prstGeom prst="rect">
                <a:avLst/>
              </a:prstGeom>
              <a:solidFill>
                <a:srgbClr val="3A3A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Rectangle: Rounded Corners 198">
                <a:extLst>
                  <a:ext uri="{FF2B5EF4-FFF2-40B4-BE49-F238E27FC236}">
                    <a16:creationId xmlns:a16="http://schemas.microsoft.com/office/drawing/2014/main" id="{643C30BA-670B-A2C5-1D56-001B8A470E0C}"/>
                  </a:ext>
                </a:extLst>
              </p:cNvPr>
              <p:cNvSpPr/>
              <p:nvPr/>
            </p:nvSpPr>
            <p:spPr>
              <a:xfrm>
                <a:off x="4580556" y="3244668"/>
                <a:ext cx="2239249" cy="1246101"/>
              </a:xfrm>
              <a:prstGeom prst="roundRect">
                <a:avLst>
                  <a:gd name="adj" fmla="val 7433"/>
                </a:avLst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A50D0417-A635-358E-D133-E3A7E0961392}"/>
                  </a:ext>
                </a:extLst>
              </p:cNvPr>
              <p:cNvSpPr txBox="1"/>
              <p:nvPr/>
            </p:nvSpPr>
            <p:spPr>
              <a:xfrm>
                <a:off x="4580557" y="3853825"/>
                <a:ext cx="223924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Open5GCore (5gdeploy)</a:t>
                </a: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A0A9FC23-3E15-F0FB-87A1-735B1AF8CEAD}"/>
                  </a:ext>
                </a:extLst>
              </p:cNvPr>
              <p:cNvSpPr txBox="1"/>
              <p:nvPr/>
            </p:nvSpPr>
            <p:spPr>
              <a:xfrm>
                <a:off x="4580557" y="3554799"/>
                <a:ext cx="223924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Free5GC (5gdeploy)</a:t>
                </a: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E534920F-F0D5-A211-0EBC-14787952E20C}"/>
                  </a:ext>
                </a:extLst>
              </p:cNvPr>
              <p:cNvSpPr txBox="1"/>
              <p:nvPr/>
            </p:nvSpPr>
            <p:spPr>
              <a:xfrm>
                <a:off x="4580555" y="3255773"/>
                <a:ext cx="223924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OAI 5G CN (5gdeploy)</a:t>
                </a: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06D261BA-B74D-DA83-6608-2CFD593CFB42}"/>
                  </a:ext>
                </a:extLst>
              </p:cNvPr>
              <p:cNvSpPr txBox="1"/>
              <p:nvPr/>
            </p:nvSpPr>
            <p:spPr>
              <a:xfrm>
                <a:off x="4580557" y="4173617"/>
                <a:ext cx="223924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Open5GS</a:t>
                </a:r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24AABCAD-5992-E470-4C83-8776E6500952}"/>
                  </a:ext>
                </a:extLst>
              </p:cNvPr>
              <p:cNvSpPr txBox="1"/>
              <p:nvPr/>
            </p:nvSpPr>
            <p:spPr>
              <a:xfrm>
                <a:off x="4643145" y="4450598"/>
                <a:ext cx="22392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5G Core Network</a:t>
                </a:r>
              </a:p>
            </p:txBody>
          </p:sp>
        </p:grp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62E5A30C-73CD-19E4-E59B-CFBDF2D7BDB7}"/>
                </a:ext>
              </a:extLst>
            </p:cNvPr>
            <p:cNvCxnSpPr>
              <a:cxnSpLocks/>
              <a:stCxn id="34" idx="1"/>
              <a:endCxn id="208" idx="1"/>
            </p:cNvCxnSpPr>
            <p:nvPr/>
          </p:nvCxnSpPr>
          <p:spPr>
            <a:xfrm>
              <a:off x="5943801" y="3107001"/>
              <a:ext cx="554157" cy="695515"/>
            </a:xfrm>
            <a:prstGeom prst="line">
              <a:avLst/>
            </a:prstGeom>
            <a:ln w="12700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25A5030-0FFB-CD28-14E7-AF0AFEEB443C}"/>
                </a:ext>
              </a:extLst>
            </p:cNvPr>
            <p:cNvCxnSpPr>
              <a:cxnSpLocks/>
              <a:stCxn id="33" idx="1"/>
              <a:endCxn id="203" idx="1"/>
            </p:cNvCxnSpPr>
            <p:nvPr/>
          </p:nvCxnSpPr>
          <p:spPr>
            <a:xfrm>
              <a:off x="5943801" y="2493651"/>
              <a:ext cx="554157" cy="206541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D976F8A2-A38F-548D-E34D-42F2D8AF4E6C}"/>
                </a:ext>
              </a:extLst>
            </p:cNvPr>
            <p:cNvCxnSpPr>
              <a:cxnSpLocks/>
              <a:stCxn id="34" idx="1"/>
              <a:endCxn id="203" idx="1"/>
            </p:cNvCxnSpPr>
            <p:nvPr/>
          </p:nvCxnSpPr>
          <p:spPr>
            <a:xfrm flipV="1">
              <a:off x="5943801" y="2700192"/>
              <a:ext cx="554157" cy="406809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F54AF584-92C4-A27B-C926-46756368F533}"/>
                </a:ext>
              </a:extLst>
            </p:cNvPr>
            <p:cNvCxnSpPr>
              <a:cxnSpLocks/>
              <a:stCxn id="34" idx="1"/>
              <a:endCxn id="207" idx="1"/>
            </p:cNvCxnSpPr>
            <p:nvPr/>
          </p:nvCxnSpPr>
          <p:spPr>
            <a:xfrm>
              <a:off x="5943801" y="3107001"/>
              <a:ext cx="554157" cy="994541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27F5818-4011-FB5B-6D74-92B8B8CF6E57}"/>
                </a:ext>
              </a:extLst>
            </p:cNvPr>
            <p:cNvCxnSpPr>
              <a:cxnSpLocks/>
              <a:stCxn id="33" idx="1"/>
              <a:endCxn id="207" idx="1"/>
            </p:cNvCxnSpPr>
            <p:nvPr/>
          </p:nvCxnSpPr>
          <p:spPr>
            <a:xfrm>
              <a:off x="5943801" y="2493651"/>
              <a:ext cx="554157" cy="1607891"/>
            </a:xfrm>
            <a:prstGeom prst="line">
              <a:avLst/>
            </a:prstGeom>
            <a:ln w="12700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79FDFA5-A325-28CD-D607-B12E8577AD21}"/>
                </a:ext>
              </a:extLst>
            </p:cNvPr>
            <p:cNvCxnSpPr>
              <a:cxnSpLocks/>
              <a:stCxn id="34" idx="1"/>
              <a:endCxn id="201" idx="1"/>
            </p:cNvCxnSpPr>
            <p:nvPr/>
          </p:nvCxnSpPr>
          <p:spPr>
            <a:xfrm flipV="1">
              <a:off x="5943801" y="2081374"/>
              <a:ext cx="554157" cy="1025627"/>
            </a:xfrm>
            <a:prstGeom prst="line">
              <a:avLst/>
            </a:prstGeom>
            <a:ln w="12700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CB99049F-2FE1-02B7-6E00-29FE85E90D00}"/>
                </a:ext>
              </a:extLst>
            </p:cNvPr>
            <p:cNvCxnSpPr>
              <a:cxnSpLocks/>
              <a:stCxn id="34" idx="1"/>
              <a:endCxn id="202" idx="1"/>
            </p:cNvCxnSpPr>
            <p:nvPr/>
          </p:nvCxnSpPr>
          <p:spPr>
            <a:xfrm flipV="1">
              <a:off x="5943801" y="1782348"/>
              <a:ext cx="554155" cy="1324653"/>
            </a:xfrm>
            <a:prstGeom prst="line">
              <a:avLst/>
            </a:prstGeom>
            <a:ln w="12700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EE48765C-5159-E5BA-0720-86A50AAFB16E}"/>
                </a:ext>
              </a:extLst>
            </p:cNvPr>
            <p:cNvCxnSpPr>
              <a:cxnSpLocks/>
              <a:stCxn id="33" idx="1"/>
              <a:endCxn id="200" idx="1"/>
            </p:cNvCxnSpPr>
            <p:nvPr/>
          </p:nvCxnSpPr>
          <p:spPr>
            <a:xfrm flipV="1">
              <a:off x="5943801" y="2380400"/>
              <a:ext cx="554157" cy="113251"/>
            </a:xfrm>
            <a:prstGeom prst="line">
              <a:avLst/>
            </a:prstGeom>
            <a:ln w="12700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8705FE8-C5D7-E524-F79C-8092BFBD8840}"/>
                </a:ext>
              </a:extLst>
            </p:cNvPr>
            <p:cNvCxnSpPr>
              <a:cxnSpLocks/>
              <a:stCxn id="33" idx="1"/>
              <a:endCxn id="201" idx="1"/>
            </p:cNvCxnSpPr>
            <p:nvPr/>
          </p:nvCxnSpPr>
          <p:spPr>
            <a:xfrm flipV="1">
              <a:off x="5943801" y="2081374"/>
              <a:ext cx="554157" cy="412277"/>
            </a:xfrm>
            <a:prstGeom prst="line">
              <a:avLst/>
            </a:prstGeom>
            <a:ln w="12700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F00DBE24-2814-B5F8-E502-C8286971E965}"/>
                </a:ext>
              </a:extLst>
            </p:cNvPr>
            <p:cNvCxnSpPr>
              <a:cxnSpLocks/>
              <a:stCxn id="33" idx="1"/>
              <a:endCxn id="202" idx="1"/>
            </p:cNvCxnSpPr>
            <p:nvPr/>
          </p:nvCxnSpPr>
          <p:spPr>
            <a:xfrm flipV="1">
              <a:off x="5943801" y="1782348"/>
              <a:ext cx="554155" cy="711303"/>
            </a:xfrm>
            <a:prstGeom prst="line">
              <a:avLst/>
            </a:prstGeom>
            <a:ln w="12700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D5C86F7A-A3F7-E935-BC61-78828C20AEEC}"/>
                </a:ext>
              </a:extLst>
            </p:cNvPr>
            <p:cNvCxnSpPr>
              <a:cxnSpLocks/>
              <a:stCxn id="34" idx="1"/>
              <a:endCxn id="200" idx="1"/>
            </p:cNvCxnSpPr>
            <p:nvPr/>
          </p:nvCxnSpPr>
          <p:spPr>
            <a:xfrm flipV="1">
              <a:off x="5943801" y="2380400"/>
              <a:ext cx="554157" cy="726601"/>
            </a:xfrm>
            <a:prstGeom prst="line">
              <a:avLst/>
            </a:prstGeom>
            <a:ln w="12700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52E4EC5-60C7-DADE-2335-70F50D08B5F6}"/>
                </a:ext>
              </a:extLst>
            </p:cNvPr>
            <p:cNvCxnSpPr>
              <a:cxnSpLocks/>
              <a:stCxn id="33" idx="1"/>
              <a:endCxn id="208" idx="1"/>
            </p:cNvCxnSpPr>
            <p:nvPr/>
          </p:nvCxnSpPr>
          <p:spPr>
            <a:xfrm>
              <a:off x="5943801" y="2493651"/>
              <a:ext cx="554157" cy="130886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8929CC8-0567-FC1D-32AD-09F5C283A90B}"/>
                </a:ext>
              </a:extLst>
            </p:cNvPr>
            <p:cNvCxnSpPr>
              <a:cxnSpLocks/>
              <a:stCxn id="208" idx="3"/>
              <a:endCxn id="219" idx="1"/>
            </p:cNvCxnSpPr>
            <p:nvPr/>
          </p:nvCxnSpPr>
          <p:spPr>
            <a:xfrm flipV="1">
              <a:off x="8737207" y="3505473"/>
              <a:ext cx="639703" cy="297043"/>
            </a:xfrm>
            <a:prstGeom prst="line">
              <a:avLst/>
            </a:prstGeom>
            <a:ln w="12700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44DD7FAC-89CB-4E46-AE59-39ECE056D49E}"/>
                </a:ext>
              </a:extLst>
            </p:cNvPr>
            <p:cNvCxnSpPr>
              <a:cxnSpLocks/>
              <a:stCxn id="209" idx="3"/>
              <a:endCxn id="219" idx="1"/>
            </p:cNvCxnSpPr>
            <p:nvPr/>
          </p:nvCxnSpPr>
          <p:spPr>
            <a:xfrm>
              <a:off x="8737207" y="3503490"/>
              <a:ext cx="639703" cy="198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55625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</TotalTime>
  <Words>360</Words>
  <Application>Microsoft Office PowerPoint</Application>
  <PresentationFormat>Widescreen</PresentationFormat>
  <Paragraphs>118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Wuthier, Simeon J. (Assoc)</dc:creator>
  <cp:lastModifiedBy>Wuthier, Simeon J. (Assoc)</cp:lastModifiedBy>
  <cp:revision>123</cp:revision>
  <dcterms:created xsi:type="dcterms:W3CDTF">2025-03-21T23:15:08Z</dcterms:created>
  <dcterms:modified xsi:type="dcterms:W3CDTF">2026-03-23T21:37:07Z</dcterms:modified>
</cp:coreProperties>
</file>