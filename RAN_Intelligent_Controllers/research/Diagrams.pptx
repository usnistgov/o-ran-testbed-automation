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0E00"/>
    <a:srgbClr val="FF7B61"/>
    <a:srgbClr val="FF6600"/>
    <a:srgbClr val="3A3A3A"/>
    <a:srgbClr val="262626"/>
    <a:srgbClr val="0D1117"/>
    <a:srgbClr val="F2F2F2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60"/>
  </p:normalViewPr>
  <p:slideViewPr>
    <p:cSldViewPr snapToGrid="0">
      <p:cViewPr varScale="1">
        <p:scale>
          <a:sx n="94" d="100"/>
          <a:sy n="94" d="100"/>
        </p:scale>
        <p:origin x="110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3/27/2025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6217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RC</a:t>
                </a:r>
                <a:b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KPI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6217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RC</a:t>
                </a:r>
                <a:b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KPI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9BBDDB3-4BA8-B6A3-68D5-E088B0FC42CC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137" idx="1"/>
            </p:cNvCxnSpPr>
            <p:nvPr/>
          </p:nvCxnSpPr>
          <p:spPr>
            <a:xfrm>
              <a:off x="5943801" y="3107001"/>
              <a:ext cx="554158" cy="139732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47296"/>
              <a:chOff x="7063677" y="4951549"/>
              <a:chExt cx="2302213" cy="6472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910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137" idx="3"/>
              <a:endCxn id="315" idx="1"/>
            </p:cNvCxnSpPr>
            <p:nvPr/>
          </p:nvCxnSpPr>
          <p:spPr>
            <a:xfrm>
              <a:off x="8737209" y="3246733"/>
              <a:ext cx="639701" cy="2770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137" idx="1"/>
            </p:cNvCxnSpPr>
            <p:nvPr/>
          </p:nvCxnSpPr>
          <p:spPr>
            <a:xfrm>
              <a:off x="5943801" y="2493651"/>
              <a:ext cx="554158" cy="75308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139" idx="1"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137" idx="1"/>
            </p:cNvCxnSpPr>
            <p:nvPr/>
          </p:nvCxnSpPr>
          <p:spPr>
            <a:xfrm flipV="1">
              <a:off x="5817331" y="3246733"/>
              <a:ext cx="680628" cy="3122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139" idx="1"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7F0217C1-27AC-0AE9-0AB2-B6739AA10A59}"/>
                </a:ext>
              </a:extLst>
            </p:cNvPr>
            <p:cNvGrpSpPr/>
            <p:nvPr/>
          </p:nvGrpSpPr>
          <p:grpSpPr>
            <a:xfrm>
              <a:off x="6497959" y="3084878"/>
              <a:ext cx="2239250" cy="930533"/>
              <a:chOff x="6696060" y="5146289"/>
              <a:chExt cx="2239250" cy="930533"/>
            </a:xfrm>
          </p:grpSpPr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10760A10-5230-083D-FCAE-497AD888B029}"/>
                  </a:ext>
                </a:extLst>
              </p:cNvPr>
              <p:cNvGrpSpPr/>
              <p:nvPr/>
            </p:nvGrpSpPr>
            <p:grpSpPr>
              <a:xfrm>
                <a:off x="6696060" y="5146289"/>
                <a:ext cx="2239250" cy="618690"/>
                <a:chOff x="6808092" y="5153909"/>
                <a:chExt cx="2239250" cy="618690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841B9809-A189-561B-4300-1452E248F236}"/>
                    </a:ext>
                  </a:extLst>
                </p:cNvPr>
                <p:cNvGrpSpPr/>
                <p:nvPr/>
              </p:nvGrpSpPr>
              <p:grpSpPr>
                <a:xfrm>
                  <a:off x="6808092" y="5153909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141" name="Rectangle: Rounded Corners 140">
                    <a:extLst>
                      <a:ext uri="{FF2B5EF4-FFF2-40B4-BE49-F238E27FC236}">
                        <a16:creationId xmlns:a16="http://schemas.microsoft.com/office/drawing/2014/main" id="{3F2A5807-4769-53A4-4C75-D528398D2568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>
                      <a:lumMod val="85000"/>
                    </a:schemeClr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2" name="Rectangle: Top Corners Rounded 141">
                    <a:extLst>
                      <a:ext uri="{FF2B5EF4-FFF2-40B4-BE49-F238E27FC236}">
                        <a16:creationId xmlns:a16="http://schemas.microsoft.com/office/drawing/2014/main" id="{BFBE2C83-3F94-BEC1-509A-666E953B5AE3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3" name="Rectangle: Rounded Corners 142">
                    <a:extLst>
                      <a:ext uri="{FF2B5EF4-FFF2-40B4-BE49-F238E27FC236}">
                        <a16:creationId xmlns:a16="http://schemas.microsoft.com/office/drawing/2014/main" id="{BE57BFF5-2C67-F628-A5CE-99608F010250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8E4086BF-90AE-16D0-B4BD-62589545315F}"/>
                    </a:ext>
                  </a:extLst>
                </p:cNvPr>
                <p:cNvSpPr txBox="1"/>
                <p:nvPr/>
              </p:nvSpPr>
              <p:spPr>
                <a:xfrm>
                  <a:off x="6808092" y="5161875"/>
                  <a:ext cx="22392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: Near-RT RIC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BFB5C70-1560-E4FD-6B36-6B68117B7EA6}"/>
                    </a:ext>
                  </a:extLst>
                </p:cNvPr>
                <p:cNvSpPr txBox="1"/>
                <p:nvPr/>
              </p:nvSpPr>
              <p:spPr>
                <a:xfrm>
                  <a:off x="6808092" y="5464822"/>
                  <a:ext cx="22392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Mosaic5G : FlexRIC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6324A6E-ABC2-1C25-09F7-5897B7BD58DD}"/>
                  </a:ext>
                </a:extLst>
              </p:cNvPr>
              <p:cNvSpPr txBox="1"/>
              <p:nvPr/>
            </p:nvSpPr>
            <p:spPr>
              <a:xfrm>
                <a:off x="6696060" y="5769045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22182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1B99C2-A115-399B-B00F-E5C8AE3B5617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118692E-D854-304E-EB0C-33857FA0FA39}"/>
                </a:ext>
              </a:extLst>
            </p:cNvPr>
            <p:cNvGrpSpPr/>
            <p:nvPr/>
          </p:nvGrpSpPr>
          <p:grpSpPr>
            <a:xfrm>
              <a:off x="690637" y="2167447"/>
              <a:ext cx="11043556" cy="1849234"/>
              <a:chOff x="778869" y="4228858"/>
              <a:chExt cx="11043556" cy="1849234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E7BD0CD-0AD8-F766-F38F-1FB50716D247}"/>
                  </a:ext>
                </a:extLst>
              </p:cNvPr>
              <p:cNvCxnSpPr>
                <a:cxnSpLocks/>
                <a:endCxn id="35" idx="1"/>
              </p:cNvCxnSpPr>
              <p:nvPr/>
            </p:nvCxnSpPr>
            <p:spPr>
              <a:xfrm>
                <a:off x="6032033" y="5177937"/>
                <a:ext cx="554158" cy="139732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316BC739-B35F-85FE-983B-5189F671AA40}"/>
                  </a:ext>
                </a:extLst>
              </p:cNvPr>
              <p:cNvGrpSpPr/>
              <p:nvPr/>
            </p:nvGrpSpPr>
            <p:grpSpPr>
              <a:xfrm>
                <a:off x="6586956" y="4233668"/>
                <a:ext cx="2302213" cy="647296"/>
                <a:chOff x="7063677" y="4951549"/>
                <a:chExt cx="2302213" cy="647296"/>
              </a:xfrm>
            </p:grpSpPr>
            <p:grpSp>
              <p:nvGrpSpPr>
                <p:cNvPr id="67" name="Group 66">
                  <a:extLst>
                    <a:ext uri="{FF2B5EF4-FFF2-40B4-BE49-F238E27FC236}">
                      <a16:creationId xmlns:a16="http://schemas.microsoft.com/office/drawing/2014/main" id="{94C82875-16D7-328F-D44F-2C1A08F28D46}"/>
                    </a:ext>
                  </a:extLst>
                </p:cNvPr>
                <p:cNvGrpSpPr/>
                <p:nvPr/>
              </p:nvGrpSpPr>
              <p:grpSpPr>
                <a:xfrm>
                  <a:off x="7063677" y="4951549"/>
                  <a:ext cx="2239251" cy="333931"/>
                  <a:chOff x="7168594" y="4200673"/>
                  <a:chExt cx="2239251" cy="299842"/>
                </a:xfrm>
              </p:grpSpPr>
              <p:sp>
                <p:nvSpPr>
                  <p:cNvPr id="69" name="Rectangle: Rounded Corners 68">
                    <a:extLst>
                      <a:ext uri="{FF2B5EF4-FFF2-40B4-BE49-F238E27FC236}">
                        <a16:creationId xmlns:a16="http://schemas.microsoft.com/office/drawing/2014/main" id="{E3E5506D-785E-C802-0B5C-83BCF4D57BC8}"/>
                      </a:ext>
                    </a:extLst>
                  </p:cNvPr>
                  <p:cNvSpPr/>
                  <p:nvPr/>
                </p:nvSpPr>
                <p:spPr>
                  <a:xfrm>
                    <a:off x="7168596" y="4200673"/>
                    <a:ext cx="2239249" cy="299842"/>
                  </a:xfrm>
                  <a:prstGeom prst="roundRect">
                    <a:avLst>
                      <a:gd name="adj" fmla="val 28947"/>
                    </a:avLst>
                  </a:prstGeom>
                  <a:solidFill>
                    <a:srgbClr val="262626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A6BD8DC3-F519-6540-99EC-9071E4B84D62}"/>
                      </a:ext>
                    </a:extLst>
                  </p:cNvPr>
                  <p:cNvSpPr txBox="1"/>
                  <p:nvPr/>
                </p:nvSpPr>
                <p:spPr>
                  <a:xfrm>
                    <a:off x="7168594" y="4201157"/>
                    <a:ext cx="2238468" cy="276358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Open5GS</a:t>
                    </a:r>
                  </a:p>
                </p:txBody>
              </p:sp>
            </p:grpSp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94615E0D-4553-284E-CE2D-CF14F759AE84}"/>
                    </a:ext>
                  </a:extLst>
                </p:cNvPr>
                <p:cNvSpPr txBox="1"/>
                <p:nvPr/>
              </p:nvSpPr>
              <p:spPr>
                <a:xfrm>
                  <a:off x="7126641" y="5291068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</a:p>
              </p:txBody>
            </p:sp>
          </p:grp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32A79DEC-8744-1300-577F-E137537AD2F9}"/>
                  </a:ext>
                </a:extLst>
              </p:cNvPr>
              <p:cNvCxnSpPr>
                <a:cxnSpLocks/>
                <a:stCxn id="45" idx="3"/>
                <a:endCxn id="56" idx="1"/>
              </p:cNvCxnSpPr>
              <p:nvPr/>
            </p:nvCxnSpPr>
            <p:spPr>
              <a:xfrm>
                <a:off x="3018119" y="4397782"/>
                <a:ext cx="676819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34C38DF5-DD28-45E9-2507-546631986FEC}"/>
                  </a:ext>
                </a:extLst>
              </p:cNvPr>
              <p:cNvCxnSpPr>
                <a:cxnSpLocks/>
                <a:stCxn id="44" idx="3"/>
                <a:endCxn id="55" idx="1"/>
              </p:cNvCxnSpPr>
              <p:nvPr/>
            </p:nvCxnSpPr>
            <p:spPr>
              <a:xfrm>
                <a:off x="3020023" y="4703444"/>
                <a:ext cx="678726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CED138-8687-8AC9-B515-1F21C20F5556}"/>
                  </a:ext>
                </a:extLst>
              </p:cNvPr>
              <p:cNvCxnSpPr>
                <a:cxnSpLocks/>
                <a:stCxn id="46" idx="3"/>
                <a:endCxn id="56" idx="1"/>
              </p:cNvCxnSpPr>
              <p:nvPr/>
            </p:nvCxnSpPr>
            <p:spPr>
              <a:xfrm flipV="1">
                <a:off x="3018118" y="4397782"/>
                <a:ext cx="676820" cy="1222648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515E354-6DA8-293E-5366-4FCC379F89CE}"/>
                  </a:ext>
                </a:extLst>
              </p:cNvPr>
              <p:cNvCxnSpPr>
                <a:cxnSpLocks/>
                <a:stCxn id="49" idx="3"/>
                <a:endCxn id="60" idx="1"/>
              </p:cNvCxnSpPr>
              <p:nvPr/>
            </p:nvCxnSpPr>
            <p:spPr>
              <a:xfrm>
                <a:off x="3018118" y="5314768"/>
                <a:ext cx="680631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B2657DE-F9D4-6A96-5B71-8BE2C8C90454}"/>
                  </a:ext>
                </a:extLst>
              </p:cNvPr>
              <p:cNvCxnSpPr>
                <a:cxnSpLocks/>
                <a:stCxn id="43" idx="3"/>
                <a:endCxn id="54" idx="1"/>
              </p:cNvCxnSpPr>
              <p:nvPr/>
            </p:nvCxnSpPr>
            <p:spPr>
              <a:xfrm>
                <a:off x="3018118" y="5009106"/>
                <a:ext cx="665196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B8C0992-8C5B-0CFA-F351-BDE45110AE40}"/>
                  </a:ext>
                </a:extLst>
              </p:cNvPr>
              <p:cNvCxnSpPr>
                <a:cxnSpLocks/>
                <a:stCxn id="35" idx="3"/>
                <a:endCxn id="30" idx="1"/>
              </p:cNvCxnSpPr>
              <p:nvPr/>
            </p:nvCxnSpPr>
            <p:spPr>
              <a:xfrm>
                <a:off x="8825441" y="5317669"/>
                <a:ext cx="639701" cy="26755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0F3449C-2283-DACE-FB13-38396C4B7FB9}"/>
                  </a:ext>
                </a:extLst>
              </p:cNvPr>
              <p:cNvCxnSpPr>
                <a:cxnSpLocks/>
                <a:stCxn id="23" idx="1"/>
                <a:endCxn id="70" idx="1"/>
              </p:cNvCxnSpPr>
              <p:nvPr/>
            </p:nvCxnSpPr>
            <p:spPr>
              <a:xfrm flipV="1">
                <a:off x="6032033" y="4388096"/>
                <a:ext cx="554923" cy="166966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0F3409B-9BA3-B0DD-2840-A8BFD7EB2EFD}"/>
                  </a:ext>
                </a:extLst>
              </p:cNvPr>
              <p:cNvCxnSpPr>
                <a:cxnSpLocks/>
                <a:stCxn id="24" idx="1"/>
                <a:endCxn id="70" idx="1"/>
              </p:cNvCxnSpPr>
              <p:nvPr/>
            </p:nvCxnSpPr>
            <p:spPr>
              <a:xfrm flipV="1">
                <a:off x="6032033" y="4388096"/>
                <a:ext cx="554923" cy="780316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36E016-28E0-8BF0-9431-64131BB8293D}"/>
                  </a:ext>
                </a:extLst>
              </p:cNvPr>
              <p:cNvCxnSpPr>
                <a:cxnSpLocks/>
                <a:endCxn id="35" idx="1"/>
              </p:cNvCxnSpPr>
              <p:nvPr/>
            </p:nvCxnSpPr>
            <p:spPr>
              <a:xfrm>
                <a:off x="6032033" y="4564587"/>
                <a:ext cx="554158" cy="753082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E085886D-3B15-DB08-3633-1E75D9D54A31}"/>
                  </a:ext>
                </a:extLst>
              </p:cNvPr>
              <p:cNvCxnSpPr>
                <a:cxnSpLocks/>
                <a:endCxn id="36" idx="1"/>
              </p:cNvCxnSpPr>
              <p:nvPr/>
            </p:nvCxnSpPr>
            <p:spPr>
              <a:xfrm>
                <a:off x="6032033" y="5168412"/>
                <a:ext cx="554158" cy="442679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464B0A35-8F04-98CF-A4D8-50AD8B8C9AA5}"/>
                  </a:ext>
                </a:extLst>
              </p:cNvPr>
              <p:cNvCxnSpPr>
                <a:cxnSpLocks/>
                <a:stCxn id="57" idx="3"/>
                <a:endCxn id="35" idx="1"/>
              </p:cNvCxnSpPr>
              <p:nvPr/>
            </p:nvCxnSpPr>
            <p:spPr>
              <a:xfrm flipV="1">
                <a:off x="5905563" y="5317669"/>
                <a:ext cx="680628" cy="30276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3820C6D9-0E3D-0876-944B-2DAB23175A99}"/>
                  </a:ext>
                </a:extLst>
              </p:cNvPr>
              <p:cNvCxnSpPr>
                <a:cxnSpLocks/>
                <a:endCxn id="36" idx="1"/>
              </p:cNvCxnSpPr>
              <p:nvPr/>
            </p:nvCxnSpPr>
            <p:spPr>
              <a:xfrm>
                <a:off x="6032033" y="4555062"/>
                <a:ext cx="554158" cy="1056029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AA953FD7-0D5A-D260-FEA5-A750D4B0B26B}"/>
                  </a:ext>
                </a:extLst>
              </p:cNvPr>
              <p:cNvGrpSpPr/>
              <p:nvPr/>
            </p:nvGrpSpPr>
            <p:grpSpPr>
              <a:xfrm>
                <a:off x="8962221" y="4228858"/>
                <a:ext cx="2860204" cy="738664"/>
                <a:chOff x="8962221" y="4222565"/>
                <a:chExt cx="2860204" cy="738664"/>
              </a:xfrm>
            </p:grpSpPr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A59D6F40-6E6F-232E-ECC9-A4EB8C8693B0}"/>
                    </a:ext>
                  </a:extLst>
                </p:cNvPr>
                <p:cNvSpPr/>
                <p:nvPr/>
              </p:nvSpPr>
              <p:spPr>
                <a:xfrm>
                  <a:off x="8962221" y="4243038"/>
                  <a:ext cx="2787151" cy="705139"/>
                </a:xfrm>
                <a:prstGeom prst="rect">
                  <a:avLst/>
                </a:prstGeom>
                <a:solidFill>
                  <a:srgbClr val="0D1117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D14BEA91-F3A3-C660-8A23-F11C29E56C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055446" y="4378844"/>
                  <a:ext cx="210474" cy="0"/>
                </a:xfrm>
                <a:prstGeom prst="line">
                  <a:avLst/>
                </a:prstGeom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87248227-D8ED-62C9-8498-3B65A1AFBC5C}"/>
                    </a:ext>
                  </a:extLst>
                </p:cNvPr>
                <p:cNvSpPr txBox="1"/>
                <p:nvPr/>
              </p:nvSpPr>
              <p:spPr>
                <a:xfrm>
                  <a:off x="9235317" y="4222565"/>
                  <a:ext cx="2587108" cy="73866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Supported by default installation</a:t>
                  </a:r>
                  <a:b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</a:b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Supported after adjusting configs</a:t>
                  </a:r>
                </a:p>
                <a:p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Not supported</a:t>
                  </a:r>
                </a:p>
              </p:txBody>
            </p: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D72BCCD9-0ADB-0E7D-4D13-D2CC2EA67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055446" y="4596433"/>
                  <a:ext cx="210474" cy="0"/>
                </a:xfrm>
                <a:prstGeom prst="line">
                  <a:avLst/>
                </a:prstGeom>
                <a:ln w="12700">
                  <a:solidFill>
                    <a:schemeClr val="bg1"/>
                  </a:solidFill>
                  <a:prstDash val="sysDot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665363D5-40A1-F6AF-3318-E7F22DE660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055446" y="4814021"/>
                  <a:ext cx="210474" cy="0"/>
                </a:xfrm>
                <a:prstGeom prst="line">
                  <a:avLst/>
                </a:prstGeom>
                <a:ln w="12700">
                  <a:solidFill>
                    <a:srgbClr val="FF7B61"/>
                  </a:solidFill>
                  <a:prstDash val="sysDot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Right Brace 22">
                <a:extLst>
                  <a:ext uri="{FF2B5EF4-FFF2-40B4-BE49-F238E27FC236}">
                    <a16:creationId xmlns:a16="http://schemas.microsoft.com/office/drawing/2014/main" id="{A7991ECF-F9B7-7535-37FB-A57CED3BF203}"/>
                  </a:ext>
                </a:extLst>
              </p:cNvPr>
              <p:cNvSpPr/>
              <p:nvPr/>
            </p:nvSpPr>
            <p:spPr>
              <a:xfrm>
                <a:off x="5949277" y="4267614"/>
                <a:ext cx="82756" cy="574896"/>
              </a:xfrm>
              <a:prstGeom prst="rightBrace">
                <a:avLst>
                  <a:gd name="adj1" fmla="val 88901"/>
                  <a:gd name="adj2" fmla="val 50000"/>
                </a:avLst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ight Brace 23">
                <a:extLst>
                  <a:ext uri="{FF2B5EF4-FFF2-40B4-BE49-F238E27FC236}">
                    <a16:creationId xmlns:a16="http://schemas.microsoft.com/office/drawing/2014/main" id="{20C8E6D4-A40E-D435-BF8F-F8C003ACF650}"/>
                  </a:ext>
                </a:extLst>
              </p:cNvPr>
              <p:cNvSpPr/>
              <p:nvPr/>
            </p:nvSpPr>
            <p:spPr>
              <a:xfrm>
                <a:off x="5949277" y="4880964"/>
                <a:ext cx="82756" cy="574896"/>
              </a:xfrm>
              <a:prstGeom prst="rightBrace">
                <a:avLst>
                  <a:gd name="adj1" fmla="val 88901"/>
                  <a:gd name="adj2" fmla="val 50000"/>
                </a:avLst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7A087A7C-EBC3-7D25-0193-6488C85E22BB}"/>
                  </a:ext>
                </a:extLst>
              </p:cNvPr>
              <p:cNvGrpSpPr/>
              <p:nvPr/>
            </p:nvGrpSpPr>
            <p:grpSpPr>
              <a:xfrm>
                <a:off x="3682530" y="4232789"/>
                <a:ext cx="2263961" cy="1844033"/>
                <a:chOff x="3916949" y="3691197"/>
                <a:chExt cx="2263961" cy="1844033"/>
              </a:xfrm>
            </p:grpSpPr>
            <p:sp>
              <p:nvSpPr>
                <p:cNvPr id="51" name="Rectangle: Rounded Corners 50">
                  <a:extLst>
                    <a:ext uri="{FF2B5EF4-FFF2-40B4-BE49-F238E27FC236}">
                      <a16:creationId xmlns:a16="http://schemas.microsoft.com/office/drawing/2014/main" id="{B3D7257C-B989-E6D2-FBC9-EEE63B1B672D}"/>
                    </a:ext>
                  </a:extLst>
                </p:cNvPr>
                <p:cNvSpPr/>
                <p:nvPr/>
              </p:nvSpPr>
              <p:spPr>
                <a:xfrm>
                  <a:off x="3916949" y="3692460"/>
                  <a:ext cx="2239249" cy="1531642"/>
                </a:xfrm>
                <a:prstGeom prst="roundRect">
                  <a:avLst>
                    <a:gd name="adj" fmla="val 5859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Rectangle: Top Corners Rounded 51">
                  <a:extLst>
                    <a:ext uri="{FF2B5EF4-FFF2-40B4-BE49-F238E27FC236}">
                      <a16:creationId xmlns:a16="http://schemas.microsoft.com/office/drawing/2014/main" id="{DBC9B431-FC85-98F1-7802-3B3651BE6F8D}"/>
                    </a:ext>
                  </a:extLst>
                </p:cNvPr>
                <p:cNvSpPr/>
                <p:nvPr/>
              </p:nvSpPr>
              <p:spPr>
                <a:xfrm rot="10800000">
                  <a:off x="3916952" y="4613172"/>
                  <a:ext cx="2239248" cy="323588"/>
                </a:xfrm>
                <a:prstGeom prst="round2SameRect">
                  <a:avLst>
                    <a:gd name="adj1" fmla="val 28890"/>
                    <a:gd name="adj2" fmla="val 0"/>
                  </a:avLst>
                </a:prstGeom>
                <a:solidFill>
                  <a:srgbClr val="F2F2F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19AB0D5D-41E1-ECDD-6800-6D04A0A25D57}"/>
                    </a:ext>
                  </a:extLst>
                </p:cNvPr>
                <p:cNvSpPr/>
                <p:nvPr/>
              </p:nvSpPr>
              <p:spPr>
                <a:xfrm>
                  <a:off x="3916951" y="3990559"/>
                  <a:ext cx="2239249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40C2853-5546-FC7B-38EC-F30D79A444C7}"/>
                    </a:ext>
                  </a:extLst>
                </p:cNvPr>
                <p:cNvSpPr txBox="1"/>
                <p:nvPr/>
              </p:nvSpPr>
              <p:spPr>
                <a:xfrm>
                  <a:off x="3917733" y="4313625"/>
                  <a:ext cx="223768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: USRP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3618131-BAB2-A494-D3FA-1003A22DEB82}"/>
                    </a:ext>
                  </a:extLst>
                </p:cNvPr>
                <p:cNvSpPr txBox="1"/>
                <p:nvPr/>
              </p:nvSpPr>
              <p:spPr>
                <a:xfrm>
                  <a:off x="3933168" y="4007963"/>
                  <a:ext cx="220681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srsRAN_Project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: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0B92E24-1934-475B-8C5E-87A7F5F0D58C}"/>
                    </a:ext>
                  </a:extLst>
                </p:cNvPr>
                <p:cNvSpPr txBox="1"/>
                <p:nvPr/>
              </p:nvSpPr>
              <p:spPr>
                <a:xfrm>
                  <a:off x="3929357" y="3702301"/>
                  <a:ext cx="220681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srsRAN_Project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: USRP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B8C8F01-0D4B-E516-9B28-D04D18700C28}"/>
                    </a:ext>
                  </a:extLst>
                </p:cNvPr>
                <p:cNvSpPr txBox="1"/>
                <p:nvPr/>
              </p:nvSpPr>
              <p:spPr>
                <a:xfrm>
                  <a:off x="3933168" y="4924949"/>
                  <a:ext cx="220681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: E2 Simulator</a:t>
                  </a: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1692A11-3785-2962-B861-CAA171F11677}"/>
                    </a:ext>
                  </a:extLst>
                </p:cNvPr>
                <p:cNvSpPr txBox="1"/>
                <p:nvPr/>
              </p:nvSpPr>
              <p:spPr>
                <a:xfrm>
                  <a:off x="3941661" y="522745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31BF9939-6DC0-9767-200A-9AA00ED4DFCB}"/>
                    </a:ext>
                  </a:extLst>
                </p:cNvPr>
                <p:cNvSpPr/>
                <p:nvPr/>
              </p:nvSpPr>
              <p:spPr>
                <a:xfrm>
                  <a:off x="3916950" y="4607247"/>
                  <a:ext cx="2239249" cy="3318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590EF321-DED3-3E92-2D8E-023FCA46B884}"/>
                    </a:ext>
                  </a:extLst>
                </p:cNvPr>
                <p:cNvSpPr txBox="1"/>
                <p:nvPr/>
              </p:nvSpPr>
              <p:spPr>
                <a:xfrm>
                  <a:off x="3933168" y="4619287"/>
                  <a:ext cx="220681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: RF Simulator</a:t>
                  </a: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26FE37A3-1994-C0D5-B06F-E32D4E2A9E9D}"/>
                    </a:ext>
                  </a:extLst>
                </p:cNvPr>
                <p:cNvSpPr/>
                <p:nvPr/>
              </p:nvSpPr>
              <p:spPr>
                <a:xfrm>
                  <a:off x="3916951" y="3691197"/>
                  <a:ext cx="2239249" cy="1534218"/>
                </a:xfrm>
                <a:prstGeom prst="roundRect">
                  <a:avLst>
                    <a:gd name="adj" fmla="val 581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738FE746-EA93-3F84-2E49-EB596828B714}"/>
                  </a:ext>
                </a:extLst>
              </p:cNvPr>
              <p:cNvGrpSpPr/>
              <p:nvPr/>
            </p:nvGrpSpPr>
            <p:grpSpPr>
              <a:xfrm>
                <a:off x="778869" y="4232789"/>
                <a:ext cx="2263961" cy="1844033"/>
                <a:chOff x="3916949" y="3691197"/>
                <a:chExt cx="2263961" cy="1844033"/>
              </a:xfrm>
            </p:grpSpPr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06932116-A947-404E-B203-2C38A8952496}"/>
                    </a:ext>
                  </a:extLst>
                </p:cNvPr>
                <p:cNvSpPr/>
                <p:nvPr/>
              </p:nvSpPr>
              <p:spPr>
                <a:xfrm>
                  <a:off x="3916949" y="3692460"/>
                  <a:ext cx="2239249" cy="1531642"/>
                </a:xfrm>
                <a:prstGeom prst="roundRect">
                  <a:avLst>
                    <a:gd name="adj" fmla="val 5859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Rectangle: Top Corners Rounded 40">
                  <a:extLst>
                    <a:ext uri="{FF2B5EF4-FFF2-40B4-BE49-F238E27FC236}">
                      <a16:creationId xmlns:a16="http://schemas.microsoft.com/office/drawing/2014/main" id="{AB9DCAB6-A723-7C47-DA69-4A1D35F5520F}"/>
                    </a:ext>
                  </a:extLst>
                </p:cNvPr>
                <p:cNvSpPr/>
                <p:nvPr/>
              </p:nvSpPr>
              <p:spPr>
                <a:xfrm rot="10800000">
                  <a:off x="3916952" y="4613172"/>
                  <a:ext cx="2239248" cy="323588"/>
                </a:xfrm>
                <a:prstGeom prst="round2SameRect">
                  <a:avLst>
                    <a:gd name="adj1" fmla="val 28890"/>
                    <a:gd name="adj2" fmla="val 0"/>
                  </a:avLst>
                </a:prstGeom>
                <a:solidFill>
                  <a:srgbClr val="F2F2F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059024B3-E725-8F4D-57EF-E266332C0F1D}"/>
                    </a:ext>
                  </a:extLst>
                </p:cNvPr>
                <p:cNvSpPr/>
                <p:nvPr/>
              </p:nvSpPr>
              <p:spPr>
                <a:xfrm>
                  <a:off x="3916951" y="3990559"/>
                  <a:ext cx="2239249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8F539C13-3DA0-CDD5-906F-B7B23E40A3DD}"/>
                    </a:ext>
                  </a:extLst>
                </p:cNvPr>
                <p:cNvSpPr txBox="1"/>
                <p:nvPr/>
              </p:nvSpPr>
              <p:spPr>
                <a:xfrm>
                  <a:off x="3916952" y="4313625"/>
                  <a:ext cx="223924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: USRP</a:t>
                  </a:r>
                </a:p>
              </p:txBody>
            </p:sp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DA83BE73-067A-6A36-CE79-E9C8F7848B03}"/>
                    </a:ext>
                  </a:extLst>
                </p:cNvPr>
                <p:cNvSpPr txBox="1"/>
                <p:nvPr/>
              </p:nvSpPr>
              <p:spPr>
                <a:xfrm>
                  <a:off x="3918857" y="4007963"/>
                  <a:ext cx="223924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srsRAN_4G :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592A8990-5727-46D2-F53B-BB54ADC83038}"/>
                    </a:ext>
                  </a:extLst>
                </p:cNvPr>
                <p:cNvSpPr txBox="1"/>
                <p:nvPr/>
              </p:nvSpPr>
              <p:spPr>
                <a:xfrm>
                  <a:off x="3916951" y="3702301"/>
                  <a:ext cx="2239248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srsRAN_4G : USRP</a:t>
                  </a:r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2E6A652-08FB-05C2-F5D5-25D5E1D5B523}"/>
                    </a:ext>
                  </a:extLst>
                </p:cNvPr>
                <p:cNvSpPr txBox="1"/>
                <p:nvPr/>
              </p:nvSpPr>
              <p:spPr>
                <a:xfrm>
                  <a:off x="3916952" y="4924949"/>
                  <a:ext cx="223924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Mobile Phone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29036365-8CEE-A19F-B173-8499CDCFCABA}"/>
                    </a:ext>
                  </a:extLst>
                </p:cNvPr>
                <p:cNvSpPr txBox="1"/>
                <p:nvPr/>
              </p:nvSpPr>
              <p:spPr>
                <a:xfrm>
                  <a:off x="3941661" y="522745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D925D158-702C-A0D3-8A57-4736AFF32367}"/>
                    </a:ext>
                  </a:extLst>
                </p:cNvPr>
                <p:cNvSpPr/>
                <p:nvPr/>
              </p:nvSpPr>
              <p:spPr>
                <a:xfrm>
                  <a:off x="3916950" y="4611639"/>
                  <a:ext cx="2239249" cy="327496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D8772B8B-14B6-19AA-9DFC-643F7AF6818D}"/>
                    </a:ext>
                  </a:extLst>
                </p:cNvPr>
                <p:cNvSpPr txBox="1"/>
                <p:nvPr/>
              </p:nvSpPr>
              <p:spPr>
                <a:xfrm>
                  <a:off x="3916952" y="4619287"/>
                  <a:ext cx="223924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: RF Simulator</a:t>
                  </a: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A0CE4E09-8DF3-9F5F-9E61-B32DC3A4E44A}"/>
                    </a:ext>
                  </a:extLst>
                </p:cNvPr>
                <p:cNvSpPr/>
                <p:nvPr/>
              </p:nvSpPr>
              <p:spPr>
                <a:xfrm>
                  <a:off x="3916951" y="3691197"/>
                  <a:ext cx="2239249" cy="1534218"/>
                </a:xfrm>
                <a:prstGeom prst="roundRect">
                  <a:avLst>
                    <a:gd name="adj" fmla="val 581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5726D8C5-614D-56A4-C7DA-2AE1FE738FC2}"/>
                  </a:ext>
                </a:extLst>
              </p:cNvPr>
              <p:cNvGrpSpPr/>
              <p:nvPr/>
            </p:nvGrpSpPr>
            <p:grpSpPr>
              <a:xfrm>
                <a:off x="6586191" y="5146289"/>
                <a:ext cx="2239250" cy="930533"/>
                <a:chOff x="6696060" y="5146289"/>
                <a:chExt cx="2239250" cy="930533"/>
              </a:xfrm>
            </p:grpSpPr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820554D9-5169-E86E-F3E1-6FD7B1FB0948}"/>
                    </a:ext>
                  </a:extLst>
                </p:cNvPr>
                <p:cNvGrpSpPr/>
                <p:nvPr/>
              </p:nvGrpSpPr>
              <p:grpSpPr>
                <a:xfrm>
                  <a:off x="6696060" y="5146289"/>
                  <a:ext cx="2239250" cy="618690"/>
                  <a:chOff x="6808092" y="5153909"/>
                  <a:chExt cx="2239250" cy="618690"/>
                </a:xfrm>
              </p:grpSpPr>
              <p:grpSp>
                <p:nvGrpSpPr>
                  <p:cNvPr id="34" name="Group 33">
                    <a:extLst>
                      <a:ext uri="{FF2B5EF4-FFF2-40B4-BE49-F238E27FC236}">
                        <a16:creationId xmlns:a16="http://schemas.microsoft.com/office/drawing/2014/main" id="{0E46935C-6F39-D19A-CFCF-D62A86034828}"/>
                      </a:ext>
                    </a:extLst>
                  </p:cNvPr>
                  <p:cNvGrpSpPr/>
                  <p:nvPr/>
                </p:nvGrpSpPr>
                <p:grpSpPr>
                  <a:xfrm>
                    <a:off x="6808092" y="5153909"/>
                    <a:ext cx="2239249" cy="618690"/>
                    <a:chOff x="4021891" y="2194877"/>
                    <a:chExt cx="2239249" cy="618690"/>
                  </a:xfrm>
                </p:grpSpPr>
                <p:sp>
                  <p:nvSpPr>
                    <p:cNvPr id="37" name="Rectangle: Rounded Corners 36">
                      <a:extLst>
                        <a:ext uri="{FF2B5EF4-FFF2-40B4-BE49-F238E27FC236}">
                          <a16:creationId xmlns:a16="http://schemas.microsoft.com/office/drawing/2014/main" id="{2B8A2F6C-2A67-260F-6F24-A4C6D93DEC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21891" y="2194877"/>
                      <a:ext cx="2239249" cy="618689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rgbClr val="262626"/>
                    </a:solidFill>
                    <a:ln w="28575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38" name="Rectangle: Top Corners Rounded 37">
                      <a:extLst>
                        <a:ext uri="{FF2B5EF4-FFF2-40B4-BE49-F238E27FC236}">
                          <a16:creationId xmlns:a16="http://schemas.microsoft.com/office/drawing/2014/main" id="{DF0159E4-F128-74A1-8A96-41E2DB712167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4022672" y="2504431"/>
                      <a:ext cx="2238468" cy="307778"/>
                    </a:xfrm>
                    <a:prstGeom prst="round2SameRect">
                      <a:avLst>
                        <a:gd name="adj1" fmla="val 28674"/>
                        <a:gd name="adj2" fmla="val 0"/>
                      </a:avLst>
                    </a:prstGeom>
                    <a:solidFill>
                      <a:srgbClr val="3A3A3A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9" name="Rectangle: Rounded Corners 38">
                      <a:extLst>
                        <a:ext uri="{FF2B5EF4-FFF2-40B4-BE49-F238E27FC236}">
                          <a16:creationId xmlns:a16="http://schemas.microsoft.com/office/drawing/2014/main" id="{B5C5DF2A-4F80-58F0-7F14-9A6CAA7EA5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21891" y="2194878"/>
                      <a:ext cx="2239249" cy="618689"/>
                    </a:xfrm>
                    <a:prstGeom prst="roundRect">
                      <a:avLst>
                        <a:gd name="adj" fmla="val 12974"/>
                      </a:avLst>
                    </a:prstGeom>
                    <a:noFill/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p:grp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3DB1D612-0DA6-DFDD-7974-3E9354FCC1D8}"/>
                      </a:ext>
                    </a:extLst>
                  </p:cNvPr>
                  <p:cNvSpPr txBox="1"/>
                  <p:nvPr/>
                </p:nvSpPr>
                <p:spPr>
                  <a:xfrm>
                    <a:off x="6808092" y="5171400"/>
                    <a:ext cx="2239250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: Near-RT RIC</a:t>
                    </a:r>
                  </a:p>
                </p:txBody>
              </p:sp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9F749793-5D51-05F0-271A-74342A22925C}"/>
                      </a:ext>
                    </a:extLst>
                  </p:cNvPr>
                  <p:cNvSpPr txBox="1"/>
                  <p:nvPr/>
                </p:nvSpPr>
                <p:spPr>
                  <a:xfrm>
                    <a:off x="6808092" y="5464822"/>
                    <a:ext cx="2239250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Mosaic5G : FlexRIC</a:t>
                    </a:r>
                  </a:p>
                </p:txBody>
              </p:sp>
            </p:grp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6B54E29-6558-EF44-CA43-59C6ECE36CDF}"/>
                    </a:ext>
                  </a:extLst>
                </p:cNvPr>
                <p:cNvSpPr txBox="1"/>
                <p:nvPr/>
              </p:nvSpPr>
              <p:spPr>
                <a:xfrm>
                  <a:off x="6696060" y="5769045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RIC</a:t>
                  </a:r>
                </a:p>
              </p:txBody>
            </p: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760B8761-A333-E78A-907F-AD48533196CD}"/>
                  </a:ext>
                </a:extLst>
              </p:cNvPr>
              <p:cNvGrpSpPr/>
              <p:nvPr/>
            </p:nvGrpSpPr>
            <p:grpSpPr>
              <a:xfrm>
                <a:off x="9465142" y="5430796"/>
                <a:ext cx="2302213" cy="647296"/>
                <a:chOff x="9110915" y="4521647"/>
                <a:chExt cx="2302213" cy="647296"/>
              </a:xfrm>
            </p:grpSpPr>
            <p:sp>
              <p:nvSpPr>
                <p:cNvPr id="29" name="Rectangle: Rounded Corners 28">
                  <a:extLst>
                    <a:ext uri="{FF2B5EF4-FFF2-40B4-BE49-F238E27FC236}">
                      <a16:creationId xmlns:a16="http://schemas.microsoft.com/office/drawing/2014/main" id="{022DC171-A3EC-050F-5AC8-CA1EDEC48D5E}"/>
                    </a:ext>
                  </a:extLst>
                </p:cNvPr>
                <p:cNvSpPr/>
                <p:nvPr/>
              </p:nvSpPr>
              <p:spPr>
                <a:xfrm>
                  <a:off x="9110917" y="4521647"/>
                  <a:ext cx="2239249" cy="333931"/>
                </a:xfrm>
                <a:prstGeom prst="roundRect">
                  <a:avLst>
                    <a:gd name="adj" fmla="val 28947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8F29ACD-A658-CB33-2DDC-6428BDD4405E}"/>
                    </a:ext>
                  </a:extLst>
                </p:cNvPr>
                <p:cNvSpPr txBox="1"/>
                <p:nvPr/>
              </p:nvSpPr>
              <p:spPr>
                <a:xfrm>
                  <a:off x="9110915" y="4522182"/>
                  <a:ext cx="2238468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: Non-RT RIC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F2D46F8-64B8-9102-13D1-EC6356B1DA86}"/>
                    </a:ext>
                  </a:extLst>
                </p:cNvPr>
                <p:cNvSpPr txBox="1"/>
                <p:nvPr/>
              </p:nvSpPr>
              <p:spPr>
                <a:xfrm>
                  <a:off x="9173879" y="4861166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Non-RT RIC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362</Words>
  <Application>Microsoft Office PowerPoint</Application>
  <PresentationFormat>Widescreen</PresentationFormat>
  <Paragraphs>124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42</cp:revision>
  <dcterms:created xsi:type="dcterms:W3CDTF">2025-03-21T23:15:08Z</dcterms:created>
  <dcterms:modified xsi:type="dcterms:W3CDTF">2025-03-27T18:55:41Z</dcterms:modified>
</cp:coreProperties>
</file>