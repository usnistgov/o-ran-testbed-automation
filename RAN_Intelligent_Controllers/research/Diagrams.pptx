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2" r:id="rId4"/>
    <p:sldId id="263" r:id="rId5"/>
    <p:sldId id="264" r:id="rId6"/>
    <p:sldId id="265" r:id="rId7"/>
    <p:sldId id="259" r:id="rId8"/>
    <p:sldId id="261" r:id="rId9"/>
    <p:sldId id="260" r:id="rId10"/>
    <p:sldId id="266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262626"/>
    <a:srgbClr val="F2F2F2"/>
    <a:srgbClr val="0D1117"/>
    <a:srgbClr val="FF7B61"/>
    <a:srgbClr val="C40E00"/>
    <a:srgbClr val="FF6600"/>
    <a:srgbClr val="D9D9D9"/>
    <a:srgbClr val="171717"/>
    <a:srgbClr val="3030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93" autoAdjust="0"/>
    <p:restoredTop sz="94660"/>
  </p:normalViewPr>
  <p:slideViewPr>
    <p:cSldViewPr snapToGrid="0">
      <p:cViewPr varScale="1">
        <p:scale>
          <a:sx n="57" d="100"/>
          <a:sy n="57" d="100"/>
        </p:scale>
        <p:origin x="82" y="1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F7139A-69AE-81EE-E5D4-5C329D8B48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DD538E-ABAC-5449-81C6-603BD72993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92200B-A96D-582A-A2B1-08C2F16B75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67C78B-533A-3A95-16F7-34A7120E15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CC890-A6FF-6D69-03ED-D2D8B4CD7E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477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198FE0-9026-0E59-C841-0AA5F78C2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D326C-D9EE-F0F9-7816-4417D58F9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38E1B4-3671-B19F-D3C1-2D4B4F75F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C5305B-8A65-3BC5-B1E8-F5AC68ED5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EE9F5B-AB7C-7FC0-53BA-49AA3573D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0946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6B182-3F86-216A-A65D-A275C66D1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4A2DFE-28B5-0712-9D73-76C6A1629D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E83783-13F7-268E-D1F1-3AD45A9CB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AAC952-ECF1-B048-A635-E181789B0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3FC58E-FA6C-14C3-F325-E6D8AB121B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491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ACB0F-6B9C-0840-CB06-8619997B6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8108B-7CFA-DFC8-5F7A-0788A62E62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96D72A-DA13-B836-292E-359B2321B1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B0474C-9D01-0B8D-4289-522B7F6E29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AC3E3A-38F9-0A53-DC8F-E1E3A24FA3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A85CE0B-802C-F764-7F1A-7FB62605E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2603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5685A-033F-7273-1179-EC2B9279A5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2FA68A-4479-D09B-72B5-23B4E08CF8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4EF774-6318-0EE6-4181-3EF31F4BA0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F16BD4-704E-4BAF-CCB4-CC010C81360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A90820-174E-CFF7-9F27-22AB6D9B85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45FDBA-88C2-60E4-CF11-D0C5FB668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526508-E48F-0CF7-1614-566E0E5CD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52B0C8-4986-F1E2-5C91-BC2D99431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03057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9CAE2-6F5F-7CE8-0D71-ACB91A4B8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E5E030-0ABF-95B7-0CEC-E66CC95E34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5F2FDA-6DA6-9BAB-2D24-005D8C070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56024C-60C4-94DD-C7EA-C2AA1E820E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85743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C4A3FAA-3025-C2A3-E262-C6103A4F91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A48D57-270A-89BB-EF2C-E3CCAF3EC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EFEF9-6610-3B57-0863-00894F94D4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632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643DE4-3AEA-28C6-E5CD-AC99A49E7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453DB-6AE6-32D8-BFE3-4EDC600E4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AEDCAE-D717-76E8-A071-B6F84AF34B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F8D449-ACA5-C79B-CDA4-6823F66F5A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3AA32F-53C9-24B0-EDAE-A4FB580464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216677-7D7D-F77A-0483-0E9102F66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0037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3022C7-F13F-F9F0-E772-E64A406F28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552DFE9-0972-7703-8F69-A4BDC19A113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3CBA7-952D-BA5E-BD4D-91C1BF624D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4178F9-CDD3-2868-CA2C-B9C8E40CD3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1A772C-DF9F-EF41-8EAF-9FF62DB178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111318-451C-7C5A-09FB-6402F63CB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6301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0EFF38-177E-B94C-68F8-413D73FFC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E922E8-CFF2-5735-D715-BD06B7E8972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35612-693D-C740-6011-AFA1F32D79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2E78C-7A23-173A-1755-B33C9DD694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C841B-641B-D114-5F84-0215E4294C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8990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1E36EB5-067A-BD48-B8FD-32F2E05A502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292769-E4A3-80AD-221D-25A65CEB0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76F84A-A29E-1223-AC75-AFF9987E7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1ABCA4-FA17-DADC-CBB2-8CBCD1A9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2473B9-8C5C-2C98-01D6-976109111F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224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BC8D403-29FC-1986-2CDF-FC2F8A8C5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3665-B61A-4F16-9813-197300C6DF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744C0D-FA32-AE9D-7CFC-EA19473AEA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D1DF383-F48D-4C35-882C-8A26F25E24F6}" type="datetimeFigureOut">
              <a:rPr lang="en-US" smtClean="0"/>
              <a:t>8/22/2025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C3ED5-280B-A8C0-897F-F10E397435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20D48E-734C-1C7D-2E36-81DB0642D6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0A9256-4D1F-4286-8850-6BE354E678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8579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2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2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2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6.svg"/><Relationship Id="rId3" Type="http://schemas.openxmlformats.org/officeDocument/2006/relationships/image" Target="../media/image12.svg"/><Relationship Id="rId7" Type="http://schemas.openxmlformats.org/officeDocument/2006/relationships/image" Target="../media/image16.svg"/><Relationship Id="rId12" Type="http://schemas.openxmlformats.org/officeDocument/2006/relationships/image" Target="../media/image25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11" Type="http://schemas.openxmlformats.org/officeDocument/2006/relationships/image" Target="../media/image20.svg"/><Relationship Id="rId5" Type="http://schemas.openxmlformats.org/officeDocument/2006/relationships/image" Target="../media/image14.svg"/><Relationship Id="rId15" Type="http://schemas.openxmlformats.org/officeDocument/2006/relationships/image" Target="../media/image28.sv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svg"/><Relationship Id="rId1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3.png"/><Relationship Id="rId5" Type="http://schemas.openxmlformats.org/officeDocument/2006/relationships/image" Target="../media/image32.jpeg"/><Relationship Id="rId4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oup 19">
            <a:extLst>
              <a:ext uri="{FF2B5EF4-FFF2-40B4-BE49-F238E27FC236}">
                <a16:creationId xmlns:a16="http://schemas.microsoft.com/office/drawing/2014/main" id="{A37AE9EC-B476-11AD-7BE2-0D56AF3945BE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1">
                          <a:lumMod val="9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bg1"/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/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2062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sp>
          <p:nvSpPr>
            <p:cNvPr id="186" name="Rectangle: Rounded Corners 185">
              <a:extLst>
                <a:ext uri="{FF2B5EF4-FFF2-40B4-BE49-F238E27FC236}">
                  <a16:creationId xmlns:a16="http://schemas.microsoft.com/office/drawing/2014/main" id="{741AD84D-B1A3-9C27-B906-C7D6270533F0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9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tx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603208" y="379331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FC2D553-68D7-15E4-624E-B769E1CCDB30}"/>
                </a:ext>
              </a:extLst>
            </p:cNvPr>
            <p:cNvCxnSpPr>
              <a:stCxn id="116" idx="3"/>
              <a:endCxn id="186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A33E3A0D-5D50-B8ED-78D7-557C25CFA0AF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16" name="Group 15">
                <a:extLst>
                  <a:ext uri="{FF2B5EF4-FFF2-40B4-BE49-F238E27FC236}">
                    <a16:creationId xmlns:a16="http://schemas.microsoft.com/office/drawing/2014/main" id="{5A0D4E12-3FC9-6E87-DF0E-6D25592C3931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207" name="Rectangle: Rounded Corners 206">
                  <a:extLst>
                    <a:ext uri="{FF2B5EF4-FFF2-40B4-BE49-F238E27FC236}">
                      <a16:creationId xmlns:a16="http://schemas.microsoft.com/office/drawing/2014/main" id="{2AD042C8-D8C8-686C-04E3-C1DA9627FCD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4" name="Group 13">
                  <a:extLst>
                    <a:ext uri="{FF2B5EF4-FFF2-40B4-BE49-F238E27FC236}">
                      <a16:creationId xmlns:a16="http://schemas.microsoft.com/office/drawing/2014/main" id="{97F1E941-3E13-49C5-7690-78ACF6050DEF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8" name="Group 7">
                    <a:extLst>
                      <a:ext uri="{FF2B5EF4-FFF2-40B4-BE49-F238E27FC236}">
                        <a16:creationId xmlns:a16="http://schemas.microsoft.com/office/drawing/2014/main" id="{404898D3-6C70-464B-8171-22EBA9BA462E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115" name="Oval 114">
                      <a:extLst>
                        <a:ext uri="{FF2B5EF4-FFF2-40B4-BE49-F238E27FC236}">
                          <a16:creationId xmlns:a16="http://schemas.microsoft.com/office/drawing/2014/main" id="{A4F59B52-4707-44C3-A7FB-893C92767A45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7" name="Oval 116">
                      <a:extLst>
                        <a:ext uri="{FF2B5EF4-FFF2-40B4-BE49-F238E27FC236}">
                          <a16:creationId xmlns:a16="http://schemas.microsoft.com/office/drawing/2014/main" id="{6AE6F000-4645-4D6E-B014-5F446A29015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119" name="Oval 118">
                      <a:extLst>
                        <a:ext uri="{FF2B5EF4-FFF2-40B4-BE49-F238E27FC236}">
                          <a16:creationId xmlns:a16="http://schemas.microsoft.com/office/drawing/2014/main" id="{D5F18A58-7DC6-478B-AD16-813A33502DD2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tx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9" name="Group 8">
                    <a:extLst>
                      <a:ext uri="{FF2B5EF4-FFF2-40B4-BE49-F238E27FC236}">
                        <a16:creationId xmlns:a16="http://schemas.microsoft.com/office/drawing/2014/main" id="{1F3106DC-80E8-FB39-EE47-D21D07164908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3" name="Rectangle: Rounded Corners 2">
                      <a:extLst>
                        <a:ext uri="{FF2B5EF4-FFF2-40B4-BE49-F238E27FC236}">
                          <a16:creationId xmlns:a16="http://schemas.microsoft.com/office/drawing/2014/main" id="{676FA5F0-9072-6328-5AD3-0AA5C4AC01F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4" name="TextBox 3">
                      <a:extLst>
                        <a:ext uri="{FF2B5EF4-FFF2-40B4-BE49-F238E27FC236}">
                          <a16:creationId xmlns:a16="http://schemas.microsoft.com/office/drawing/2014/main" id="{D9774F6E-6E79-9D5C-73CD-F37E2DAA19D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7" name="Group 6">
                    <a:extLst>
                      <a:ext uri="{FF2B5EF4-FFF2-40B4-BE49-F238E27FC236}">
                        <a16:creationId xmlns:a16="http://schemas.microsoft.com/office/drawing/2014/main" id="{A3472C23-380D-F6B9-4577-FCC39ACC3639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5" name="Rectangle: Rounded Corners 4">
                      <a:extLst>
                        <a:ext uri="{FF2B5EF4-FFF2-40B4-BE49-F238E27FC236}">
                          <a16:creationId xmlns:a16="http://schemas.microsoft.com/office/drawing/2014/main" id="{93AA82A3-42FB-C756-FA83-779EA158E1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1"/>
                    </a:solidFill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6" name="TextBox 5">
                      <a:extLst>
                        <a:ext uri="{FF2B5EF4-FFF2-40B4-BE49-F238E27FC236}">
                          <a16:creationId xmlns:a16="http://schemas.microsoft.com/office/drawing/2014/main" id="{728182E5-8037-AF99-606B-1CBB93A73E3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18" name="Group 17">
                <a:extLst>
                  <a:ext uri="{FF2B5EF4-FFF2-40B4-BE49-F238E27FC236}">
                    <a16:creationId xmlns:a16="http://schemas.microsoft.com/office/drawing/2014/main" id="{13B2248C-E438-FBC9-EDBF-1D9B2A1601B0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176" name="TextBox 175">
                  <a:extLst>
                    <a:ext uri="{FF2B5EF4-FFF2-40B4-BE49-F238E27FC236}">
                      <a16:creationId xmlns:a16="http://schemas.microsoft.com/office/drawing/2014/main" id="{A0649D89-E505-22A1-9F9B-838D485FC1C7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</p:txBody>
            </p:sp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63AF03B5-ABEE-6A9E-0665-4E76E054C4D7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31181890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53561E3-B989-B4E1-7890-4F36A45A1188}"/>
              </a:ext>
            </a:extLst>
          </p:cNvPr>
          <p:cNvGrpSpPr/>
          <p:nvPr/>
        </p:nvGrpSpPr>
        <p:grpSpPr>
          <a:xfrm>
            <a:off x="2008561" y="1641915"/>
            <a:ext cx="8174878" cy="3574169"/>
            <a:chOff x="2008561" y="1641915"/>
            <a:chExt cx="8174878" cy="3574169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873769" y="1749715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sp>
          <p:nvSpPr>
            <p:cNvPr id="345" name="TextBox 344">
              <a:extLst>
                <a:ext uri="{FF2B5EF4-FFF2-40B4-BE49-F238E27FC236}">
                  <a16:creationId xmlns:a16="http://schemas.microsoft.com/office/drawing/2014/main" id="{934EF4DA-BF0E-CE3A-E425-F1FE25767794}"/>
                </a:ext>
              </a:extLst>
            </p:cNvPr>
            <p:cNvSpPr txBox="1"/>
            <p:nvPr/>
          </p:nvSpPr>
          <p:spPr>
            <a:xfrm>
              <a:off x="7388464" y="2361104"/>
              <a:ext cx="2648142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Non-RT RIC</a:t>
              </a:r>
            </a:p>
          </p:txBody>
        </p: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2008561" y="1641915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E0FC3736-1AD3-51F7-FF1E-A65B147E173B}"/>
                </a:ext>
              </a:extLst>
            </p:cNvPr>
            <p:cNvGrpSpPr/>
            <p:nvPr/>
          </p:nvGrpSpPr>
          <p:grpSpPr>
            <a:xfrm>
              <a:off x="2138333" y="3359303"/>
              <a:ext cx="2912140" cy="1614827"/>
              <a:chOff x="739346" y="2194877"/>
              <a:chExt cx="2912140" cy="1614827"/>
            </a:xfrm>
          </p:grpSpPr>
          <p:grpSp>
            <p:nvGrpSpPr>
              <p:cNvPr id="103" name="Group 102">
                <a:extLst>
                  <a:ext uri="{FF2B5EF4-FFF2-40B4-BE49-F238E27FC236}">
                    <a16:creationId xmlns:a16="http://schemas.microsoft.com/office/drawing/2014/main" id="{399C3882-C87A-011B-0BCD-46C25509AA50}"/>
                  </a:ext>
                </a:extLst>
              </p:cNvPr>
              <p:cNvGrpSpPr/>
              <p:nvPr/>
            </p:nvGrpSpPr>
            <p:grpSpPr>
              <a:xfrm>
                <a:off x="739346" y="2194877"/>
                <a:ext cx="2912140" cy="1233863"/>
                <a:chOff x="1605224" y="1599108"/>
                <a:chExt cx="2912140" cy="1233863"/>
              </a:xfrm>
            </p:grpSpPr>
            <p:sp>
              <p:nvSpPr>
                <p:cNvPr id="99" name="TextBox 98">
                  <a:extLst>
                    <a:ext uri="{FF2B5EF4-FFF2-40B4-BE49-F238E27FC236}">
                      <a16:creationId xmlns:a16="http://schemas.microsoft.com/office/drawing/2014/main" id="{B2146AB4-4D02-128A-EC98-CAF89459C873}"/>
                    </a:ext>
                  </a:extLst>
                </p:cNvPr>
                <p:cNvSpPr txBox="1"/>
                <p:nvPr/>
              </p:nvSpPr>
              <p:spPr>
                <a:xfrm>
                  <a:off x="1605224" y="2525194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User Equipment</a:t>
                  </a:r>
                </a:p>
              </p:txBody>
            </p:sp>
            <p:grpSp>
              <p:nvGrpSpPr>
                <p:cNvPr id="102" name="Group 101">
                  <a:extLst>
                    <a:ext uri="{FF2B5EF4-FFF2-40B4-BE49-F238E27FC236}">
                      <a16:creationId xmlns:a16="http://schemas.microsoft.com/office/drawing/2014/main" id="{19888747-9170-E4AD-78F2-2081289DA324}"/>
                    </a:ext>
                  </a:extLst>
                </p:cNvPr>
                <p:cNvGrpSpPr/>
                <p:nvPr/>
              </p:nvGrpSpPr>
              <p:grpSpPr>
                <a:xfrm>
                  <a:off x="1605224" y="1599108"/>
                  <a:ext cx="2912140" cy="923272"/>
                  <a:chOff x="1605224" y="1599108"/>
                  <a:chExt cx="2912140" cy="923272"/>
                </a:xfrm>
              </p:grpSpPr>
              <p:grpSp>
                <p:nvGrpSpPr>
                  <p:cNvPr id="98" name="Group 97">
                    <a:extLst>
                      <a:ext uri="{FF2B5EF4-FFF2-40B4-BE49-F238E27FC236}">
                        <a16:creationId xmlns:a16="http://schemas.microsoft.com/office/drawing/2014/main" id="{634D968C-4907-C8AB-1683-500984EDAB8F}"/>
                      </a:ext>
                    </a:extLst>
                  </p:cNvPr>
                  <p:cNvGrpSpPr/>
                  <p:nvPr/>
                </p:nvGrpSpPr>
                <p:grpSpPr>
                  <a:xfrm>
                    <a:off x="1605224" y="1599108"/>
                    <a:ext cx="2283381" cy="923272"/>
                    <a:chOff x="1746885" y="5238877"/>
                    <a:chExt cx="2283381" cy="923272"/>
                  </a:xfrm>
                </p:grpSpPr>
                <p:grpSp>
                  <p:nvGrpSpPr>
                    <p:cNvPr id="91" name="Group 90">
                      <a:extLst>
                        <a:ext uri="{FF2B5EF4-FFF2-40B4-BE49-F238E27FC236}">
                          <a16:creationId xmlns:a16="http://schemas.microsoft.com/office/drawing/2014/main" id="{100CEE3F-0B1F-51C4-640B-525CC77D175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746885" y="5238877"/>
                      <a:ext cx="2239249" cy="923272"/>
                      <a:chOff x="1590040" y="5303322"/>
                      <a:chExt cx="2374765" cy="923272"/>
                    </a:xfrm>
                  </p:grpSpPr>
                  <p:sp>
                    <p:nvSpPr>
                      <p:cNvPr id="90" name="Rectangle: Rounded Corners 89">
                        <a:extLst>
                          <a:ext uri="{FF2B5EF4-FFF2-40B4-BE49-F238E27FC236}">
                            <a16:creationId xmlns:a16="http://schemas.microsoft.com/office/drawing/2014/main" id="{6FBF2E9F-5D77-9ADE-7152-C81C1A733C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466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87" name="Rectangle 86">
                        <a:extLst>
                          <a:ext uri="{FF2B5EF4-FFF2-40B4-BE49-F238E27FC236}">
                            <a16:creationId xmlns:a16="http://schemas.microsoft.com/office/drawing/2014/main" id="{2226E9FD-9D7F-477B-5597-2AEA05E3F34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603165"/>
                        <a:ext cx="2374765" cy="323587"/>
                      </a:xfrm>
                      <a:prstGeom prst="rect">
                        <a:avLst/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88" name="Rectangle: Rounded Corners 87">
                        <a:extLst>
                          <a:ext uri="{FF2B5EF4-FFF2-40B4-BE49-F238E27FC236}">
                            <a16:creationId xmlns:a16="http://schemas.microsoft.com/office/drawing/2014/main" id="{87BCEB7F-0233-D2C1-3A52-344B63D9C7C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590040" y="5303322"/>
                        <a:ext cx="2374765" cy="923272"/>
                      </a:xfrm>
                      <a:prstGeom prst="roundRect">
                        <a:avLst>
                          <a:gd name="adj" fmla="val 9879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83" name="TextBox 82">
                      <a:extLst>
                        <a:ext uri="{FF2B5EF4-FFF2-40B4-BE49-F238E27FC236}">
                          <a16:creationId xmlns:a16="http://schemas.microsoft.com/office/drawing/2014/main" id="{048302D5-242E-EB61-E965-DD80D6F6BCB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848816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84" name="TextBox 83">
                      <a:extLst>
                        <a:ext uri="{FF2B5EF4-FFF2-40B4-BE49-F238E27FC236}">
                          <a16:creationId xmlns:a16="http://schemas.microsoft.com/office/drawing/2014/main" id="{4F24F3AA-FD33-1A2E-0461-D2F1702107F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549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5G Mobile Phone</a:t>
                      </a:r>
                    </a:p>
                  </p:txBody>
                </p:sp>
                <p:sp>
                  <p:nvSpPr>
                    <p:cNvPr id="85" name="TextBox 84">
                      <a:extLst>
                        <a:ext uri="{FF2B5EF4-FFF2-40B4-BE49-F238E27FC236}">
                          <a16:creationId xmlns:a16="http://schemas.microsoft.com/office/drawing/2014/main" id="{C39D088B-736E-499D-7E43-E5FB7908AB3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060863" y="5250764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93" name="Graphic 92" descr="Smart Phone with solid fill">
                      <a:extLst>
                        <a:ext uri="{FF2B5EF4-FFF2-40B4-BE49-F238E27FC236}">
                          <a16:creationId xmlns:a16="http://schemas.microsoft.com/office/drawing/2014/main" id="{7F860B22-AFCA-FBEB-515A-AE4BE6CE5C77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2">
                      <a:extLst>
                        <a:ext uri="{96DAC541-7B7A-43D3-8B79-37D633B846F1}">
                          <asvg:svgBlip xmlns:asvg="http://schemas.microsoft.com/office/drawing/2016/SVG/main" r:embed="rId3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94659" y="5582141"/>
                      <a:ext cx="221508" cy="221506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5" name="Graphic 94">
                      <a:extLst>
                        <a:ext uri="{FF2B5EF4-FFF2-40B4-BE49-F238E27FC236}">
                          <a16:creationId xmlns:a16="http://schemas.microsoft.com/office/drawing/2014/main" id="{617038CE-6DA9-9CAA-9364-7DF6A08B02DC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1876918" y="5880130"/>
                      <a:ext cx="256990" cy="256990"/>
                    </a:xfrm>
                    <a:prstGeom prst="rect">
                      <a:avLst/>
                    </a:prstGeom>
                  </p:spPr>
                </p:pic>
                <p:pic>
                  <p:nvPicPr>
                    <p:cNvPr id="97" name="Graphic 96" descr="Wireless router with solid fill">
                      <a:extLst>
                        <a:ext uri="{FF2B5EF4-FFF2-40B4-BE49-F238E27FC236}">
                          <a16:creationId xmlns:a16="http://schemas.microsoft.com/office/drawing/2014/main" id="{C1D75D05-771C-FCE4-A7D9-F5E220AECAA2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6">
                      <a:extLst>
                        <a:ext uri="{96DAC541-7B7A-43D3-8B79-37D633B846F1}">
                          <asvg:svgBlip xmlns:asvg="http://schemas.microsoft.com/office/drawing/2016/SVG/main" r:embed="rId7"/>
                        </a:ext>
                      </a:extLst>
                    </a:blip>
                    <a:stretch>
                      <a:fillRect/>
                    </a:stretch>
                  </p:blipFill>
                  <p:spPr>
                    <a:xfrm>
                      <a:off x="1888554" y="5271939"/>
                      <a:ext cx="233719" cy="233719"/>
                    </a:xfrm>
                    <a:prstGeom prst="rect">
                      <a:avLst/>
                    </a:prstGeom>
                  </p:spPr>
                </p:pic>
              </p:grpSp>
              <p:pic>
                <p:nvPicPr>
                  <p:cNvPr id="101" name="Graphic 100" descr="Wi-Fi outline">
                    <a:extLst>
                      <a:ext uri="{FF2B5EF4-FFF2-40B4-BE49-F238E27FC236}">
                        <a16:creationId xmlns:a16="http://schemas.microsoft.com/office/drawing/2014/main" id="{14C1A9D5-3BE8-3F42-0ADC-45CA9C9FF4E8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5400000">
                    <a:off x="3682389" y="1643257"/>
                    <a:ext cx="834976" cy="834975"/>
                  </a:xfrm>
                  <a:prstGeom prst="rect">
                    <a:avLst/>
                  </a:prstGeom>
                </p:spPr>
              </p:pic>
            </p:grpSp>
          </p:grpSp>
          <p:sp>
            <p:nvSpPr>
              <p:cNvPr id="168" name="TextBox 167">
                <a:extLst>
                  <a:ext uri="{FF2B5EF4-FFF2-40B4-BE49-F238E27FC236}">
                    <a16:creationId xmlns:a16="http://schemas.microsoft.com/office/drawing/2014/main" id="{A648D526-E6A7-758D-E005-A3FD81A65DAB}"/>
                  </a:ext>
                </a:extLst>
              </p:cNvPr>
              <p:cNvSpPr txBox="1"/>
              <p:nvPr/>
            </p:nvSpPr>
            <p:spPr>
              <a:xfrm>
                <a:off x="1200150" y="3348039"/>
                <a:ext cx="177844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</p:txBody>
          </p:sp>
        </p:grpSp>
        <p:grpSp>
          <p:nvGrpSpPr>
            <p:cNvPr id="172" name="Group 171">
              <a:extLst>
                <a:ext uri="{FF2B5EF4-FFF2-40B4-BE49-F238E27FC236}">
                  <a16:creationId xmlns:a16="http://schemas.microsoft.com/office/drawing/2014/main" id="{E3CC935D-0E71-4D0A-CE18-B6151B8FFE1D}"/>
                </a:ext>
              </a:extLst>
            </p:cNvPr>
            <p:cNvGrpSpPr/>
            <p:nvPr/>
          </p:nvGrpSpPr>
          <p:grpSpPr>
            <a:xfrm>
              <a:off x="4750317" y="3403452"/>
              <a:ext cx="2953942" cy="1755142"/>
              <a:chOff x="3351330" y="2239026"/>
              <a:chExt cx="2953942" cy="1755142"/>
            </a:xfrm>
          </p:grpSpPr>
          <p:grpSp>
            <p:nvGrpSpPr>
              <p:cNvPr id="166" name="Group 165">
                <a:extLst>
                  <a:ext uri="{FF2B5EF4-FFF2-40B4-BE49-F238E27FC236}">
                    <a16:creationId xmlns:a16="http://schemas.microsoft.com/office/drawing/2014/main" id="{52BFB7AD-7AC6-A48C-0960-639E212C7C00}"/>
                  </a:ext>
                </a:extLst>
              </p:cNvPr>
              <p:cNvGrpSpPr/>
              <p:nvPr/>
            </p:nvGrpSpPr>
            <p:grpSpPr>
              <a:xfrm>
                <a:off x="3351330" y="2239026"/>
                <a:ext cx="2953942" cy="1189714"/>
                <a:chOff x="3351330" y="2239026"/>
                <a:chExt cx="2953942" cy="1189714"/>
              </a:xfrm>
            </p:grpSpPr>
            <p:sp>
              <p:nvSpPr>
                <p:cNvPr id="105" name="TextBox 104">
                  <a:extLst>
                    <a:ext uri="{FF2B5EF4-FFF2-40B4-BE49-F238E27FC236}">
                      <a16:creationId xmlns:a16="http://schemas.microsoft.com/office/drawing/2014/main" id="{DBAFB9D3-DC62-A48E-411E-317A70A9B3AB}"/>
                    </a:ext>
                  </a:extLst>
                </p:cNvPr>
                <p:cNvSpPr txBox="1"/>
                <p:nvPr/>
              </p:nvSpPr>
              <p:spPr>
                <a:xfrm>
                  <a:off x="4021891" y="3120963"/>
                  <a:ext cx="2239249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Next Generation Node B</a:t>
                  </a:r>
                </a:p>
              </p:txBody>
            </p:sp>
            <p:grpSp>
              <p:nvGrpSpPr>
                <p:cNvPr id="165" name="Group 164">
                  <a:extLst>
                    <a:ext uri="{FF2B5EF4-FFF2-40B4-BE49-F238E27FC236}">
                      <a16:creationId xmlns:a16="http://schemas.microsoft.com/office/drawing/2014/main" id="{94B6153A-628D-51A2-53C1-51D9E895F02A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834976"/>
                  <a:chOff x="3351330" y="2239026"/>
                  <a:chExt cx="2953942" cy="834976"/>
                </a:xfrm>
              </p:grpSpPr>
              <p:pic>
                <p:nvPicPr>
                  <p:cNvPr id="150" name="Graphic 149" descr="Wi-Fi outline">
                    <a:extLst>
                      <a:ext uri="{FF2B5EF4-FFF2-40B4-BE49-F238E27FC236}">
                        <a16:creationId xmlns:a16="http://schemas.microsoft.com/office/drawing/2014/main" id="{A4384971-E0FA-83AB-3ECA-EA68B536312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>
                    <a:extLst>
                      <a:ext uri="{96DAC541-7B7A-43D3-8B79-37D633B846F1}">
                        <asvg:svgBlip xmlns:asvg="http://schemas.microsoft.com/office/drawing/2016/SVG/main" r:embed="rId9"/>
                      </a:ext>
                    </a:extLst>
                  </a:blip>
                  <a:stretch>
                    <a:fillRect/>
                  </a:stretch>
                </p:blipFill>
                <p:spPr>
                  <a:xfrm rot="16200000" flipH="1">
                    <a:off x="3351330" y="2239026"/>
                    <a:ext cx="834976" cy="834975"/>
                  </a:xfrm>
                  <a:prstGeom prst="rect">
                    <a:avLst/>
                  </a:prstGeom>
                </p:spPr>
              </p:pic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FEDF8195-14CB-11B2-B6D5-E25DE2BBA929}"/>
                      </a:ext>
                    </a:extLst>
                  </p:cNvPr>
                  <p:cNvGrpSpPr/>
                  <p:nvPr/>
                </p:nvGrpSpPr>
                <p:grpSpPr>
                  <a:xfrm>
                    <a:off x="4021891" y="2347277"/>
                    <a:ext cx="2283381" cy="618690"/>
                    <a:chOff x="4021891" y="2194877"/>
                    <a:chExt cx="2283381" cy="618690"/>
                  </a:xfrm>
                </p:grpSpPr>
                <p:grpSp>
                  <p:nvGrpSpPr>
                    <p:cNvPr id="157" name="Group 156">
                      <a:extLst>
                        <a:ext uri="{FF2B5EF4-FFF2-40B4-BE49-F238E27FC236}">
                          <a16:creationId xmlns:a16="http://schemas.microsoft.com/office/drawing/2014/main" id="{26375E39-3569-ADBB-F1AE-67A9EF281BC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21891" y="2194877"/>
                      <a:ext cx="2239249" cy="618690"/>
                      <a:chOff x="4021891" y="2194877"/>
                      <a:chExt cx="2239249" cy="618690"/>
                    </a:xfrm>
                  </p:grpSpPr>
                  <p:sp>
                    <p:nvSpPr>
                      <p:cNvPr id="116" name="Rectangle: Rounded Corners 115">
                        <a:extLst>
                          <a:ext uri="{FF2B5EF4-FFF2-40B4-BE49-F238E27FC236}">
                            <a16:creationId xmlns:a16="http://schemas.microsoft.com/office/drawing/2014/main" id="{763E022C-45EC-17F5-4D28-50ED4E68B3D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7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solidFill>
                        <a:schemeClr val="bg2">
                          <a:lumMod val="25000"/>
                        </a:schemeClr>
                      </a:solidFill>
                      <a:ln w="28575"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sp>
                    <p:nvSpPr>
                      <p:cNvPr id="154" name="Rectangle: Top Corners Rounded 153">
                        <a:extLst>
                          <a:ext uri="{FF2B5EF4-FFF2-40B4-BE49-F238E27FC236}">
                            <a16:creationId xmlns:a16="http://schemas.microsoft.com/office/drawing/2014/main" id="{FC1DFCF3-A2B2-8659-C2ED-0301735E43E7}"/>
                          </a:ext>
                        </a:extLst>
                      </p:cNvPr>
                      <p:cNvSpPr/>
                      <p:nvPr/>
                    </p:nvSpPr>
                    <p:spPr>
                      <a:xfrm flipV="1">
                        <a:off x="4022672" y="2504431"/>
                        <a:ext cx="2238468" cy="307778"/>
                      </a:xfrm>
                      <a:prstGeom prst="round2SameRect">
                        <a:avLst>
                          <a:gd name="adj1" fmla="val 28674"/>
                          <a:gd name="adj2" fmla="val 0"/>
                        </a:avLst>
                      </a:prstGeom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n>
                        <a:noFill/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>
                          <a:solidFill>
                            <a:schemeClr val="bg1"/>
                          </a:solidFill>
                        </a:endParaRPr>
                      </a:p>
                    </p:txBody>
                  </p:sp>
                  <p:sp>
                    <p:nvSpPr>
                      <p:cNvPr id="118" name="Rectangle: Rounded Corners 117">
                        <a:extLst>
                          <a:ext uri="{FF2B5EF4-FFF2-40B4-BE49-F238E27FC236}">
                            <a16:creationId xmlns:a16="http://schemas.microsoft.com/office/drawing/2014/main" id="{B5766D04-B969-3849-BAD6-E5FBF42BA6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4021891" y="2194878"/>
                        <a:ext cx="2239249" cy="618689"/>
                      </a:xfrm>
                      <a:prstGeom prst="roundRect">
                        <a:avLst>
                          <a:gd name="adj" fmla="val 12974"/>
                        </a:avLst>
                      </a:prstGeom>
                      <a:noFill/>
                      <a:ln w="12700">
                        <a:solidFill>
                          <a:schemeClr val="bg1"/>
                        </a:solidFill>
                      </a:ln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</p:grpSp>
                <p:sp>
                  <p:nvSpPr>
                    <p:cNvPr id="158" name="TextBox 157">
                      <a:extLst>
                        <a:ext uri="{FF2B5EF4-FFF2-40B4-BE49-F238E27FC236}">
                          <a16:creationId xmlns:a16="http://schemas.microsoft.com/office/drawing/2014/main" id="{118DB05C-DAB0-A421-F073-A792FE4EAAA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202843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Software-Defined Radio</a:t>
                      </a:r>
                    </a:p>
                  </p:txBody>
                </p:sp>
                <p:pic>
                  <p:nvPicPr>
                    <p:cNvPr id="159" name="Graphic 158">
                      <a:extLst>
                        <a:ext uri="{FF2B5EF4-FFF2-40B4-BE49-F238E27FC236}">
                          <a16:creationId xmlns:a16="http://schemas.microsoft.com/office/drawing/2014/main" id="{D29AD5AF-3219-6D63-1EA7-142390B52B38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10">
                      <a:extLst>
                        <a:ext uri="{96DAC541-7B7A-43D3-8B79-37D633B846F1}">
                          <asvg:svgBlip xmlns:asvg="http://schemas.microsoft.com/office/drawing/2016/SVG/main" r:embed="rId11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34842" y="2215325"/>
                      <a:ext cx="289426" cy="289426"/>
                    </a:xfrm>
                    <a:prstGeom prst="rect">
                      <a:avLst/>
                    </a:prstGeom>
                  </p:spPr>
                </p:pic>
                <p:sp>
                  <p:nvSpPr>
                    <p:cNvPr id="162" name="TextBox 161">
                      <a:extLst>
                        <a:ext uri="{FF2B5EF4-FFF2-40B4-BE49-F238E27FC236}">
                          <a16:creationId xmlns:a16="http://schemas.microsoft.com/office/drawing/2014/main" id="{0BF92B8E-1B5B-2C80-D2F6-A643170519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335869" y="2505790"/>
                      <a:ext cx="1969403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RF Simulator / </a:t>
                      </a:r>
                      <a:r>
                        <a:rPr lang="en-US" sz="1400" dirty="0" err="1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ZeroMQ</a:t>
                      </a:r>
                      <a:endParaRPr lang="en-US" sz="14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pic>
                  <p:nvPicPr>
                    <p:cNvPr id="163" name="Graphic 162">
                      <a:extLst>
                        <a:ext uri="{FF2B5EF4-FFF2-40B4-BE49-F238E27FC236}">
                          <a16:creationId xmlns:a16="http://schemas.microsoft.com/office/drawing/2014/main" id="{8BF6375D-4174-C1B1-57AE-E2DA824F94CE}"/>
                        </a:ext>
                      </a:extLst>
                    </p:cNvPr>
                    <p:cNvPicPr>
                      <a:picLocks noChangeAspect="1"/>
                    </p:cNvPicPr>
                    <p:nvPr/>
                  </p:nvPicPr>
                  <p:blipFill>
                    <a:blip r:embed="rId4">
                      <a:extLst>
                        <a:ext uri="{96DAC541-7B7A-43D3-8B79-37D633B846F1}">
                          <asvg:svgBlip xmlns:asvg="http://schemas.microsoft.com/office/drawing/2016/SVG/main" r:embed="rId5"/>
                        </a:ext>
                      </a:extLst>
                    </a:blip>
                    <a:srcRect/>
                    <a:stretch/>
                  </p:blipFill>
                  <p:spPr>
                    <a:xfrm>
                      <a:off x="4167277" y="2528018"/>
                      <a:ext cx="256990" cy="256990"/>
                    </a:xfrm>
                    <a:prstGeom prst="rect">
                      <a:avLst/>
                    </a:prstGeom>
                  </p:spPr>
                </p:pic>
              </p:grpSp>
            </p:grpSp>
          </p:grpSp>
          <p:sp>
            <p:nvSpPr>
              <p:cNvPr id="169" name="TextBox 168">
                <a:extLst>
                  <a:ext uri="{FF2B5EF4-FFF2-40B4-BE49-F238E27FC236}">
                    <a16:creationId xmlns:a16="http://schemas.microsoft.com/office/drawing/2014/main" id="{03D8F466-4922-1498-BC9F-4475B7D5BC61}"/>
                  </a:ext>
                </a:extLst>
              </p:cNvPr>
              <p:cNvSpPr txBox="1"/>
              <p:nvPr/>
            </p:nvSpPr>
            <p:spPr>
              <a:xfrm>
                <a:off x="4167277" y="3347837"/>
                <a:ext cx="209517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endParaRPr lang="en-US" sz="12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OpenAirInterface5G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2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E2 Simulator</a:t>
                </a:r>
              </a:p>
            </p:txBody>
          </p:sp>
        </p:grpSp>
        <p:cxnSp>
          <p:nvCxnSpPr>
            <p:cNvPr id="236" name="Connector: Elbow 235">
              <a:extLst>
                <a:ext uri="{FF2B5EF4-FFF2-40B4-BE49-F238E27FC236}">
                  <a16:creationId xmlns:a16="http://schemas.microsoft.com/office/drawing/2014/main" id="{AF73C65C-EB2D-83CA-18A4-ED9FC7D18AE9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5905226" y="2872617"/>
              <a:ext cx="1105253" cy="165302"/>
            </a:xfrm>
            <a:prstGeom prst="bentConnector2">
              <a:avLst/>
            </a:prstGeom>
            <a:ln w="12700">
              <a:solidFill>
                <a:schemeClr val="bg1"/>
              </a:solidFill>
              <a:round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98" name="Group 297">
              <a:extLst>
                <a:ext uri="{FF2B5EF4-FFF2-40B4-BE49-F238E27FC236}">
                  <a16:creationId xmlns:a16="http://schemas.microsoft.com/office/drawing/2014/main" id="{F4F66483-A881-AB8E-EA24-A1046F52E2A4}"/>
                </a:ext>
              </a:extLst>
            </p:cNvPr>
            <p:cNvGrpSpPr/>
            <p:nvPr/>
          </p:nvGrpSpPr>
          <p:grpSpPr>
            <a:xfrm>
              <a:off x="2902672" y="1745905"/>
              <a:ext cx="3500830" cy="1617300"/>
              <a:chOff x="4409110" y="1660130"/>
              <a:chExt cx="3500830" cy="1617300"/>
            </a:xfrm>
          </p:grpSpPr>
          <p:sp>
            <p:nvSpPr>
              <p:cNvPr id="299" name="Rectangle: Rounded Corners 298">
                <a:extLst>
                  <a:ext uri="{FF2B5EF4-FFF2-40B4-BE49-F238E27FC236}">
                    <a16:creationId xmlns:a16="http://schemas.microsoft.com/office/drawing/2014/main" id="{F9387809-F426-D5E8-6E1E-11DD2B11E5EC}"/>
                  </a:ext>
                </a:extLst>
              </p:cNvPr>
              <p:cNvSpPr/>
              <p:nvPr/>
            </p:nvSpPr>
            <p:spPr>
              <a:xfrm>
                <a:off x="4409110" y="1660130"/>
                <a:ext cx="3500830" cy="924852"/>
              </a:xfrm>
              <a:prstGeom prst="roundRect">
                <a:avLst>
                  <a:gd name="adj" fmla="val 8734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00" name="Group 299">
                <a:extLst>
                  <a:ext uri="{FF2B5EF4-FFF2-40B4-BE49-F238E27FC236}">
                    <a16:creationId xmlns:a16="http://schemas.microsoft.com/office/drawing/2014/main" id="{BE3ABA9F-C4F0-6B23-7A0B-536CE88F0275}"/>
                  </a:ext>
                </a:extLst>
              </p:cNvPr>
              <p:cNvGrpSpPr/>
              <p:nvPr/>
            </p:nvGrpSpPr>
            <p:grpSpPr>
              <a:xfrm>
                <a:off x="4746251" y="2611103"/>
                <a:ext cx="3014194" cy="666327"/>
                <a:chOff x="4854563" y="2611103"/>
                <a:chExt cx="3014194" cy="666327"/>
              </a:xfrm>
            </p:grpSpPr>
            <p:sp>
              <p:nvSpPr>
                <p:cNvPr id="301" name="TextBox 300">
                  <a:extLst>
                    <a:ext uri="{FF2B5EF4-FFF2-40B4-BE49-F238E27FC236}">
                      <a16:creationId xmlns:a16="http://schemas.microsoft.com/office/drawing/2014/main" id="{6C148EEF-91F3-60B8-DD63-926E75254BC6}"/>
                    </a:ext>
                  </a:extLst>
                </p:cNvPr>
                <p:cNvSpPr txBox="1"/>
                <p:nvPr/>
              </p:nvSpPr>
              <p:spPr>
                <a:xfrm>
                  <a:off x="4854563" y="2611103"/>
                  <a:ext cx="3014194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Near-RT RAN Intelligent Controller</a:t>
                  </a:r>
                </a:p>
              </p:txBody>
            </p:sp>
            <p:sp>
              <p:nvSpPr>
                <p:cNvPr id="302" name="TextBox 301">
                  <a:extLst>
                    <a:ext uri="{FF2B5EF4-FFF2-40B4-BE49-F238E27FC236}">
                      <a16:creationId xmlns:a16="http://schemas.microsoft.com/office/drawing/2014/main" id="{9CEF86A8-EAFC-DCF5-1A14-9BEF19C47DC4}"/>
                    </a:ext>
                  </a:extLst>
                </p:cNvPr>
                <p:cNvSpPr txBox="1"/>
                <p:nvPr/>
              </p:nvSpPr>
              <p:spPr>
                <a:xfrm>
                  <a:off x="5404466" y="2815765"/>
                  <a:ext cx="2078132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FlexRIC</a:t>
                  </a:r>
                </a:p>
              </p:txBody>
            </p:sp>
          </p:grpSp>
        </p:grpSp>
        <p:cxnSp>
          <p:nvCxnSpPr>
            <p:cNvPr id="316" name="Straight Connector 315">
              <a:extLst>
                <a:ext uri="{FF2B5EF4-FFF2-40B4-BE49-F238E27FC236}">
                  <a16:creationId xmlns:a16="http://schemas.microsoft.com/office/drawing/2014/main" id="{6F0B4269-577E-98FD-100F-DD6A17414AED}"/>
                </a:ext>
              </a:extLst>
            </p:cNvPr>
            <p:cNvCxnSpPr>
              <a:cxnSpLocks/>
            </p:cNvCxnSpPr>
            <p:nvPr/>
          </p:nvCxnSpPr>
          <p:spPr>
            <a:xfrm>
              <a:off x="6403502" y="2012991"/>
              <a:ext cx="984962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318" name="TextBox 317">
              <a:extLst>
                <a:ext uri="{FF2B5EF4-FFF2-40B4-BE49-F238E27FC236}">
                  <a16:creationId xmlns:a16="http://schemas.microsoft.com/office/drawing/2014/main" id="{5EECCEE8-0AA8-0FC0-E9C6-8A95995C8165}"/>
                </a:ext>
              </a:extLst>
            </p:cNvPr>
            <p:cNvSpPr txBox="1"/>
            <p:nvPr/>
          </p:nvSpPr>
          <p:spPr>
            <a:xfrm>
              <a:off x="6417137" y="1764477"/>
              <a:ext cx="97132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A1 Policy</a:t>
              </a:r>
            </a:p>
          </p:txBody>
        </p:sp>
        <p:sp>
          <p:nvSpPr>
            <p:cNvPr id="319" name="TextBox 318">
              <a:extLst>
                <a:ext uri="{FF2B5EF4-FFF2-40B4-BE49-F238E27FC236}">
                  <a16:creationId xmlns:a16="http://schemas.microsoft.com/office/drawing/2014/main" id="{351BDFD2-BC3C-44CA-ACCA-DD137E081438}"/>
                </a:ext>
              </a:extLst>
            </p:cNvPr>
            <p:cNvSpPr txBox="1"/>
            <p:nvPr/>
          </p:nvSpPr>
          <p:spPr>
            <a:xfrm>
              <a:off x="6506434" y="3069507"/>
              <a:ext cx="2184599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Key Performance Measurement</a:t>
              </a:r>
            </a:p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RIC Control</a:t>
              </a:r>
            </a:p>
          </p:txBody>
        </p:sp>
        <p:grpSp>
          <p:nvGrpSpPr>
            <p:cNvPr id="326" name="Group 325">
              <a:extLst>
                <a:ext uri="{FF2B5EF4-FFF2-40B4-BE49-F238E27FC236}">
                  <a16:creationId xmlns:a16="http://schemas.microsoft.com/office/drawing/2014/main" id="{A3453D33-2D6E-00C9-72F9-A28C5247CD8D}"/>
                </a:ext>
              </a:extLst>
            </p:cNvPr>
            <p:cNvGrpSpPr/>
            <p:nvPr/>
          </p:nvGrpSpPr>
          <p:grpSpPr>
            <a:xfrm>
              <a:off x="3783004" y="2241098"/>
              <a:ext cx="1234649" cy="310703"/>
              <a:chOff x="3642152" y="2107690"/>
              <a:chExt cx="1143208" cy="310703"/>
            </a:xfrm>
          </p:grpSpPr>
          <p:sp>
            <p:nvSpPr>
              <p:cNvPr id="240" name="Rectangle: Rounded Corners 239">
                <a:extLst>
                  <a:ext uri="{FF2B5EF4-FFF2-40B4-BE49-F238E27FC236}">
                    <a16:creationId xmlns:a16="http://schemas.microsoft.com/office/drawing/2014/main" id="{4A65C48E-E36E-50DA-D253-3AC63BF3C65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25" name="TextBox 324">
                <a:extLst>
                  <a:ext uri="{FF2B5EF4-FFF2-40B4-BE49-F238E27FC236}">
                    <a16:creationId xmlns:a16="http://schemas.microsoft.com/office/drawing/2014/main" id="{B086C52C-90A0-EFDE-550F-66D20D667835}"/>
                  </a:ext>
                </a:extLst>
              </p:cNvPr>
              <p:cNvSpPr txBox="1"/>
              <p:nvPr/>
            </p:nvSpPr>
            <p:spPr>
              <a:xfrm>
                <a:off x="3642152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KPM Monitor</a:t>
                </a:r>
              </a:p>
            </p:txBody>
          </p:sp>
        </p:grpSp>
        <p:grpSp>
          <p:nvGrpSpPr>
            <p:cNvPr id="333" name="Group 332">
              <a:extLst>
                <a:ext uri="{FF2B5EF4-FFF2-40B4-BE49-F238E27FC236}">
                  <a16:creationId xmlns:a16="http://schemas.microsoft.com/office/drawing/2014/main" id="{07E36321-4845-2DC1-D2B9-9B8F056221B6}"/>
                </a:ext>
              </a:extLst>
            </p:cNvPr>
            <p:cNvGrpSpPr/>
            <p:nvPr/>
          </p:nvGrpSpPr>
          <p:grpSpPr>
            <a:xfrm>
              <a:off x="5015982" y="1858990"/>
              <a:ext cx="1369001" cy="310703"/>
              <a:chOff x="3579953" y="2107690"/>
              <a:chExt cx="1267610" cy="310703"/>
            </a:xfrm>
          </p:grpSpPr>
          <p:sp>
            <p:nvSpPr>
              <p:cNvPr id="334" name="Rectangle: Rounded Corners 333">
                <a:extLst>
                  <a:ext uri="{FF2B5EF4-FFF2-40B4-BE49-F238E27FC236}">
                    <a16:creationId xmlns:a16="http://schemas.microsoft.com/office/drawing/2014/main" id="{D3E13052-BC5E-8FDC-228F-391E8C378CAF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5" name="TextBox 334">
                <a:extLst>
                  <a:ext uri="{FF2B5EF4-FFF2-40B4-BE49-F238E27FC236}">
                    <a16:creationId xmlns:a16="http://schemas.microsoft.com/office/drawing/2014/main" id="{D029EA8F-BBA0-5B94-A6E0-EF02786A1ECE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Traffic Steering</a:t>
                </a:r>
              </a:p>
            </p:txBody>
          </p:sp>
        </p:grpSp>
        <p:grpSp>
          <p:nvGrpSpPr>
            <p:cNvPr id="336" name="Group 335">
              <a:extLst>
                <a:ext uri="{FF2B5EF4-FFF2-40B4-BE49-F238E27FC236}">
                  <a16:creationId xmlns:a16="http://schemas.microsoft.com/office/drawing/2014/main" id="{84A20A0E-78FB-9D01-1459-3C069A1299BC}"/>
                </a:ext>
              </a:extLst>
            </p:cNvPr>
            <p:cNvGrpSpPr/>
            <p:nvPr/>
          </p:nvGrpSpPr>
          <p:grpSpPr>
            <a:xfrm>
              <a:off x="3715826" y="1858990"/>
              <a:ext cx="1369001" cy="310703"/>
              <a:chOff x="3579953" y="2107690"/>
              <a:chExt cx="1267610" cy="310703"/>
            </a:xfrm>
          </p:grpSpPr>
          <p:sp>
            <p:nvSpPr>
              <p:cNvPr id="337" name="Rectangle: Rounded Corners 336">
                <a:extLst>
                  <a:ext uri="{FF2B5EF4-FFF2-40B4-BE49-F238E27FC236}">
                    <a16:creationId xmlns:a16="http://schemas.microsoft.com/office/drawing/2014/main" id="{E58C9A7A-9CC9-A0E6-4D96-B5CC2855D9F2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38" name="TextBox 337">
                <a:extLst>
                  <a:ext uri="{FF2B5EF4-FFF2-40B4-BE49-F238E27FC236}">
                    <a16:creationId xmlns:a16="http://schemas.microsoft.com/office/drawing/2014/main" id="{A3485B05-CDBC-7ABB-426B-CA02365E2BAD}"/>
                  </a:ext>
                </a:extLst>
              </p:cNvPr>
              <p:cNvSpPr txBox="1"/>
              <p:nvPr/>
            </p:nvSpPr>
            <p:spPr>
              <a:xfrm>
                <a:off x="3579953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QoE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Prediction</a:t>
                </a:r>
              </a:p>
            </p:txBody>
          </p:sp>
        </p:grpSp>
        <p:grpSp>
          <p:nvGrpSpPr>
            <p:cNvPr id="339" name="Group 338">
              <a:extLst>
                <a:ext uri="{FF2B5EF4-FFF2-40B4-BE49-F238E27FC236}">
                  <a16:creationId xmlns:a16="http://schemas.microsoft.com/office/drawing/2014/main" id="{A8B71324-C15E-9BEE-9D24-A267C3F55BB8}"/>
                </a:ext>
              </a:extLst>
            </p:cNvPr>
            <p:cNvGrpSpPr/>
            <p:nvPr/>
          </p:nvGrpSpPr>
          <p:grpSpPr>
            <a:xfrm>
              <a:off x="5083159" y="2241098"/>
              <a:ext cx="1234646" cy="310703"/>
              <a:chOff x="3642154" y="2107690"/>
              <a:chExt cx="1143206" cy="310703"/>
            </a:xfrm>
          </p:grpSpPr>
          <p:sp>
            <p:nvSpPr>
              <p:cNvPr id="340" name="Rectangle: Rounded Corners 339">
                <a:extLst>
                  <a:ext uri="{FF2B5EF4-FFF2-40B4-BE49-F238E27FC236}">
                    <a16:creationId xmlns:a16="http://schemas.microsoft.com/office/drawing/2014/main" id="{77EA2108-4F43-856E-BF34-DC07A4CBBC2A}"/>
                  </a:ext>
                </a:extLst>
              </p:cNvPr>
              <p:cNvSpPr/>
              <p:nvPr/>
            </p:nvSpPr>
            <p:spPr>
              <a:xfrm>
                <a:off x="3642155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1" name="TextBox 340">
                <a:extLst>
                  <a:ext uri="{FF2B5EF4-FFF2-40B4-BE49-F238E27FC236}">
                    <a16:creationId xmlns:a16="http://schemas.microsoft.com/office/drawing/2014/main" id="{DB65914A-4674-4E33-9508-79A71B1F851E}"/>
                  </a:ext>
                </a:extLst>
              </p:cNvPr>
              <p:cNvSpPr txBox="1"/>
              <p:nvPr/>
            </p:nvSpPr>
            <p:spPr>
              <a:xfrm>
                <a:off x="3642154" y="2108170"/>
                <a:ext cx="1143205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RAN Control</a:t>
                </a:r>
              </a:p>
            </p:txBody>
          </p:sp>
        </p:grpSp>
        <p:grpSp>
          <p:nvGrpSpPr>
            <p:cNvPr id="347" name="Group 346">
              <a:extLst>
                <a:ext uri="{FF2B5EF4-FFF2-40B4-BE49-F238E27FC236}">
                  <a16:creationId xmlns:a16="http://schemas.microsoft.com/office/drawing/2014/main" id="{5B9BE978-A5DB-D685-10B4-4EA319C39598}"/>
                </a:ext>
              </a:extLst>
            </p:cNvPr>
            <p:cNvGrpSpPr/>
            <p:nvPr/>
          </p:nvGrpSpPr>
          <p:grpSpPr>
            <a:xfrm>
              <a:off x="9238215" y="1943123"/>
              <a:ext cx="655258" cy="310703"/>
              <a:chOff x="3483267" y="2107690"/>
              <a:chExt cx="1267610" cy="310703"/>
            </a:xfrm>
            <a:solidFill>
              <a:schemeClr val="bg1"/>
            </a:solidFill>
          </p:grpSpPr>
          <p:sp>
            <p:nvSpPr>
              <p:cNvPr id="348" name="Rectangle: Rounded Corners 347">
                <a:extLst>
                  <a:ext uri="{FF2B5EF4-FFF2-40B4-BE49-F238E27FC236}">
                    <a16:creationId xmlns:a16="http://schemas.microsoft.com/office/drawing/2014/main" id="{3C9841D4-45DC-778F-BEA6-220674ADD499}"/>
                  </a:ext>
                </a:extLst>
              </p:cNvPr>
              <p:cNvSpPr/>
              <p:nvPr/>
            </p:nvSpPr>
            <p:spPr>
              <a:xfrm>
                <a:off x="3545470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chemeClr val="bg2">
                  <a:lumMod val="25000"/>
                </a:schemeClr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9" name="TextBox 348">
                <a:extLst>
                  <a:ext uri="{FF2B5EF4-FFF2-40B4-BE49-F238E27FC236}">
                    <a16:creationId xmlns:a16="http://schemas.microsoft.com/office/drawing/2014/main" id="{492D15C4-5FCA-05B8-E67C-219273E0EB3D}"/>
                  </a:ext>
                </a:extLst>
              </p:cNvPr>
              <p:cNvSpPr txBox="1"/>
              <p:nvPr/>
            </p:nvSpPr>
            <p:spPr>
              <a:xfrm>
                <a:off x="3483267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rApps</a:t>
                </a:r>
              </a:p>
            </p:txBody>
          </p:sp>
        </p:grpSp>
        <p:grpSp>
          <p:nvGrpSpPr>
            <p:cNvPr id="351" name="Group 350">
              <a:extLst>
                <a:ext uri="{FF2B5EF4-FFF2-40B4-BE49-F238E27FC236}">
                  <a16:creationId xmlns:a16="http://schemas.microsoft.com/office/drawing/2014/main" id="{C0E76DF9-91EC-A649-B11A-91E1BE183B4C}"/>
                </a:ext>
              </a:extLst>
            </p:cNvPr>
            <p:cNvGrpSpPr/>
            <p:nvPr/>
          </p:nvGrpSpPr>
          <p:grpSpPr>
            <a:xfrm>
              <a:off x="7572249" y="1943236"/>
              <a:ext cx="1712822" cy="310703"/>
              <a:chOff x="3542966" y="2107690"/>
              <a:chExt cx="1267610" cy="310703"/>
            </a:xfrm>
            <a:solidFill>
              <a:schemeClr val="bg1"/>
            </a:solidFill>
          </p:grpSpPr>
          <p:sp>
            <p:nvSpPr>
              <p:cNvPr id="352" name="Rectangle: Rounded Corners 351">
                <a:extLst>
                  <a:ext uri="{FF2B5EF4-FFF2-40B4-BE49-F238E27FC236}">
                    <a16:creationId xmlns:a16="http://schemas.microsoft.com/office/drawing/2014/main" id="{A35C3105-3252-BC99-072B-85E2366034C7}"/>
                  </a:ext>
                </a:extLst>
              </p:cNvPr>
              <p:cNvSpPr/>
              <p:nvPr/>
            </p:nvSpPr>
            <p:spPr>
              <a:xfrm>
                <a:off x="3605168" y="2107690"/>
                <a:ext cx="1143205" cy="310703"/>
              </a:xfrm>
              <a:prstGeom prst="roundRect">
                <a:avLst>
                  <a:gd name="adj" fmla="val 12974"/>
                </a:avLst>
              </a:prstGeom>
              <a:solidFill>
                <a:srgbClr val="3A3A3A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53" name="TextBox 352">
                <a:extLst>
                  <a:ext uri="{FF2B5EF4-FFF2-40B4-BE49-F238E27FC236}">
                    <a16:creationId xmlns:a16="http://schemas.microsoft.com/office/drawing/2014/main" id="{EC5E2325-62FF-4D4A-BD7C-D53E117B8772}"/>
                  </a:ext>
                </a:extLst>
              </p:cNvPr>
              <p:cNvSpPr txBox="1"/>
              <p:nvPr/>
            </p:nvSpPr>
            <p:spPr>
              <a:xfrm>
                <a:off x="3542966" y="2108170"/>
                <a:ext cx="1267610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 Management</a:t>
                </a:r>
              </a:p>
            </p:txBody>
          </p:sp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3342515B-D298-43A1-9E16-E6FD971A6A41}"/>
                </a:ext>
              </a:extLst>
            </p:cNvPr>
            <p:cNvSpPr txBox="1"/>
            <p:nvPr/>
          </p:nvSpPr>
          <p:spPr>
            <a:xfrm>
              <a:off x="2887502" y="1783517"/>
              <a:ext cx="74262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xApps</a:t>
              </a:r>
              <a:endParaRPr lang="en-US" sz="1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23" name="Group 122">
              <a:extLst>
                <a:ext uri="{FF2B5EF4-FFF2-40B4-BE49-F238E27FC236}">
                  <a16:creationId xmlns:a16="http://schemas.microsoft.com/office/drawing/2014/main" id="{57872673-AAAD-4628-B781-C1A7A5F491EC}"/>
                </a:ext>
              </a:extLst>
            </p:cNvPr>
            <p:cNvGrpSpPr/>
            <p:nvPr/>
          </p:nvGrpSpPr>
          <p:grpSpPr>
            <a:xfrm>
              <a:off x="9769890" y="2504754"/>
              <a:ext cx="97262" cy="20476"/>
              <a:chOff x="10392777" y="4210335"/>
              <a:chExt cx="97262" cy="20476"/>
            </a:xfrm>
          </p:grpSpPr>
          <p:sp>
            <p:nvSpPr>
              <p:cNvPr id="124" name="Oval 123">
                <a:extLst>
                  <a:ext uri="{FF2B5EF4-FFF2-40B4-BE49-F238E27FC236}">
                    <a16:creationId xmlns:a16="http://schemas.microsoft.com/office/drawing/2014/main" id="{24631A37-9689-4B10-8ADB-0416A5B0735E}"/>
                  </a:ext>
                </a:extLst>
              </p:cNvPr>
              <p:cNvSpPr/>
              <p:nvPr/>
            </p:nvSpPr>
            <p:spPr>
              <a:xfrm flipV="1">
                <a:off x="10392777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5" name="Oval 124">
                <a:extLst>
                  <a:ext uri="{FF2B5EF4-FFF2-40B4-BE49-F238E27FC236}">
                    <a16:creationId xmlns:a16="http://schemas.microsoft.com/office/drawing/2014/main" id="{0A1B9C14-F6A3-4685-834A-A8A1851159D4}"/>
                  </a:ext>
                </a:extLst>
              </p:cNvPr>
              <p:cNvSpPr/>
              <p:nvPr/>
            </p:nvSpPr>
            <p:spPr>
              <a:xfrm flipV="1">
                <a:off x="10431170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6" name="Oval 125">
                <a:extLst>
                  <a:ext uri="{FF2B5EF4-FFF2-40B4-BE49-F238E27FC236}">
                    <a16:creationId xmlns:a16="http://schemas.microsoft.com/office/drawing/2014/main" id="{B25E1B82-A1FA-4694-AA25-FAEC6C0B5254}"/>
                  </a:ext>
                </a:extLst>
              </p:cNvPr>
              <p:cNvSpPr/>
              <p:nvPr/>
            </p:nvSpPr>
            <p:spPr>
              <a:xfrm flipV="1">
                <a:off x="1046956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grpSp>
          <p:nvGrpSpPr>
            <p:cNvPr id="127" name="Group 126">
              <a:extLst>
                <a:ext uri="{FF2B5EF4-FFF2-40B4-BE49-F238E27FC236}">
                  <a16:creationId xmlns:a16="http://schemas.microsoft.com/office/drawing/2014/main" id="{26AD37C1-FC4C-445B-A475-2C31F113B111}"/>
                </a:ext>
              </a:extLst>
            </p:cNvPr>
            <p:cNvGrpSpPr/>
            <p:nvPr/>
          </p:nvGrpSpPr>
          <p:grpSpPr>
            <a:xfrm>
              <a:off x="3075233" y="2510064"/>
              <a:ext cx="97262" cy="20476"/>
              <a:chOff x="10366573" y="4210335"/>
              <a:chExt cx="97262" cy="20476"/>
            </a:xfrm>
          </p:grpSpPr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BE600BD0-3962-416A-B573-62FC9571329A}"/>
                  </a:ext>
                </a:extLst>
              </p:cNvPr>
              <p:cNvSpPr/>
              <p:nvPr/>
            </p:nvSpPr>
            <p:spPr>
              <a:xfrm flipV="1">
                <a:off x="10366573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29" name="Oval 128">
                <a:extLst>
                  <a:ext uri="{FF2B5EF4-FFF2-40B4-BE49-F238E27FC236}">
                    <a16:creationId xmlns:a16="http://schemas.microsoft.com/office/drawing/2014/main" id="{A8E8DF44-D72F-48F7-BC48-12898EF88200}"/>
                  </a:ext>
                </a:extLst>
              </p:cNvPr>
              <p:cNvSpPr/>
              <p:nvPr/>
            </p:nvSpPr>
            <p:spPr>
              <a:xfrm flipV="1">
                <a:off x="10404966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  <p:sp>
            <p:nvSpPr>
              <p:cNvPr id="130" name="Oval 129">
                <a:extLst>
                  <a:ext uri="{FF2B5EF4-FFF2-40B4-BE49-F238E27FC236}">
                    <a16:creationId xmlns:a16="http://schemas.microsoft.com/office/drawing/2014/main" id="{0E65D4E3-D00A-48E5-99ED-8AC57DBB500A}"/>
                  </a:ext>
                </a:extLst>
              </p:cNvPr>
              <p:cNvSpPr/>
              <p:nvPr/>
            </p:nvSpPr>
            <p:spPr>
              <a:xfrm flipV="1">
                <a:off x="10443359" y="4210335"/>
                <a:ext cx="20476" cy="20476"/>
              </a:xfrm>
              <a:prstGeom prst="ellipse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603208" y="3805525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B7571666-D429-4300-4F2A-97EA7815726F}"/>
                </a:ext>
              </a:extLst>
            </p:cNvPr>
            <p:cNvSpPr/>
            <p:nvPr/>
          </p:nvSpPr>
          <p:spPr>
            <a:xfrm>
              <a:off x="8470803" y="3511703"/>
              <a:ext cx="1565803" cy="618689"/>
            </a:xfrm>
            <a:prstGeom prst="roundRect">
              <a:avLst>
                <a:gd name="adj" fmla="val 12974"/>
              </a:avLst>
            </a:prstGeom>
            <a:solidFill>
              <a:srgbClr val="262626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A3DE7ACA-42A3-9C44-756C-47D4AC75B3DA}"/>
                </a:ext>
              </a:extLst>
            </p:cNvPr>
            <p:cNvCxnSpPr>
              <a:endCxn id="3" idx="1"/>
            </p:cNvCxnSpPr>
            <p:nvPr/>
          </p:nvCxnSpPr>
          <p:spPr>
            <a:xfrm>
              <a:off x="7660127" y="3821048"/>
              <a:ext cx="81067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" name="Group 4">
              <a:extLst>
                <a:ext uri="{FF2B5EF4-FFF2-40B4-BE49-F238E27FC236}">
                  <a16:creationId xmlns:a16="http://schemas.microsoft.com/office/drawing/2014/main" id="{7DAB8416-3004-A7E9-975D-2AD8061A2F2A}"/>
                </a:ext>
              </a:extLst>
            </p:cNvPr>
            <p:cNvGrpSpPr/>
            <p:nvPr/>
          </p:nvGrpSpPr>
          <p:grpSpPr>
            <a:xfrm>
              <a:off x="8468250" y="3511704"/>
              <a:ext cx="1689168" cy="1704380"/>
              <a:chOff x="8468250" y="3511704"/>
              <a:chExt cx="1689168" cy="1704380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8919BBE-89B4-C169-F885-E2C41B5D3829}"/>
                  </a:ext>
                </a:extLst>
              </p:cNvPr>
              <p:cNvGrpSpPr/>
              <p:nvPr/>
            </p:nvGrpSpPr>
            <p:grpSpPr>
              <a:xfrm>
                <a:off x="8470803" y="3511704"/>
                <a:ext cx="1565803" cy="618689"/>
                <a:chOff x="8470803" y="3511704"/>
                <a:chExt cx="1565803" cy="618689"/>
              </a:xfrm>
            </p:grpSpPr>
            <p:sp>
              <p:nvSpPr>
                <p:cNvPr id="11" name="Rectangle: Rounded Corners 10">
                  <a:extLst>
                    <a:ext uri="{FF2B5EF4-FFF2-40B4-BE49-F238E27FC236}">
                      <a16:creationId xmlns:a16="http://schemas.microsoft.com/office/drawing/2014/main" id="{CE0C6DFE-1B4A-CDD8-414E-2C8F06CF267A}"/>
                    </a:ext>
                  </a:extLst>
                </p:cNvPr>
                <p:cNvSpPr/>
                <p:nvPr/>
              </p:nvSpPr>
              <p:spPr>
                <a:xfrm>
                  <a:off x="8470803" y="3511704"/>
                  <a:ext cx="1565803" cy="618689"/>
                </a:xfrm>
                <a:prstGeom prst="roundRect">
                  <a:avLst>
                    <a:gd name="adj" fmla="val 12974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6790A086-C9BB-9F22-01C8-627725552182}"/>
                    </a:ext>
                  </a:extLst>
                </p:cNvPr>
                <p:cNvGrpSpPr/>
                <p:nvPr/>
              </p:nvGrpSpPr>
              <p:grpSpPr>
                <a:xfrm>
                  <a:off x="8544250" y="3663843"/>
                  <a:ext cx="1430022" cy="310703"/>
                  <a:chOff x="8544250" y="3663843"/>
                  <a:chExt cx="1430022" cy="310703"/>
                </a:xfrm>
              </p:grpSpPr>
              <p:grpSp>
                <p:nvGrpSpPr>
                  <p:cNvPr id="13" name="Group 12">
                    <a:extLst>
                      <a:ext uri="{FF2B5EF4-FFF2-40B4-BE49-F238E27FC236}">
                        <a16:creationId xmlns:a16="http://schemas.microsoft.com/office/drawing/2014/main" id="{109BC3B5-7515-6387-B152-338A0545A48A}"/>
                      </a:ext>
                    </a:extLst>
                  </p:cNvPr>
                  <p:cNvGrpSpPr/>
                  <p:nvPr/>
                </p:nvGrpSpPr>
                <p:grpSpPr>
                  <a:xfrm>
                    <a:off x="9877010" y="3808956"/>
                    <a:ext cx="97262" cy="20476"/>
                    <a:chOff x="10423398" y="4210335"/>
                    <a:chExt cx="97262" cy="20476"/>
                  </a:xfrm>
                </p:grpSpPr>
                <p:sp>
                  <p:nvSpPr>
                    <p:cNvPr id="21" name="Oval 20">
                      <a:extLst>
                        <a:ext uri="{FF2B5EF4-FFF2-40B4-BE49-F238E27FC236}">
                          <a16:creationId xmlns:a16="http://schemas.microsoft.com/office/drawing/2014/main" id="{0F7E4327-3B24-A579-20DC-4E04FBE9762A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23398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2" name="Oval 21">
                      <a:extLst>
                        <a:ext uri="{FF2B5EF4-FFF2-40B4-BE49-F238E27FC236}">
                          <a16:creationId xmlns:a16="http://schemas.microsoft.com/office/drawing/2014/main" id="{65CC17AB-E282-B165-2260-E04A0D47220B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461791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  <p:sp>
                  <p:nvSpPr>
                    <p:cNvPr id="23" name="Oval 22">
                      <a:extLst>
                        <a:ext uri="{FF2B5EF4-FFF2-40B4-BE49-F238E27FC236}">
                          <a16:creationId xmlns:a16="http://schemas.microsoft.com/office/drawing/2014/main" id="{6AAF88ED-F440-9178-BA85-686FF7B57F3E}"/>
                        </a:ext>
                      </a:extLst>
                    </p:cNvPr>
                    <p:cNvSpPr/>
                    <p:nvPr/>
                  </p:nvSpPr>
                  <p:spPr>
                    <a:xfrm flipV="1">
                      <a:off x="10500184" y="4210335"/>
                      <a:ext cx="20476" cy="20476"/>
                    </a:xfrm>
                    <a:prstGeom prst="ellipse">
                      <a:avLst/>
                    </a:prstGeom>
                    <a:solidFill>
                      <a:schemeClr val="bg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/>
                    </a:p>
                  </p:txBody>
                </p:sp>
              </p:grpSp>
              <p:grpSp>
                <p:nvGrpSpPr>
                  <p:cNvPr id="14" name="Group 13">
                    <a:extLst>
                      <a:ext uri="{FF2B5EF4-FFF2-40B4-BE49-F238E27FC236}">
                        <a16:creationId xmlns:a16="http://schemas.microsoft.com/office/drawing/2014/main" id="{49F32863-BFC1-757F-5B01-BAC1A230BA39}"/>
                      </a:ext>
                    </a:extLst>
                  </p:cNvPr>
                  <p:cNvGrpSpPr/>
                  <p:nvPr/>
                </p:nvGrpSpPr>
                <p:grpSpPr>
                  <a:xfrm>
                    <a:off x="8544250" y="3663843"/>
                    <a:ext cx="655258" cy="310703"/>
                    <a:chOff x="8483290" y="3660903"/>
                    <a:chExt cx="655258" cy="310703"/>
                  </a:xfrm>
                </p:grpSpPr>
                <p:sp>
                  <p:nvSpPr>
                    <p:cNvPr id="19" name="Rectangle: Rounded Corners 18">
                      <a:extLst>
                        <a:ext uri="{FF2B5EF4-FFF2-40B4-BE49-F238E27FC236}">
                          <a16:creationId xmlns:a16="http://schemas.microsoft.com/office/drawing/2014/main" id="{DD049208-FC03-CA31-F96B-4B622E9F569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15444" y="366090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20" name="TextBox 19">
                      <a:extLst>
                        <a:ext uri="{FF2B5EF4-FFF2-40B4-BE49-F238E27FC236}">
                          <a16:creationId xmlns:a16="http://schemas.microsoft.com/office/drawing/2014/main" id="{7156A02F-6D01-C389-75B6-745AC5F2149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483290" y="366138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UPF</a:t>
                      </a:r>
                    </a:p>
                  </p:txBody>
                </p:sp>
              </p:grpSp>
              <p:grpSp>
                <p:nvGrpSpPr>
                  <p:cNvPr id="16" name="Group 15">
                    <a:extLst>
                      <a:ext uri="{FF2B5EF4-FFF2-40B4-BE49-F238E27FC236}">
                        <a16:creationId xmlns:a16="http://schemas.microsoft.com/office/drawing/2014/main" id="{12A7027B-5E3A-EC2D-BCB4-EDA5D1C0BEC8}"/>
                      </a:ext>
                    </a:extLst>
                  </p:cNvPr>
                  <p:cNvGrpSpPr/>
                  <p:nvPr/>
                </p:nvGrpSpPr>
                <p:grpSpPr>
                  <a:xfrm>
                    <a:off x="9189714" y="3663843"/>
                    <a:ext cx="655258" cy="310703"/>
                    <a:chOff x="9128754" y="3666783"/>
                    <a:chExt cx="655258" cy="310703"/>
                  </a:xfrm>
                </p:grpSpPr>
                <p:sp>
                  <p:nvSpPr>
                    <p:cNvPr id="17" name="Rectangle: Rounded Corners 16">
                      <a:extLst>
                        <a:ext uri="{FF2B5EF4-FFF2-40B4-BE49-F238E27FC236}">
                          <a16:creationId xmlns:a16="http://schemas.microsoft.com/office/drawing/2014/main" id="{10ABB812-6101-B7BC-B307-C5F721932CA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60908" y="3666783"/>
                      <a:ext cx="590950" cy="310703"/>
                    </a:xfrm>
                    <a:prstGeom prst="roundRect">
                      <a:avLst>
                        <a:gd name="adj" fmla="val 12974"/>
                      </a:avLst>
                    </a:prstGeom>
                    <a:solidFill>
                      <a:schemeClr val="bg2">
                        <a:lumMod val="25000"/>
                      </a:schemeClr>
                    </a:solidFill>
                    <a:ln w="12700">
                      <a:solidFill>
                        <a:schemeClr val="bg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sp>
                  <p:nvSpPr>
                    <p:cNvPr id="18" name="TextBox 17">
                      <a:extLst>
                        <a:ext uri="{FF2B5EF4-FFF2-40B4-BE49-F238E27FC236}">
                          <a16:creationId xmlns:a16="http://schemas.microsoft.com/office/drawing/2014/main" id="{B2DE4C59-4701-798A-7ABE-6AB0F969D9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128754" y="3667263"/>
                      <a:ext cx="655258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AMF</a:t>
                      </a:r>
                    </a:p>
                  </p:txBody>
                </p:sp>
              </p:grpSp>
            </p:grpSp>
          </p:grpSp>
          <p:grpSp>
            <p:nvGrpSpPr>
              <p:cNvPr id="7" name="Group 6">
                <a:extLst>
                  <a:ext uri="{FF2B5EF4-FFF2-40B4-BE49-F238E27FC236}">
                    <a16:creationId xmlns:a16="http://schemas.microsoft.com/office/drawing/2014/main" id="{34177930-97C0-441E-8A21-12674904E42B}"/>
                  </a:ext>
                </a:extLst>
              </p:cNvPr>
              <p:cNvGrpSpPr/>
              <p:nvPr/>
            </p:nvGrpSpPr>
            <p:grpSpPr>
              <a:xfrm>
                <a:off x="8468250" y="4158213"/>
                <a:ext cx="1689168" cy="1057871"/>
                <a:chOff x="8468250" y="4158213"/>
                <a:chExt cx="1689168" cy="1057871"/>
              </a:xfrm>
            </p:grpSpPr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EB67B94F-0D31-8E06-4AAC-5F5BF5274CC6}"/>
                    </a:ext>
                  </a:extLst>
                </p:cNvPr>
                <p:cNvSpPr txBox="1"/>
                <p:nvPr/>
              </p:nvSpPr>
              <p:spPr>
                <a:xfrm>
                  <a:off x="8589062" y="4385087"/>
                  <a:ext cx="1568356" cy="83099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OAI 5G CN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Phoenix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Free5GC</a:t>
                  </a:r>
                </a:p>
              </p:txBody>
            </p:sp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8337A69A-A57E-6292-9DC1-C5BEEF046218}"/>
                    </a:ext>
                  </a:extLst>
                </p:cNvPr>
                <p:cNvSpPr txBox="1"/>
                <p:nvPr/>
              </p:nvSpPr>
              <p:spPr>
                <a:xfrm>
                  <a:off x="8468250" y="4158213"/>
                  <a:ext cx="1568356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5G Core Network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2706227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6" name="Group 225">
            <a:extLst>
              <a:ext uri="{FF2B5EF4-FFF2-40B4-BE49-F238E27FC236}">
                <a16:creationId xmlns:a16="http://schemas.microsoft.com/office/drawing/2014/main" id="{90F26478-879E-D4B3-A75A-5E42646C065C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385101B2-3441-45C3-4D5F-B32E7D1461C5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22" name="Rectangle: Top Corners Rounded 21">
                <a:extLst>
                  <a:ext uri="{FF2B5EF4-FFF2-40B4-BE49-F238E27FC236}">
                    <a16:creationId xmlns:a16="http://schemas.microsoft.com/office/drawing/2014/main" id="{77878395-64F7-3C4F-756B-7DB9A3FFACED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: Top Corners Rounded 22">
                <a:extLst>
                  <a:ext uri="{FF2B5EF4-FFF2-40B4-BE49-F238E27FC236}">
                    <a16:creationId xmlns:a16="http://schemas.microsoft.com/office/drawing/2014/main" id="{1B3C8D2A-C9D1-9D95-D967-D15933172E7C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D9D9D9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320646D-E588-66BF-2291-C28731EB62C6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: Rounded Corners 24">
                <a:extLst>
                  <a:ext uri="{FF2B5EF4-FFF2-40B4-BE49-F238E27FC236}">
                    <a16:creationId xmlns:a16="http://schemas.microsoft.com/office/drawing/2014/main" id="{CDD7B7F2-522F-30DC-707E-115B5707AD6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4582B19-FF4F-F533-E626-177EA2EE43FA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ED8250A4-D4DE-5B5F-A55F-B8F6432AF1CA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4DFD742-DB1D-C83C-32E6-9DCE1C152217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B85AE1C1-5F7F-93A3-D1D3-3A3A14493B4D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034260CC-1F20-1BA6-9F62-4C53EBD2BEAC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stCxn id="3" idx="1"/>
              <a:endCxn id="237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stCxn id="3" idx="1"/>
              <a:endCxn id="236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stCxn id="2" idx="1"/>
              <a:endCxn id="236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4" name="Straight Connector 243">
              <a:extLst>
                <a:ext uri="{FF2B5EF4-FFF2-40B4-BE49-F238E27FC236}">
                  <a16:creationId xmlns:a16="http://schemas.microsoft.com/office/drawing/2014/main" id="{6404A511-24EF-F2E0-E620-746E32F0E998}"/>
                </a:ext>
              </a:extLst>
            </p:cNvPr>
            <p:cNvCxnSpPr>
              <a:cxnSpLocks/>
              <a:stCxn id="3" idx="1"/>
              <a:endCxn id="27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7" name="Straight Connector 246">
              <a:extLst>
                <a:ext uri="{FF2B5EF4-FFF2-40B4-BE49-F238E27FC236}">
                  <a16:creationId xmlns:a16="http://schemas.microsoft.com/office/drawing/2014/main" id="{70465907-0F64-4965-9163-B2C700A48E2C}"/>
                </a:ext>
              </a:extLst>
            </p:cNvPr>
            <p:cNvCxnSpPr>
              <a:cxnSpLocks/>
              <a:stCxn id="3" idx="1"/>
              <a:endCxn id="28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1" name="Straight Connector 300">
              <a:extLst>
                <a:ext uri="{FF2B5EF4-FFF2-40B4-BE49-F238E27FC236}">
                  <a16:creationId xmlns:a16="http://schemas.microsoft.com/office/drawing/2014/main" id="{411F421E-1B73-D5DA-0B27-75EF7C35376E}"/>
                </a:ext>
              </a:extLst>
            </p:cNvPr>
            <p:cNvCxnSpPr>
              <a:cxnSpLocks/>
              <a:stCxn id="2" idx="1"/>
              <a:endCxn id="26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2" name="Straight Connector 301">
              <a:extLst>
                <a:ext uri="{FF2B5EF4-FFF2-40B4-BE49-F238E27FC236}">
                  <a16:creationId xmlns:a16="http://schemas.microsoft.com/office/drawing/2014/main" id="{6C08D5E6-1E0C-25D0-ED10-FE79EF24D209}"/>
                </a:ext>
              </a:extLst>
            </p:cNvPr>
            <p:cNvCxnSpPr>
              <a:cxnSpLocks/>
              <a:stCxn id="2" idx="1"/>
              <a:endCxn id="27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3" name="Straight Connector 302">
              <a:extLst>
                <a:ext uri="{FF2B5EF4-FFF2-40B4-BE49-F238E27FC236}">
                  <a16:creationId xmlns:a16="http://schemas.microsoft.com/office/drawing/2014/main" id="{D5B6C4AD-F7E9-7B2A-2D7D-25E385B05D6D}"/>
                </a:ext>
              </a:extLst>
            </p:cNvPr>
            <p:cNvCxnSpPr>
              <a:cxnSpLocks/>
              <a:stCxn id="2" idx="1"/>
              <a:endCxn id="28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1" name="Straight Connector 230">
              <a:extLst>
                <a:ext uri="{FF2B5EF4-FFF2-40B4-BE49-F238E27FC236}">
                  <a16:creationId xmlns:a16="http://schemas.microsoft.com/office/drawing/2014/main" id="{CCB705AB-188A-483B-5A34-A75DADA65705}"/>
                </a:ext>
              </a:extLst>
            </p:cNvPr>
            <p:cNvCxnSpPr>
              <a:cxnSpLocks/>
              <a:stCxn id="3" idx="1"/>
              <a:endCxn id="26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stCxn id="2" idx="1"/>
              <a:endCxn id="237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5947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3F2B56B-2A1B-AAED-75E7-7EF400469EE5}"/>
              </a:ext>
            </a:extLst>
          </p:cNvPr>
          <p:cNvGrpSpPr/>
          <p:nvPr/>
        </p:nvGrpSpPr>
        <p:grpSpPr>
          <a:xfrm>
            <a:off x="496467" y="1900165"/>
            <a:ext cx="11199066" cy="3057669"/>
            <a:chOff x="575839" y="1513908"/>
            <a:chExt cx="11199066" cy="3057669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4A26B3F-15A3-D629-EB52-62377911DD27}"/>
                </a:ext>
              </a:extLst>
            </p:cNvPr>
            <p:cNvSpPr/>
            <p:nvPr/>
          </p:nvSpPr>
          <p:spPr>
            <a:xfrm>
              <a:off x="575839" y="1513908"/>
              <a:ext cx="11199066" cy="3057028"/>
            </a:xfrm>
            <a:prstGeom prst="roundRect">
              <a:avLst>
                <a:gd name="adj" fmla="val 2805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A39A4587-AE3D-D35E-ADC6-8CC323C253CF}"/>
                </a:ext>
              </a:extLst>
            </p:cNvPr>
            <p:cNvCxnSpPr>
              <a:cxnSpLocks/>
              <a:stCxn id="238" idx="3"/>
              <a:endCxn id="208" idx="1"/>
            </p:cNvCxnSpPr>
            <p:nvPr/>
          </p:nvCxnSpPr>
          <p:spPr>
            <a:xfrm>
              <a:off x="5817331" y="3559019"/>
              <a:ext cx="680627" cy="243497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AD3AFDF2-EA1A-B0FF-B379-D800EAA448CC}"/>
                </a:ext>
              </a:extLst>
            </p:cNvPr>
            <p:cNvCxnSpPr>
              <a:cxnSpLocks/>
              <a:stCxn id="226" idx="3"/>
              <a:endCxn id="237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82F8985-A178-E076-4917-A5370ACBC601}"/>
                </a:ext>
              </a:extLst>
            </p:cNvPr>
            <p:cNvCxnSpPr>
              <a:cxnSpLocks/>
              <a:stCxn id="225" idx="3"/>
              <a:endCxn id="236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4B8AAFA0-CAE8-2B1F-4E26-94C723A65781}"/>
                </a:ext>
              </a:extLst>
            </p:cNvPr>
            <p:cNvCxnSpPr>
              <a:cxnSpLocks/>
              <a:stCxn id="227" idx="3"/>
              <a:endCxn id="237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5035DE4D-3950-1680-7C80-CD2732746056}"/>
                </a:ext>
              </a:extLst>
            </p:cNvPr>
            <p:cNvCxnSpPr>
              <a:cxnSpLocks/>
              <a:stCxn id="230" idx="3"/>
              <a:endCxn id="241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A8517B87-3347-BAFC-30A4-C32FB9E6475C}"/>
                </a:ext>
              </a:extLst>
            </p:cNvPr>
            <p:cNvCxnSpPr>
              <a:cxnSpLocks/>
              <a:stCxn id="224" idx="3"/>
              <a:endCxn id="235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Right Brace 32">
              <a:extLst>
                <a:ext uri="{FF2B5EF4-FFF2-40B4-BE49-F238E27FC236}">
                  <a16:creationId xmlns:a16="http://schemas.microsoft.com/office/drawing/2014/main" id="{6AA9718F-0B06-7882-E106-86151133E8A8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ight Brace 33">
              <a:extLst>
                <a:ext uri="{FF2B5EF4-FFF2-40B4-BE49-F238E27FC236}">
                  <a16:creationId xmlns:a16="http://schemas.microsoft.com/office/drawing/2014/main" id="{65D8AF6B-D011-8ACA-801B-042F88C8AADC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B4A6845-A427-CA62-2C08-0BAA2F810697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32" name="Rectangle: Rounded Corners 231">
                <a:extLst>
                  <a:ext uri="{FF2B5EF4-FFF2-40B4-BE49-F238E27FC236}">
                    <a16:creationId xmlns:a16="http://schemas.microsoft.com/office/drawing/2014/main" id="{133216DE-A09A-02DA-F73D-F609EA354A37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3" name="Rectangle: Top Corners Rounded 232">
                <a:extLst>
                  <a:ext uri="{FF2B5EF4-FFF2-40B4-BE49-F238E27FC236}">
                    <a16:creationId xmlns:a16="http://schemas.microsoft.com/office/drawing/2014/main" id="{E3F1A58A-3DA1-B726-50A5-443D5C10D3B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7D729002-84E1-D59E-85F9-F19919C03FF4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D275F4CA-9251-4571-DCC0-33EB207DE7D5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1F26A111-5EBC-8A84-F8A9-6B4AAE92CFC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012CE6A-2E67-AA61-B919-3E6BD14B18D3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CFCF6271-F672-6D8D-EEAC-7FE0D0B10B1B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C1671B07-F128-BF85-84FA-343EA2772B8E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FA825144-48E1-D560-99D8-BB8AA43C40A7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D0F41E38-7A95-0BD7-0F50-C263DC866D37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42" name="Rectangle: Rounded Corners 241">
                <a:extLst>
                  <a:ext uri="{FF2B5EF4-FFF2-40B4-BE49-F238E27FC236}">
                    <a16:creationId xmlns:a16="http://schemas.microsoft.com/office/drawing/2014/main" id="{FCDA3A55-BBEB-2089-FAA6-4D345E6A8BA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3D9E5AA5-6332-81FB-B6C5-522A256BD1FB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21" name="Rectangle: Rounded Corners 220">
                <a:extLst>
                  <a:ext uri="{FF2B5EF4-FFF2-40B4-BE49-F238E27FC236}">
                    <a16:creationId xmlns:a16="http://schemas.microsoft.com/office/drawing/2014/main" id="{41FEA0C9-417A-93F4-3A0D-F05E5B35C040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2" name="Rectangle: Top Corners Rounded 221">
                <a:extLst>
                  <a:ext uri="{FF2B5EF4-FFF2-40B4-BE49-F238E27FC236}">
                    <a16:creationId xmlns:a16="http://schemas.microsoft.com/office/drawing/2014/main" id="{7EF6E28E-C708-CF19-2E8C-A5E1FDCB3147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EFFA4B82-D054-49E8-9AF5-3B6B4F929CC0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4" name="TextBox 223">
                <a:extLst>
                  <a:ext uri="{FF2B5EF4-FFF2-40B4-BE49-F238E27FC236}">
                    <a16:creationId xmlns:a16="http://schemas.microsoft.com/office/drawing/2014/main" id="{D77F2D1E-111A-0EC9-59CB-FDAB785FE13C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25" name="TextBox 224">
                <a:extLst>
                  <a:ext uri="{FF2B5EF4-FFF2-40B4-BE49-F238E27FC236}">
                    <a16:creationId xmlns:a16="http://schemas.microsoft.com/office/drawing/2014/main" id="{B373C4ED-2749-B46B-095E-84788FBA5171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26" name="TextBox 225">
                <a:extLst>
                  <a:ext uri="{FF2B5EF4-FFF2-40B4-BE49-F238E27FC236}">
                    <a16:creationId xmlns:a16="http://schemas.microsoft.com/office/drawing/2014/main" id="{DC968F22-74C4-7656-0EE4-CBD09D779742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27" name="TextBox 226">
                <a:extLst>
                  <a:ext uri="{FF2B5EF4-FFF2-40B4-BE49-F238E27FC236}">
                    <a16:creationId xmlns:a16="http://schemas.microsoft.com/office/drawing/2014/main" id="{5EF3BAB1-6306-6257-0820-1E60E62D4525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28" name="TextBox 227">
                <a:extLst>
                  <a:ext uri="{FF2B5EF4-FFF2-40B4-BE49-F238E27FC236}">
                    <a16:creationId xmlns:a16="http://schemas.microsoft.com/office/drawing/2014/main" id="{12FCE961-5104-E038-0C85-DB23BFA112B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739DA047-9F92-EB9C-2612-A758AA6CDEC6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0" name="TextBox 229">
                <a:extLst>
                  <a:ext uri="{FF2B5EF4-FFF2-40B4-BE49-F238E27FC236}">
                    <a16:creationId xmlns:a16="http://schemas.microsoft.com/office/drawing/2014/main" id="{55A31A15-A388-A0BF-27C0-7AC7A3C8A0FF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231" name="Rectangle: Rounded Corners 230">
                <a:extLst>
                  <a:ext uri="{FF2B5EF4-FFF2-40B4-BE49-F238E27FC236}">
                    <a16:creationId xmlns:a16="http://schemas.microsoft.com/office/drawing/2014/main" id="{75A40120-D9C1-6243-5381-63C01A2743D1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A444277-0F73-A39B-C352-8FA6548B93F8}"/>
                </a:ext>
              </a:extLst>
            </p:cNvPr>
            <p:cNvGrpSpPr/>
            <p:nvPr/>
          </p:nvGrpSpPr>
          <p:grpSpPr>
            <a:xfrm>
              <a:off x="9376910" y="3337714"/>
              <a:ext cx="2302213" cy="647296"/>
              <a:chOff x="9110915" y="4521647"/>
              <a:chExt cx="2302213" cy="647296"/>
            </a:xfrm>
          </p:grpSpPr>
          <p:sp>
            <p:nvSpPr>
              <p:cNvPr id="218" name="Rectangle: Rounded Corners 217">
                <a:extLst>
                  <a:ext uri="{FF2B5EF4-FFF2-40B4-BE49-F238E27FC236}">
                    <a16:creationId xmlns:a16="http://schemas.microsoft.com/office/drawing/2014/main" id="{551267A1-2D66-4219-F608-D12BA60A3FA9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19" name="TextBox 218">
                <a:extLst>
                  <a:ext uri="{FF2B5EF4-FFF2-40B4-BE49-F238E27FC236}">
                    <a16:creationId xmlns:a16="http://schemas.microsoft.com/office/drawing/2014/main" id="{7E7D7925-5010-B9F8-C6A4-BE12BD5694B7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220" name="TextBox 219">
                <a:extLst>
                  <a:ext uri="{FF2B5EF4-FFF2-40B4-BE49-F238E27FC236}">
                    <a16:creationId xmlns:a16="http://schemas.microsoft.com/office/drawing/2014/main" id="{F55670F8-1A8A-D361-2D01-AF4E54B2B247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96F41372-48AB-4106-0DEE-4D3241A9AEFF}"/>
                </a:ext>
              </a:extLst>
            </p:cNvPr>
            <p:cNvGrpSpPr/>
            <p:nvPr/>
          </p:nvGrpSpPr>
          <p:grpSpPr>
            <a:xfrm>
              <a:off x="8873989" y="1610328"/>
              <a:ext cx="2860204" cy="543694"/>
              <a:chOff x="8873989" y="2167447"/>
              <a:chExt cx="2860204" cy="543694"/>
            </a:xfrm>
          </p:grpSpPr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E90A7441-1D6D-E1DE-D169-632EF87216FF}"/>
                  </a:ext>
                </a:extLst>
              </p:cNvPr>
              <p:cNvSpPr/>
              <p:nvPr/>
            </p:nvSpPr>
            <p:spPr>
              <a:xfrm>
                <a:off x="8873989" y="2187920"/>
                <a:ext cx="2787151" cy="523221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214" name="Straight Connector 213">
                <a:extLst>
                  <a:ext uri="{FF2B5EF4-FFF2-40B4-BE49-F238E27FC236}">
                    <a16:creationId xmlns:a16="http://schemas.microsoft.com/office/drawing/2014/main" id="{4E44ACEE-DC6D-C183-393B-FF669D5F749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215" name="TextBox 214">
                <a:extLst>
                  <a:ext uri="{FF2B5EF4-FFF2-40B4-BE49-F238E27FC236}">
                    <a16:creationId xmlns:a16="http://schemas.microsoft.com/office/drawing/2014/main" id="{C41C3D65-F48B-24FF-1025-F5097C6F7F11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216" name="Straight Connector 215">
                <a:extLst>
                  <a:ext uri="{FF2B5EF4-FFF2-40B4-BE49-F238E27FC236}">
                    <a16:creationId xmlns:a16="http://schemas.microsoft.com/office/drawing/2014/main" id="{0B699A1B-14D6-8418-8E5C-DF7D00B5E0A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9AC9ED8-C188-B031-1A0D-1ECB5C4CE475}"/>
                </a:ext>
              </a:extLst>
            </p:cNvPr>
            <p:cNvCxnSpPr>
              <a:cxnSpLocks/>
              <a:stCxn id="227" idx="3"/>
              <a:endCxn id="242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4A93F2A7-DB38-2C63-309B-648C770A0779}"/>
                </a:ext>
              </a:extLst>
            </p:cNvPr>
            <p:cNvGrpSpPr/>
            <p:nvPr/>
          </p:nvGrpSpPr>
          <p:grpSpPr>
            <a:xfrm>
              <a:off x="6497958" y="3337714"/>
              <a:ext cx="2239249" cy="1233863"/>
              <a:chOff x="1028392" y="2318655"/>
              <a:chExt cx="2239249" cy="1233863"/>
            </a:xfrm>
          </p:grpSpPr>
          <p:sp>
            <p:nvSpPr>
              <p:cNvPr id="205" name="TextBox 204">
                <a:extLst>
                  <a:ext uri="{FF2B5EF4-FFF2-40B4-BE49-F238E27FC236}">
                    <a16:creationId xmlns:a16="http://schemas.microsoft.com/office/drawing/2014/main" id="{C155961E-CD47-4E5D-3E0F-20CB4549B363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206" name="Group 205">
                <a:extLst>
                  <a:ext uri="{FF2B5EF4-FFF2-40B4-BE49-F238E27FC236}">
                    <a16:creationId xmlns:a16="http://schemas.microsoft.com/office/drawing/2014/main" id="{158D54F2-6A69-C5D1-05A5-4D9D53992726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10" name="Rectangle: Rounded Corners 209">
                  <a:extLst>
                    <a:ext uri="{FF2B5EF4-FFF2-40B4-BE49-F238E27FC236}">
                      <a16:creationId xmlns:a16="http://schemas.microsoft.com/office/drawing/2014/main" id="{1C87FD3E-74EE-B08D-F033-6265850F27A3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89CE6125-7D92-4E83-C15B-65CA0B5BC614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2" name="Rectangle: Rounded Corners 211">
                  <a:extLst>
                    <a:ext uri="{FF2B5EF4-FFF2-40B4-BE49-F238E27FC236}">
                      <a16:creationId xmlns:a16="http://schemas.microsoft.com/office/drawing/2014/main" id="{4F9FC162-0F12-A4BC-04F7-8DD83BD7515B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07" name="TextBox 206">
                <a:extLst>
                  <a:ext uri="{FF2B5EF4-FFF2-40B4-BE49-F238E27FC236}">
                    <a16:creationId xmlns:a16="http://schemas.microsoft.com/office/drawing/2014/main" id="{F2F84A3F-249C-8FD3-F60A-8557386BA8D4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208" name="TextBox 207">
                <a:extLst>
                  <a:ext uri="{FF2B5EF4-FFF2-40B4-BE49-F238E27FC236}">
                    <a16:creationId xmlns:a16="http://schemas.microsoft.com/office/drawing/2014/main" id="{C6969DC3-F468-1931-A91D-72377057E4B1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63F46770-9FAE-4033-01DF-505C6605CBBF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A9385791-FCD2-2C18-30A3-CF089E5ED518}"/>
                </a:ext>
              </a:extLst>
            </p:cNvPr>
            <p:cNvGrpSpPr/>
            <p:nvPr/>
          </p:nvGrpSpPr>
          <p:grpSpPr>
            <a:xfrm>
              <a:off x="6497956" y="1616395"/>
              <a:ext cx="2301839" cy="1514666"/>
              <a:chOff x="4580555" y="3243709"/>
              <a:chExt cx="2301839" cy="1514666"/>
            </a:xfrm>
          </p:grpSpPr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38E669CB-15B4-F93C-A58B-ED54620A5240}"/>
                  </a:ext>
                </a:extLst>
              </p:cNvPr>
              <p:cNvSpPr/>
              <p:nvPr/>
            </p:nvSpPr>
            <p:spPr>
              <a:xfrm rot="10800000">
                <a:off x="4580557" y="4166644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6" name="Rectangle: Top Corners Rounded 195">
                <a:extLst>
                  <a:ext uri="{FF2B5EF4-FFF2-40B4-BE49-F238E27FC236}">
                    <a16:creationId xmlns:a16="http://schemas.microsoft.com/office/drawing/2014/main" id="{AB77D8F3-7981-EDBA-DC19-03C1F9B73F2D}"/>
                  </a:ext>
                </a:extLst>
              </p:cNvPr>
              <p:cNvSpPr/>
              <p:nvPr/>
            </p:nvSpPr>
            <p:spPr>
              <a:xfrm>
                <a:off x="4580556" y="3243709"/>
                <a:ext cx="2239248" cy="923272"/>
              </a:xfrm>
              <a:prstGeom prst="round2SameRect">
                <a:avLst>
                  <a:gd name="adj1" fmla="val 9715"/>
                  <a:gd name="adj2" fmla="val 0"/>
                </a:avLst>
              </a:prstGeom>
              <a:solidFill>
                <a:srgbClr val="262626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F770037B-525D-9C88-53AB-60EFF8DA4163}"/>
                  </a:ext>
                </a:extLst>
              </p:cNvPr>
              <p:cNvSpPr/>
              <p:nvPr/>
            </p:nvSpPr>
            <p:spPr>
              <a:xfrm>
                <a:off x="4580556" y="3544031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Rectangle: Rounded Corners 198">
                <a:extLst>
                  <a:ext uri="{FF2B5EF4-FFF2-40B4-BE49-F238E27FC236}">
                    <a16:creationId xmlns:a16="http://schemas.microsoft.com/office/drawing/2014/main" id="{643C30BA-670B-A2C5-1D56-001B8A470E0C}"/>
                  </a:ext>
                </a:extLst>
              </p:cNvPr>
              <p:cNvSpPr/>
              <p:nvPr/>
            </p:nvSpPr>
            <p:spPr>
              <a:xfrm>
                <a:off x="4580556" y="3244668"/>
                <a:ext cx="2239249" cy="1246101"/>
              </a:xfrm>
              <a:prstGeom prst="roundRect">
                <a:avLst>
                  <a:gd name="adj" fmla="val 7433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A50D0417-A635-358E-D133-E3A7E0961392}"/>
                  </a:ext>
                </a:extLst>
              </p:cNvPr>
              <p:cNvSpPr txBox="1"/>
              <p:nvPr/>
            </p:nvSpPr>
            <p:spPr>
              <a:xfrm>
                <a:off x="4580557" y="3853825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5G CN (5gdeploy)</a:t>
                </a: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A0A9FC23-3E15-F0FB-87A1-735B1AF8CEAD}"/>
                  </a:ext>
                </a:extLst>
              </p:cNvPr>
              <p:cNvSpPr txBox="1"/>
              <p:nvPr/>
            </p:nvSpPr>
            <p:spPr>
              <a:xfrm>
                <a:off x="4580557" y="3554799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Phoenix (5gdeploy)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E534920F-F0D5-A211-0EBC-14787952E20C}"/>
                  </a:ext>
                </a:extLst>
              </p:cNvPr>
              <p:cNvSpPr txBox="1"/>
              <p:nvPr/>
            </p:nvSpPr>
            <p:spPr>
              <a:xfrm>
                <a:off x="4580555" y="3255773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Free5GC (5gdeploy)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06D261BA-B74D-DA83-6608-2CFD593CFB42}"/>
                  </a:ext>
                </a:extLst>
              </p:cNvPr>
              <p:cNvSpPr txBox="1"/>
              <p:nvPr/>
            </p:nvSpPr>
            <p:spPr>
              <a:xfrm>
                <a:off x="4580557" y="4173617"/>
                <a:ext cx="223924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24AABCAD-5992-E470-4C83-8776E6500952}"/>
                  </a:ext>
                </a:extLst>
              </p:cNvPr>
              <p:cNvSpPr txBox="1"/>
              <p:nvPr/>
            </p:nvSpPr>
            <p:spPr>
              <a:xfrm>
                <a:off x="4643145" y="445059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</a:p>
            </p:txBody>
          </p:sp>
        </p:grp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62E5A30C-73CD-19E4-E59B-CFBDF2D7BDB7}"/>
                </a:ext>
              </a:extLst>
            </p:cNvPr>
            <p:cNvCxnSpPr>
              <a:cxnSpLocks/>
              <a:stCxn id="34" idx="1"/>
              <a:endCxn id="208" idx="1"/>
            </p:cNvCxnSpPr>
            <p:nvPr/>
          </p:nvCxnSpPr>
          <p:spPr>
            <a:xfrm>
              <a:off x="5943801" y="3107001"/>
              <a:ext cx="554157" cy="695515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425A5030-0FFB-CD28-14E7-AF0AFEEB443C}"/>
                </a:ext>
              </a:extLst>
            </p:cNvPr>
            <p:cNvCxnSpPr>
              <a:cxnSpLocks/>
              <a:stCxn id="33" idx="1"/>
              <a:endCxn id="203" idx="1"/>
            </p:cNvCxnSpPr>
            <p:nvPr/>
          </p:nvCxnSpPr>
          <p:spPr>
            <a:xfrm>
              <a:off x="5943801" y="2493651"/>
              <a:ext cx="554157" cy="206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D976F8A2-A38F-548D-E34D-42F2D8AF4E6C}"/>
                </a:ext>
              </a:extLst>
            </p:cNvPr>
            <p:cNvCxnSpPr>
              <a:cxnSpLocks/>
              <a:stCxn id="34" idx="1"/>
              <a:endCxn id="203" idx="1"/>
            </p:cNvCxnSpPr>
            <p:nvPr/>
          </p:nvCxnSpPr>
          <p:spPr>
            <a:xfrm flipV="1">
              <a:off x="5943801" y="2700192"/>
              <a:ext cx="554157" cy="40680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54AF584-92C4-A27B-C926-46756368F533}"/>
                </a:ext>
              </a:extLst>
            </p:cNvPr>
            <p:cNvCxnSpPr>
              <a:cxnSpLocks/>
              <a:stCxn id="34" idx="1"/>
              <a:endCxn id="207" idx="1"/>
            </p:cNvCxnSpPr>
            <p:nvPr/>
          </p:nvCxnSpPr>
          <p:spPr>
            <a:xfrm>
              <a:off x="5943801" y="3107001"/>
              <a:ext cx="554157" cy="99454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A27F5818-4011-FB5B-6D74-92B8B8CF6E57}"/>
                </a:ext>
              </a:extLst>
            </p:cNvPr>
            <p:cNvCxnSpPr>
              <a:cxnSpLocks/>
              <a:stCxn id="33" idx="1"/>
              <a:endCxn id="207" idx="1"/>
            </p:cNvCxnSpPr>
            <p:nvPr/>
          </p:nvCxnSpPr>
          <p:spPr>
            <a:xfrm>
              <a:off x="5943801" y="2493651"/>
              <a:ext cx="554157" cy="160789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79FDFA5-A325-28CD-D607-B12E8577AD21}"/>
                </a:ext>
              </a:extLst>
            </p:cNvPr>
            <p:cNvCxnSpPr>
              <a:cxnSpLocks/>
              <a:stCxn id="34" idx="1"/>
              <a:endCxn id="201" idx="1"/>
            </p:cNvCxnSpPr>
            <p:nvPr/>
          </p:nvCxnSpPr>
          <p:spPr>
            <a:xfrm flipV="1">
              <a:off x="5943801" y="2081374"/>
              <a:ext cx="554157" cy="102562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CB99049F-2FE1-02B7-6E00-29FE85E90D00}"/>
                </a:ext>
              </a:extLst>
            </p:cNvPr>
            <p:cNvCxnSpPr>
              <a:cxnSpLocks/>
              <a:stCxn id="34" idx="1"/>
              <a:endCxn id="202" idx="1"/>
            </p:cNvCxnSpPr>
            <p:nvPr/>
          </p:nvCxnSpPr>
          <p:spPr>
            <a:xfrm flipV="1">
              <a:off x="5943801" y="1782348"/>
              <a:ext cx="554155" cy="132465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EE48765C-5159-E5BA-0720-86A50AAFB16E}"/>
                </a:ext>
              </a:extLst>
            </p:cNvPr>
            <p:cNvCxnSpPr>
              <a:cxnSpLocks/>
              <a:stCxn id="33" idx="1"/>
              <a:endCxn id="200" idx="1"/>
            </p:cNvCxnSpPr>
            <p:nvPr/>
          </p:nvCxnSpPr>
          <p:spPr>
            <a:xfrm flipV="1">
              <a:off x="5943801" y="2380400"/>
              <a:ext cx="554157" cy="11325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8705FE8-C5D7-E524-F79C-8092BFBD8840}"/>
                </a:ext>
              </a:extLst>
            </p:cNvPr>
            <p:cNvCxnSpPr>
              <a:cxnSpLocks/>
              <a:stCxn id="33" idx="1"/>
              <a:endCxn id="201" idx="1"/>
            </p:cNvCxnSpPr>
            <p:nvPr/>
          </p:nvCxnSpPr>
          <p:spPr>
            <a:xfrm flipV="1">
              <a:off x="5943801" y="2081374"/>
              <a:ext cx="554157" cy="412277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F00DBE24-2814-B5F8-E502-C8286971E965}"/>
                </a:ext>
              </a:extLst>
            </p:cNvPr>
            <p:cNvCxnSpPr>
              <a:cxnSpLocks/>
              <a:stCxn id="33" idx="1"/>
              <a:endCxn id="202" idx="1"/>
            </p:cNvCxnSpPr>
            <p:nvPr/>
          </p:nvCxnSpPr>
          <p:spPr>
            <a:xfrm flipV="1">
              <a:off x="5943801" y="1782348"/>
              <a:ext cx="554155" cy="71130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D5C86F7A-A3F7-E935-BC61-78828C20AEEC}"/>
                </a:ext>
              </a:extLst>
            </p:cNvPr>
            <p:cNvCxnSpPr>
              <a:cxnSpLocks/>
              <a:stCxn id="34" idx="1"/>
              <a:endCxn id="200" idx="1"/>
            </p:cNvCxnSpPr>
            <p:nvPr/>
          </p:nvCxnSpPr>
          <p:spPr>
            <a:xfrm flipV="1">
              <a:off x="5943801" y="2380400"/>
              <a:ext cx="554157" cy="726601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352E4EC5-60C7-DADE-2335-70F50D08B5F6}"/>
                </a:ext>
              </a:extLst>
            </p:cNvPr>
            <p:cNvCxnSpPr>
              <a:cxnSpLocks/>
              <a:stCxn id="33" idx="1"/>
              <a:endCxn id="208" idx="1"/>
            </p:cNvCxnSpPr>
            <p:nvPr/>
          </p:nvCxnSpPr>
          <p:spPr>
            <a:xfrm>
              <a:off x="5943801" y="2493651"/>
              <a:ext cx="554157" cy="1308865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58929CC8-0567-FC1D-32AD-09F5C283A90B}"/>
                </a:ext>
              </a:extLst>
            </p:cNvPr>
            <p:cNvCxnSpPr>
              <a:cxnSpLocks/>
              <a:stCxn id="208" idx="3"/>
              <a:endCxn id="219" idx="1"/>
            </p:cNvCxnSpPr>
            <p:nvPr/>
          </p:nvCxnSpPr>
          <p:spPr>
            <a:xfrm flipV="1">
              <a:off x="8737207" y="3505473"/>
              <a:ext cx="639703" cy="297043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44DD7FAC-89CB-4E46-AE59-39ECE056D49E}"/>
                </a:ext>
              </a:extLst>
            </p:cNvPr>
            <p:cNvCxnSpPr>
              <a:cxnSpLocks/>
              <a:stCxn id="209" idx="3"/>
              <a:endCxn id="219" idx="1"/>
            </p:cNvCxnSpPr>
            <p:nvPr/>
          </p:nvCxnSpPr>
          <p:spPr>
            <a:xfrm>
              <a:off x="8737207" y="3503490"/>
              <a:ext cx="639703" cy="1983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65562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E3AAF73-51F9-4678-9914-A34536EDBFF4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50083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FFFFFF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57883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</a:t>
                  </a:r>
                  <a:r>
                    <a:rPr lang="en-US" sz="1400" b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ervice Management and Orchestration</a:t>
                  </a:r>
                  <a:endPara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66033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chemeClr val="bg1">
                  <a:lumMod val="9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50083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54073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  <a:endParaRPr lang="en-US" sz="1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tx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206243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  <a:endParaRPr lang="en-US" sz="1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endParaRP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1">
                              <a:lumMod val="8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bg1">
                              <a:lumMod val="9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/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  <a:endParaRPr lang="en-US" sz="1400" dirty="0"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40326"/>
                      <a:gd name="adj2" fmla="val 0"/>
                    </a:avLst>
                  </a:prstGeom>
                  <a:solidFill>
                    <a:srgbClr val="E6E6E6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chemeClr val="bg1">
                    <a:lumMod val="9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  <a:endParaRPr lang="en-US" sz="1400" b="1" dirty="0"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/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A1 Policy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  <a:endParaRPr lang="en-US" sz="1200" i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grp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tx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987F1CEA-6580-4105-B686-23136B610DCD}"/>
                </a:ext>
              </a:extLst>
            </p:cNvPr>
            <p:cNvSpPr txBox="1"/>
            <p:nvPr/>
          </p:nvSpPr>
          <p:spPr>
            <a:xfrm>
              <a:off x="7445360" y="3801483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  <a:endParaRPr lang="en-US" sz="1200" i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004746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Rectangle 294">
            <a:extLst>
              <a:ext uri="{FF2B5EF4-FFF2-40B4-BE49-F238E27FC236}">
                <a16:creationId xmlns:a16="http://schemas.microsoft.com/office/drawing/2014/main" id="{01227F84-DA99-539E-6970-C4DA0CFAFCD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E28D0C1-022A-4A17-812E-ED8DE9796EE2}"/>
              </a:ext>
            </a:extLst>
          </p:cNvPr>
          <p:cNvGrpSpPr/>
          <p:nvPr/>
        </p:nvGrpSpPr>
        <p:grpSpPr>
          <a:xfrm>
            <a:off x="2008561" y="1650083"/>
            <a:ext cx="8174878" cy="3557833"/>
            <a:chOff x="1850713" y="1617089"/>
            <a:chExt cx="8174878" cy="3557833"/>
          </a:xfrm>
        </p:grpSpPr>
        <p:sp>
          <p:nvSpPr>
            <p:cNvPr id="50" name="Rectangle: Rounded Corners 49">
              <a:extLst>
                <a:ext uri="{FF2B5EF4-FFF2-40B4-BE49-F238E27FC236}">
                  <a16:creationId xmlns:a16="http://schemas.microsoft.com/office/drawing/2014/main" id="{2E48D905-0F3A-19B5-4417-05FA2C821E70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solidFill>
              <a:srgbClr val="0D1117"/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B29F7496-083E-C96A-A54B-96580005B0F0}"/>
                </a:ext>
              </a:extLst>
            </p:cNvPr>
            <p:cNvGrpSpPr/>
            <p:nvPr/>
          </p:nvGrpSpPr>
          <p:grpSpPr>
            <a:xfrm>
              <a:off x="6715921" y="1724889"/>
              <a:ext cx="3309670" cy="1432634"/>
              <a:chOff x="4668372" y="1660130"/>
              <a:chExt cx="3309670" cy="1432634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0FFBFE9F-4487-F723-E9C3-8E9D6B819A45}"/>
                  </a:ext>
                </a:extLst>
              </p:cNvPr>
              <p:cNvSpPr/>
              <p:nvPr/>
            </p:nvSpPr>
            <p:spPr>
              <a:xfrm>
                <a:off x="5183521" y="1660130"/>
                <a:ext cx="2648141" cy="924852"/>
              </a:xfrm>
              <a:prstGeom prst="roundRect">
                <a:avLst>
                  <a:gd name="adj" fmla="val 8322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4" name="Group 233">
                <a:extLst>
                  <a:ext uri="{FF2B5EF4-FFF2-40B4-BE49-F238E27FC236}">
                    <a16:creationId xmlns:a16="http://schemas.microsoft.com/office/drawing/2014/main" id="{C8483D81-C738-EC8C-E9D4-9A607C41251A}"/>
                  </a:ext>
                </a:extLst>
              </p:cNvPr>
              <p:cNvGrpSpPr/>
              <p:nvPr/>
            </p:nvGrpSpPr>
            <p:grpSpPr>
              <a:xfrm>
                <a:off x="4668372" y="2611103"/>
                <a:ext cx="3309670" cy="481661"/>
                <a:chOff x="4776684" y="2611103"/>
                <a:chExt cx="3309670" cy="481661"/>
              </a:xfrm>
            </p:grpSpPr>
            <p:sp>
              <p:nvSpPr>
                <p:cNvPr id="232" name="TextBox 231">
                  <a:extLst>
                    <a:ext uri="{FF2B5EF4-FFF2-40B4-BE49-F238E27FC236}">
                      <a16:creationId xmlns:a16="http://schemas.microsoft.com/office/drawing/2014/main" id="{26CDB8BB-9B1B-2B00-A882-116D7D2D402E}"/>
                    </a:ext>
                  </a:extLst>
                </p:cNvPr>
                <p:cNvSpPr txBox="1"/>
                <p:nvPr/>
              </p:nvSpPr>
              <p:spPr>
                <a:xfrm>
                  <a:off x="4776684" y="2611103"/>
                  <a:ext cx="330967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b="1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Service Management and Orchestration</a:t>
                  </a:r>
                </a:p>
              </p:txBody>
            </p:sp>
            <p:sp>
              <p:nvSpPr>
                <p:cNvPr id="233" name="TextBox 232">
                  <a:extLst>
                    <a:ext uri="{FF2B5EF4-FFF2-40B4-BE49-F238E27FC236}">
                      <a16:creationId xmlns:a16="http://schemas.microsoft.com/office/drawing/2014/main" id="{62872B1E-AA5E-17AA-511A-1F419F129695}"/>
                    </a:ext>
                  </a:extLst>
                </p:cNvPr>
                <p:cNvSpPr txBox="1"/>
                <p:nvPr/>
              </p:nvSpPr>
              <p:spPr>
                <a:xfrm>
                  <a:off x="5474325" y="2815765"/>
                  <a:ext cx="2078132" cy="276999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O-RAN SC RIC</a:t>
                  </a:r>
                </a:p>
              </p:txBody>
            </p:sp>
          </p:grpSp>
        </p:grpSp>
        <p:grpSp>
          <p:nvGrpSpPr>
            <p:cNvPr id="342" name="Group 341">
              <a:extLst>
                <a:ext uri="{FF2B5EF4-FFF2-40B4-BE49-F238E27FC236}">
                  <a16:creationId xmlns:a16="http://schemas.microsoft.com/office/drawing/2014/main" id="{79B07A05-E871-6B63-E7A9-B641AD8D5BFA}"/>
                </a:ext>
              </a:extLst>
            </p:cNvPr>
            <p:cNvGrpSpPr/>
            <p:nvPr/>
          </p:nvGrpSpPr>
          <p:grpSpPr>
            <a:xfrm>
              <a:off x="7230616" y="1833039"/>
              <a:ext cx="2648142" cy="811016"/>
              <a:chOff x="5142539" y="2107864"/>
              <a:chExt cx="2648142" cy="811016"/>
            </a:xfrm>
          </p:grpSpPr>
          <p:sp>
            <p:nvSpPr>
              <p:cNvPr id="343" name="Rectangle: Rounded Corners 342">
                <a:extLst>
                  <a:ext uri="{FF2B5EF4-FFF2-40B4-BE49-F238E27FC236}">
                    <a16:creationId xmlns:a16="http://schemas.microsoft.com/office/drawing/2014/main" id="{0A3AA96D-BAE6-C7C4-642C-F015D4DEEBF5}"/>
                  </a:ext>
                </a:extLst>
              </p:cNvPr>
              <p:cNvSpPr/>
              <p:nvPr/>
            </p:nvSpPr>
            <p:spPr>
              <a:xfrm>
                <a:off x="5323970" y="2107864"/>
                <a:ext cx="2367244" cy="477118"/>
              </a:xfrm>
              <a:prstGeom prst="roundRect">
                <a:avLst>
                  <a:gd name="adj" fmla="val 14235"/>
                </a:avLst>
              </a:prstGeom>
              <a:solidFill>
                <a:srgbClr val="171717"/>
              </a:solidFill>
              <a:ln w="12700">
                <a:solidFill>
                  <a:schemeClr val="bg2">
                    <a:lumMod val="9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45" name="TextBox 344">
                <a:extLst>
                  <a:ext uri="{FF2B5EF4-FFF2-40B4-BE49-F238E27FC236}">
                    <a16:creationId xmlns:a16="http://schemas.microsoft.com/office/drawing/2014/main" id="{934EF4DA-BF0E-CE3A-E425-F1FE25767794}"/>
                  </a:ext>
                </a:extLst>
              </p:cNvPr>
              <p:cNvSpPr txBox="1"/>
              <p:nvPr/>
            </p:nvSpPr>
            <p:spPr>
              <a:xfrm>
                <a:off x="5142539" y="2611103"/>
                <a:ext cx="2648142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sp>
          <p:nvSpPr>
            <p:cNvPr id="141" name="Rectangle: Rounded Corners 140">
              <a:extLst>
                <a:ext uri="{FF2B5EF4-FFF2-40B4-BE49-F238E27FC236}">
                  <a16:creationId xmlns:a16="http://schemas.microsoft.com/office/drawing/2014/main" id="{D204B0F3-4A57-4AB3-AAF6-895DEFA28BDA}"/>
                </a:ext>
              </a:extLst>
            </p:cNvPr>
            <p:cNvSpPr/>
            <p:nvPr/>
          </p:nvSpPr>
          <p:spPr>
            <a:xfrm>
              <a:off x="1850713" y="1617089"/>
              <a:ext cx="8148856" cy="3557833"/>
            </a:xfrm>
            <a:prstGeom prst="roundRect">
              <a:avLst>
                <a:gd name="adj" fmla="val 2232"/>
              </a:avLst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21D0C2BD-70E8-4233-A01A-8CB16B3F18F4}"/>
                </a:ext>
              </a:extLst>
            </p:cNvPr>
            <p:cNvGrpSpPr/>
            <p:nvPr/>
          </p:nvGrpSpPr>
          <p:grpSpPr>
            <a:xfrm>
              <a:off x="1980485" y="1721079"/>
              <a:ext cx="8019085" cy="3412689"/>
              <a:chOff x="2039317" y="1879053"/>
              <a:chExt cx="8019085" cy="3412689"/>
            </a:xfrm>
          </p:grpSpPr>
          <p:grpSp>
            <p:nvGrpSpPr>
              <p:cNvPr id="213" name="Group 212">
                <a:extLst>
                  <a:ext uri="{FF2B5EF4-FFF2-40B4-BE49-F238E27FC236}">
                    <a16:creationId xmlns:a16="http://schemas.microsoft.com/office/drawing/2014/main" id="{407A30F9-1C57-B457-62A9-3E1F1B438814}"/>
                  </a:ext>
                </a:extLst>
              </p:cNvPr>
              <p:cNvGrpSpPr/>
              <p:nvPr/>
            </p:nvGrpSpPr>
            <p:grpSpPr>
              <a:xfrm>
                <a:off x="2039317" y="3492451"/>
                <a:ext cx="8019085" cy="1799291"/>
                <a:chOff x="739346" y="2194877"/>
                <a:chExt cx="8019085" cy="1799291"/>
              </a:xfrm>
            </p:grpSpPr>
            <p:grpSp>
              <p:nvGrpSpPr>
                <p:cNvPr id="173" name="Group 172">
                  <a:extLst>
                    <a:ext uri="{FF2B5EF4-FFF2-40B4-BE49-F238E27FC236}">
                      <a16:creationId xmlns:a16="http://schemas.microsoft.com/office/drawing/2014/main" id="{E0FC3736-1AD3-51F7-FF1E-A65B147E173B}"/>
                    </a:ext>
                  </a:extLst>
                </p:cNvPr>
                <p:cNvGrpSpPr/>
                <p:nvPr/>
              </p:nvGrpSpPr>
              <p:grpSpPr>
                <a:xfrm>
                  <a:off x="739346" y="2194877"/>
                  <a:ext cx="2912140" cy="1614827"/>
                  <a:chOff x="739346" y="2194877"/>
                  <a:chExt cx="2912140" cy="1614827"/>
                </a:xfrm>
              </p:grpSpPr>
              <p:grpSp>
                <p:nvGrpSpPr>
                  <p:cNvPr id="103" name="Group 102">
                    <a:extLst>
                      <a:ext uri="{FF2B5EF4-FFF2-40B4-BE49-F238E27FC236}">
                        <a16:creationId xmlns:a16="http://schemas.microsoft.com/office/drawing/2014/main" id="{399C3882-C87A-011B-0BCD-46C25509AA50}"/>
                      </a:ext>
                    </a:extLst>
                  </p:cNvPr>
                  <p:cNvGrpSpPr/>
                  <p:nvPr/>
                </p:nvGrpSpPr>
                <p:grpSpPr>
                  <a:xfrm>
                    <a:off x="739346" y="2194877"/>
                    <a:ext cx="2912140" cy="1233863"/>
                    <a:chOff x="1605224" y="1599108"/>
                    <a:chExt cx="2912140" cy="1233863"/>
                  </a:xfrm>
                </p:grpSpPr>
                <p:sp>
                  <p:nvSpPr>
                    <p:cNvPr id="99" name="TextBox 98">
                      <a:extLst>
                        <a:ext uri="{FF2B5EF4-FFF2-40B4-BE49-F238E27FC236}">
                          <a16:creationId xmlns:a16="http://schemas.microsoft.com/office/drawing/2014/main" id="{B2146AB4-4D02-128A-EC98-CAF89459C873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05224" y="2525194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User Equipment</a:t>
                      </a:r>
                    </a:p>
                  </p:txBody>
                </p:sp>
                <p:grpSp>
                  <p:nvGrpSpPr>
                    <p:cNvPr id="102" name="Group 101">
                      <a:extLst>
                        <a:ext uri="{FF2B5EF4-FFF2-40B4-BE49-F238E27FC236}">
                          <a16:creationId xmlns:a16="http://schemas.microsoft.com/office/drawing/2014/main" id="{19888747-9170-E4AD-78F2-2081289DA32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605224" y="1599108"/>
                      <a:ext cx="2912140" cy="923272"/>
                      <a:chOff x="1605224" y="1599108"/>
                      <a:chExt cx="2912140" cy="923272"/>
                    </a:xfrm>
                  </p:grpSpPr>
                  <p:grpSp>
                    <p:nvGrpSpPr>
                      <p:cNvPr id="98" name="Group 97">
                        <a:extLst>
                          <a:ext uri="{FF2B5EF4-FFF2-40B4-BE49-F238E27FC236}">
                            <a16:creationId xmlns:a16="http://schemas.microsoft.com/office/drawing/2014/main" id="{634D968C-4907-C8AB-1683-500984EDAB8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605224" y="1599108"/>
                        <a:ext cx="2283381" cy="923272"/>
                        <a:chOff x="1746885" y="5238877"/>
                        <a:chExt cx="2283381" cy="923272"/>
                      </a:xfrm>
                    </p:grpSpPr>
                    <p:grpSp>
                      <p:nvGrpSpPr>
                        <p:cNvPr id="91" name="Group 90">
                          <a:extLst>
                            <a:ext uri="{FF2B5EF4-FFF2-40B4-BE49-F238E27FC236}">
                              <a16:creationId xmlns:a16="http://schemas.microsoft.com/office/drawing/2014/main" id="{100CEE3F-0B1F-51C4-640B-525CC77D17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746885" y="5238877"/>
                          <a:ext cx="2239249" cy="923272"/>
                          <a:chOff x="1590040" y="5303322"/>
                          <a:chExt cx="2374765" cy="923272"/>
                        </a:xfrm>
                      </p:grpSpPr>
                      <p:sp>
                        <p:nvSpPr>
                          <p:cNvPr id="90" name="Rectangle: Rounded Corners 89">
                            <a:extLst>
                              <a:ext uri="{FF2B5EF4-FFF2-40B4-BE49-F238E27FC236}">
                                <a16:creationId xmlns:a16="http://schemas.microsoft.com/office/drawing/2014/main" id="{6FBF2E9F-5D77-9ADE-7152-C81C1A733CD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466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87" name="Rectangle 86">
                            <a:extLst>
                              <a:ext uri="{FF2B5EF4-FFF2-40B4-BE49-F238E27FC236}">
                                <a16:creationId xmlns:a16="http://schemas.microsoft.com/office/drawing/2014/main" id="{2226E9FD-9D7F-477B-5597-2AEA05E3F34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603165"/>
                            <a:ext cx="2374765" cy="323587"/>
                          </a:xfrm>
                          <a:prstGeom prst="rect">
                            <a:avLst/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88" name="Rectangle: Rounded Corners 87">
                            <a:extLst>
                              <a:ext uri="{FF2B5EF4-FFF2-40B4-BE49-F238E27FC236}">
                                <a16:creationId xmlns:a16="http://schemas.microsoft.com/office/drawing/2014/main" id="{87BCEB7F-0233-D2C1-3A52-344B63D9C7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590040" y="5303322"/>
                            <a:ext cx="2374765" cy="923272"/>
                          </a:xfrm>
                          <a:prstGeom prst="roundRect">
                            <a:avLst>
                              <a:gd name="adj" fmla="val 9879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83" name="TextBox 82">
                          <a:extLst>
                            <a:ext uri="{FF2B5EF4-FFF2-40B4-BE49-F238E27FC236}">
                              <a16:creationId xmlns:a16="http://schemas.microsoft.com/office/drawing/2014/main" id="{048302D5-242E-EB61-E965-DD80D6F6BCB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848816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sp>
                      <p:nvSpPr>
                        <p:cNvPr id="84" name="TextBox 83">
                          <a:extLst>
                            <a:ext uri="{FF2B5EF4-FFF2-40B4-BE49-F238E27FC236}">
                              <a16:creationId xmlns:a16="http://schemas.microsoft.com/office/drawing/2014/main" id="{4F24F3AA-FD33-1A2E-0461-D2F1702107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549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5G Mobile Phone</a:t>
                          </a:r>
                        </a:p>
                      </p:txBody>
                    </p:sp>
                    <p:sp>
                      <p:nvSpPr>
                        <p:cNvPr id="85" name="TextBox 84">
                          <a:extLst>
                            <a:ext uri="{FF2B5EF4-FFF2-40B4-BE49-F238E27FC236}">
                              <a16:creationId xmlns:a16="http://schemas.microsoft.com/office/drawing/2014/main" id="{C39D088B-736E-499D-7E43-E5FB7908AB3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060863" y="5250764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93" name="Graphic 92" descr="Smart Phone with solid fill">
                          <a:extLst>
                            <a:ext uri="{FF2B5EF4-FFF2-40B4-BE49-F238E27FC236}">
                              <a16:creationId xmlns:a16="http://schemas.microsoft.com/office/drawing/2014/main" id="{7F860B22-AFCA-FBEB-515A-AE4BE6CE5C77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2">
                          <a:extLst>
                            <a:ext uri="{96DAC541-7B7A-43D3-8B79-37D633B846F1}">
                              <asvg:svgBlip xmlns:asvg="http://schemas.microsoft.com/office/drawing/2016/SVG/main" r:embed="rId3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94659" y="5582141"/>
                          <a:ext cx="221508" cy="221506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5" name="Graphic 94">
                          <a:extLst>
                            <a:ext uri="{FF2B5EF4-FFF2-40B4-BE49-F238E27FC236}">
                              <a16:creationId xmlns:a16="http://schemas.microsoft.com/office/drawing/2014/main" id="{617038CE-6DA9-9CAA-9364-7DF6A08B02DC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1876918" y="5880130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  <p:pic>
                      <p:nvPicPr>
                        <p:cNvPr id="97" name="Graphic 96" descr="Wireless router with solid fill">
                          <a:extLst>
                            <a:ext uri="{FF2B5EF4-FFF2-40B4-BE49-F238E27FC236}">
                              <a16:creationId xmlns:a16="http://schemas.microsoft.com/office/drawing/2014/main" id="{C1D75D05-771C-FCE4-A7D9-F5E220AECAA2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6">
                          <a:extLst>
                            <a:ext uri="{96DAC541-7B7A-43D3-8B79-37D633B846F1}">
                              <asvg:svgBlip xmlns:asvg="http://schemas.microsoft.com/office/drawing/2016/SVG/main" r:embed="rId7"/>
                            </a:ext>
                          </a:extLst>
                        </a:blip>
                        <a:stretch>
                          <a:fillRect/>
                        </a:stretch>
                      </p:blipFill>
                      <p:spPr>
                        <a:xfrm>
                          <a:off x="1888554" y="5271939"/>
                          <a:ext cx="233719" cy="233719"/>
                        </a:xfrm>
                        <a:prstGeom prst="rect">
                          <a:avLst/>
                        </a:prstGeom>
                      </p:spPr>
                    </p:pic>
                  </p:grpSp>
                  <p:pic>
                    <p:nvPicPr>
                      <p:cNvPr id="101" name="Graphic 100" descr="Wi-Fi outline">
                        <a:extLst>
                          <a:ext uri="{FF2B5EF4-FFF2-40B4-BE49-F238E27FC236}">
                            <a16:creationId xmlns:a16="http://schemas.microsoft.com/office/drawing/2014/main" id="{14C1A9D5-3BE8-3F42-0ADC-45CA9C9FF4E8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5400000">
                        <a:off x="3682389" y="1643257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</p:grpSp>
              </p:grpSp>
              <p:sp>
                <p:nvSpPr>
                  <p:cNvPr id="168" name="TextBox 167">
                    <a:extLst>
                      <a:ext uri="{FF2B5EF4-FFF2-40B4-BE49-F238E27FC236}">
                        <a16:creationId xmlns:a16="http://schemas.microsoft.com/office/drawing/2014/main" id="{A648D526-E6A7-758D-E005-A3FD81A65DAB}"/>
                      </a:ext>
                    </a:extLst>
                  </p:cNvPr>
                  <p:cNvSpPr txBox="1"/>
                  <p:nvPr/>
                </p:nvSpPr>
                <p:spPr>
                  <a:xfrm>
                    <a:off x="1200150" y="3348039"/>
                    <a:ext cx="1778445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srsRAN_4G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</p:txBody>
              </p:sp>
            </p:grpSp>
            <p:grpSp>
              <p:nvGrpSpPr>
                <p:cNvPr id="172" name="Group 171">
                  <a:extLst>
                    <a:ext uri="{FF2B5EF4-FFF2-40B4-BE49-F238E27FC236}">
                      <a16:creationId xmlns:a16="http://schemas.microsoft.com/office/drawing/2014/main" id="{E3CC935D-0E71-4D0A-CE18-B6151B8FFE1D}"/>
                    </a:ext>
                  </a:extLst>
                </p:cNvPr>
                <p:cNvGrpSpPr/>
                <p:nvPr/>
              </p:nvGrpSpPr>
              <p:grpSpPr>
                <a:xfrm>
                  <a:off x="3351330" y="2239026"/>
                  <a:ext cx="2953942" cy="1755142"/>
                  <a:chOff x="3351330" y="2239026"/>
                  <a:chExt cx="2953942" cy="1755142"/>
                </a:xfrm>
              </p:grpSpPr>
              <p:grpSp>
                <p:nvGrpSpPr>
                  <p:cNvPr id="166" name="Group 165">
                    <a:extLst>
                      <a:ext uri="{FF2B5EF4-FFF2-40B4-BE49-F238E27FC236}">
                        <a16:creationId xmlns:a16="http://schemas.microsoft.com/office/drawing/2014/main" id="{52BFB7AD-7AC6-A48C-0960-639E212C7C00}"/>
                      </a:ext>
                    </a:extLst>
                  </p:cNvPr>
                  <p:cNvGrpSpPr/>
                  <p:nvPr/>
                </p:nvGrpSpPr>
                <p:grpSpPr>
                  <a:xfrm>
                    <a:off x="3351330" y="2239026"/>
                    <a:ext cx="2953942" cy="1189714"/>
                    <a:chOff x="3351330" y="2239026"/>
                    <a:chExt cx="2953942" cy="1189714"/>
                  </a:xfrm>
                </p:grpSpPr>
                <p:sp>
                  <p:nvSpPr>
                    <p:cNvPr id="105" name="TextBox 104">
                      <a:extLst>
                        <a:ext uri="{FF2B5EF4-FFF2-40B4-BE49-F238E27FC236}">
                          <a16:creationId xmlns:a16="http://schemas.microsoft.com/office/drawing/2014/main" id="{DBAFB9D3-DC62-A48E-411E-317A70A9B3A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021891" y="3120963"/>
                      <a:ext cx="2239249" cy="307777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Next Generation Node B</a:t>
                      </a:r>
                    </a:p>
                  </p:txBody>
                </p:sp>
                <p:grpSp>
                  <p:nvGrpSpPr>
                    <p:cNvPr id="165" name="Group 164">
                      <a:extLst>
                        <a:ext uri="{FF2B5EF4-FFF2-40B4-BE49-F238E27FC236}">
                          <a16:creationId xmlns:a16="http://schemas.microsoft.com/office/drawing/2014/main" id="{94B6153A-628D-51A2-53C1-51D9E895F02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3351330" y="2239026"/>
                      <a:ext cx="2953942" cy="834976"/>
                      <a:chOff x="3351330" y="2239026"/>
                      <a:chExt cx="2953942" cy="834976"/>
                    </a:xfrm>
                  </p:grpSpPr>
                  <p:pic>
                    <p:nvPicPr>
                      <p:cNvPr id="150" name="Graphic 149" descr="Wi-Fi outline">
                        <a:extLst>
                          <a:ext uri="{FF2B5EF4-FFF2-40B4-BE49-F238E27FC236}">
                            <a16:creationId xmlns:a16="http://schemas.microsoft.com/office/drawing/2014/main" id="{A4384971-E0FA-83AB-3ECA-EA68B5363120}"/>
                          </a:ext>
                        </a:extLst>
                      </p:cNvPr>
                      <p:cNvPicPr>
                        <a:picLocks noChangeAspect="1"/>
                      </p:cNvPicPr>
                      <p:nvPr/>
                    </p:nvPicPr>
                    <p:blipFill>
                      <a:blip r:embed="rId8">
                        <a:extLst>
                          <a:ext uri="{96DAC541-7B7A-43D3-8B79-37D633B846F1}">
                            <asvg:svgBlip xmlns:asvg="http://schemas.microsoft.com/office/drawing/2016/SVG/main" r:embed="rId9"/>
                          </a:ext>
                        </a:extLst>
                      </a:blip>
                      <a:stretch>
                        <a:fillRect/>
                      </a:stretch>
                    </p:blipFill>
                    <p:spPr>
                      <a:xfrm rot="16200000" flipH="1">
                        <a:off x="3351330" y="2239026"/>
                        <a:ext cx="834976" cy="834975"/>
                      </a:xfrm>
                      <a:prstGeom prst="rect">
                        <a:avLst/>
                      </a:prstGeom>
                    </p:spPr>
                  </p:pic>
                  <p:grpSp>
                    <p:nvGrpSpPr>
                      <p:cNvPr id="164" name="Group 163">
                        <a:extLst>
                          <a:ext uri="{FF2B5EF4-FFF2-40B4-BE49-F238E27FC236}">
                            <a16:creationId xmlns:a16="http://schemas.microsoft.com/office/drawing/2014/main" id="{FEDF8195-14CB-11B2-B6D5-E25DE2BBA92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2283381" cy="618690"/>
                        <a:chOff x="4021891" y="2194877"/>
                        <a:chExt cx="2283381" cy="618690"/>
                      </a:xfrm>
                    </p:grpSpPr>
                    <p:grpSp>
                      <p:nvGrpSpPr>
                        <p:cNvPr id="157" name="Group 156">
                          <a:extLst>
                            <a:ext uri="{FF2B5EF4-FFF2-40B4-BE49-F238E27FC236}">
                              <a16:creationId xmlns:a16="http://schemas.microsoft.com/office/drawing/2014/main" id="{26375E39-3569-ADBB-F1AE-67A9EF281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2239249" cy="618690"/>
                          <a:chOff x="4021891" y="2194877"/>
                          <a:chExt cx="2239249" cy="618690"/>
                        </a:xfrm>
                      </p:grpSpPr>
                      <p:sp>
                        <p:nvSpPr>
                          <p:cNvPr id="116" name="Rectangle: Rounded Corners 115">
                            <a:extLst>
                              <a:ext uri="{FF2B5EF4-FFF2-40B4-BE49-F238E27FC236}">
                                <a16:creationId xmlns:a16="http://schemas.microsoft.com/office/drawing/2014/main" id="{763E022C-45EC-17F5-4D28-50ED4E68B3D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54" name="Rectangle: Top Corners Rounded 153">
                            <a:extLst>
                              <a:ext uri="{FF2B5EF4-FFF2-40B4-BE49-F238E27FC236}">
                                <a16:creationId xmlns:a16="http://schemas.microsoft.com/office/drawing/2014/main" id="{FC1DFCF3-A2B2-8659-C2ED-0301735E43E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2238468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  <p:sp>
                        <p:nvSpPr>
                          <p:cNvPr id="118" name="Rectangle: Rounded Corners 117">
                            <a:extLst>
                              <a:ext uri="{FF2B5EF4-FFF2-40B4-BE49-F238E27FC236}">
                                <a16:creationId xmlns:a16="http://schemas.microsoft.com/office/drawing/2014/main" id="{B5766D04-B969-3849-BAD6-E5FBF42BA6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8"/>
                            <a:ext cx="2239249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noFill/>
                          <a:ln w="12700">
                            <a:solidFill>
                              <a:schemeClr val="bg1"/>
                            </a:solidFill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</p:grpSp>
                    <p:sp>
                      <p:nvSpPr>
                        <p:cNvPr id="158" name="TextBox 157">
                          <a:extLst>
                            <a:ext uri="{FF2B5EF4-FFF2-40B4-BE49-F238E27FC236}">
                              <a16:creationId xmlns:a16="http://schemas.microsoft.com/office/drawing/2014/main" id="{118DB05C-DAB0-A421-F073-A792FE4EAAA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202843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Software-Defined Radio</a:t>
                          </a:r>
                        </a:p>
                      </p:txBody>
                    </p:sp>
                    <p:pic>
                      <p:nvPicPr>
                        <p:cNvPr id="159" name="Graphic 158">
                          <a:extLst>
                            <a:ext uri="{FF2B5EF4-FFF2-40B4-BE49-F238E27FC236}">
                              <a16:creationId xmlns:a16="http://schemas.microsoft.com/office/drawing/2014/main" id="{D29AD5AF-3219-6D63-1EA7-142390B52B38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0">
                          <a:extLst>
                            <a:ext uri="{96DAC541-7B7A-43D3-8B79-37D633B846F1}">
                              <asvg:svgBlip xmlns:asvg="http://schemas.microsoft.com/office/drawing/2016/SVG/main" r:embed="rId11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34842" y="2215325"/>
                          <a:ext cx="289426" cy="28942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62" name="TextBox 161">
                          <a:extLst>
                            <a:ext uri="{FF2B5EF4-FFF2-40B4-BE49-F238E27FC236}">
                              <a16:creationId xmlns:a16="http://schemas.microsoft.com/office/drawing/2014/main" id="{0BF92B8E-1B5B-2C80-D2F6-A6431705198E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69" y="2505790"/>
                          <a:ext cx="1969403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RF Simulator / </a:t>
                          </a:r>
                          <a:r>
                            <a:rPr lang="en-US" sz="1400" dirty="0" err="1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ZeroMQ</a:t>
                          </a:r>
                          <a:endParaRPr lang="en-US" sz="1400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endParaRPr>
                        </a:p>
                      </p:txBody>
                    </p:sp>
                    <p:pic>
                      <p:nvPicPr>
                        <p:cNvPr id="163" name="Graphic 162">
                          <a:extLst>
                            <a:ext uri="{FF2B5EF4-FFF2-40B4-BE49-F238E27FC236}">
                              <a16:creationId xmlns:a16="http://schemas.microsoft.com/office/drawing/2014/main" id="{8BF6375D-4174-C1B1-57AE-E2DA824F94CE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4">
                          <a:extLst>
                            <a:ext uri="{96DAC541-7B7A-43D3-8B79-37D633B846F1}">
                              <asvg:svgBlip xmlns:asvg="http://schemas.microsoft.com/office/drawing/2016/SVG/main" r:embed="rId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>
                          <a:off x="4167277" y="2528018"/>
                          <a:ext cx="256990" cy="256990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</p:grpSp>
              <p:sp>
                <p:nvSpPr>
                  <p:cNvPr id="169" name="TextBox 168">
                    <a:extLst>
                      <a:ext uri="{FF2B5EF4-FFF2-40B4-BE49-F238E27FC236}">
                        <a16:creationId xmlns:a16="http://schemas.microsoft.com/office/drawing/2014/main" id="{03D8F466-4922-1498-BC9F-4475B7D5BC61}"/>
                      </a:ext>
                    </a:extLst>
                  </p:cNvPr>
                  <p:cNvSpPr txBox="1"/>
                  <p:nvPr/>
                </p:nvSpPr>
                <p:spPr>
                  <a:xfrm>
                    <a:off x="4167277" y="3347837"/>
                    <a:ext cx="2095177" cy="646331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 err="1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srsRAN_Project</a:t>
                    </a:r>
                    <a:endParaRPr lang="en-US" sz="12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OpenAirInterface5G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E2 Simulator</a:t>
                    </a:r>
                  </a:p>
                </p:txBody>
              </p:sp>
            </p:grpSp>
            <p:grpSp>
              <p:nvGrpSpPr>
                <p:cNvPr id="210" name="Group 209">
                  <a:extLst>
                    <a:ext uri="{FF2B5EF4-FFF2-40B4-BE49-F238E27FC236}">
                      <a16:creationId xmlns:a16="http://schemas.microsoft.com/office/drawing/2014/main" id="{6D139E02-B579-A024-59D1-D2BBA1D5BC77}"/>
                    </a:ext>
                  </a:extLst>
                </p:cNvPr>
                <p:cNvGrpSpPr/>
                <p:nvPr/>
              </p:nvGrpSpPr>
              <p:grpSpPr>
                <a:xfrm>
                  <a:off x="7069263" y="2343469"/>
                  <a:ext cx="1689168" cy="1154191"/>
                  <a:chOff x="7311071" y="2343469"/>
                  <a:chExt cx="1689168" cy="1154191"/>
                </a:xfrm>
              </p:grpSpPr>
              <p:grpSp>
                <p:nvGrpSpPr>
                  <p:cNvPr id="174" name="Group 173">
                    <a:extLst>
                      <a:ext uri="{FF2B5EF4-FFF2-40B4-BE49-F238E27FC236}">
                        <a16:creationId xmlns:a16="http://schemas.microsoft.com/office/drawing/2014/main" id="{587E8459-7A4D-1604-94F9-4B4D16914130}"/>
                      </a:ext>
                    </a:extLst>
                  </p:cNvPr>
                  <p:cNvGrpSpPr/>
                  <p:nvPr/>
                </p:nvGrpSpPr>
                <p:grpSpPr>
                  <a:xfrm>
                    <a:off x="7311071" y="2347277"/>
                    <a:ext cx="1689168" cy="1150383"/>
                    <a:chOff x="4019338" y="2347277"/>
                    <a:chExt cx="1689168" cy="1150383"/>
                  </a:xfrm>
                </p:grpSpPr>
                <p:grpSp>
                  <p:nvGrpSpPr>
                    <p:cNvPr id="175" name="Group 174">
                      <a:extLst>
                        <a:ext uri="{FF2B5EF4-FFF2-40B4-BE49-F238E27FC236}">
                          <a16:creationId xmlns:a16="http://schemas.microsoft.com/office/drawing/2014/main" id="{F4F05426-1DE6-FE3E-CA67-1D2E14DB13E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019338" y="2347277"/>
                      <a:ext cx="1568356" cy="954287"/>
                      <a:chOff x="4019338" y="2347277"/>
                      <a:chExt cx="1568356" cy="954287"/>
                    </a:xfrm>
                  </p:grpSpPr>
                  <p:sp>
                    <p:nvSpPr>
                      <p:cNvPr id="177" name="TextBox 176">
                        <a:extLst>
                          <a:ext uri="{FF2B5EF4-FFF2-40B4-BE49-F238E27FC236}">
                            <a16:creationId xmlns:a16="http://schemas.microsoft.com/office/drawing/2014/main" id="{63AF03B5-ABEE-6A9E-0665-4E76E054C4D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019338" y="2993787"/>
                        <a:ext cx="1568356" cy="307777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>
                        <a:spAutoFit/>
                      </a:bodyPr>
                      <a:lstStyle/>
                      <a:p>
                        <a:pPr algn="ctr"/>
                        <a:r>
                          <a:rPr lang="en-US" sz="1400" b="1" dirty="0">
                            <a:solidFill>
                              <a:schemeClr val="bg1"/>
                            </a:solidFill>
                            <a:latin typeface="Times New Roman" panose="02020603050405020304" pitchFamily="18" charset="0"/>
                            <a:cs typeface="Times New Roman" panose="02020603050405020304" pitchFamily="18" charset="0"/>
                          </a:rPr>
                          <a:t>5G Core Network</a:t>
                        </a:r>
                      </a:p>
                    </p:txBody>
                  </p:sp>
                  <p:grpSp>
                    <p:nvGrpSpPr>
                      <p:cNvPr id="180" name="Group 179">
                        <a:extLst>
                          <a:ext uri="{FF2B5EF4-FFF2-40B4-BE49-F238E27FC236}">
                            <a16:creationId xmlns:a16="http://schemas.microsoft.com/office/drawing/2014/main" id="{D35255B8-2E95-3894-2B36-1E12BFB04D1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4021891" y="2347277"/>
                        <a:ext cx="1565803" cy="618690"/>
                        <a:chOff x="4021891" y="2194877"/>
                        <a:chExt cx="1565803" cy="618690"/>
                      </a:xfrm>
                    </p:grpSpPr>
                    <p:grpSp>
                      <p:nvGrpSpPr>
                        <p:cNvPr id="181" name="Group 180">
                          <a:extLst>
                            <a:ext uri="{FF2B5EF4-FFF2-40B4-BE49-F238E27FC236}">
                              <a16:creationId xmlns:a16="http://schemas.microsoft.com/office/drawing/2014/main" id="{528EDB48-B949-B841-8C80-A542DAC9441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4021891" y="2194877"/>
                          <a:ext cx="1565803" cy="618689"/>
                          <a:chOff x="4021891" y="2194877"/>
                          <a:chExt cx="1565803" cy="618689"/>
                        </a:xfrm>
                      </p:grpSpPr>
                      <p:sp>
                        <p:nvSpPr>
                          <p:cNvPr id="186" name="Rectangle: Rounded Corners 185">
                            <a:extLst>
                              <a:ext uri="{FF2B5EF4-FFF2-40B4-BE49-F238E27FC236}">
                                <a16:creationId xmlns:a16="http://schemas.microsoft.com/office/drawing/2014/main" id="{741AD84D-B1A3-9C27-B906-C7D6270533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4021891" y="2194877"/>
                            <a:ext cx="1565803" cy="618689"/>
                          </a:xfrm>
                          <a:prstGeom prst="roundRect">
                            <a:avLst>
                              <a:gd name="adj" fmla="val 12974"/>
                            </a:avLst>
                          </a:prstGeom>
                          <a:solidFill>
                            <a:schemeClr val="bg2">
                              <a:lumMod val="25000"/>
                            </a:schemeClr>
                          </a:solidFill>
                          <a:ln w="28575"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endParaRPr>
                          </a:p>
                        </p:txBody>
                      </p:sp>
                      <p:sp>
                        <p:nvSpPr>
                          <p:cNvPr id="187" name="Rectangle: Top Corners Rounded 186">
                            <a:extLst>
                              <a:ext uri="{FF2B5EF4-FFF2-40B4-BE49-F238E27FC236}">
                                <a16:creationId xmlns:a16="http://schemas.microsoft.com/office/drawing/2014/main" id="{B06EE221-0B6C-2630-BDD3-45B204DB206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 flipV="1">
                            <a:off x="4022672" y="2504431"/>
                            <a:ext cx="1565022" cy="307778"/>
                          </a:xfrm>
                          <a:prstGeom prst="round2SameRect">
                            <a:avLst>
                              <a:gd name="adj1" fmla="val 28674"/>
                              <a:gd name="adj2" fmla="val 0"/>
                            </a:avLst>
                          </a:prstGeom>
                          <a:solidFill>
                            <a:schemeClr val="tx1">
                              <a:lumMod val="85000"/>
                              <a:lumOff val="15000"/>
                            </a:schemeClr>
                          </a:solidFill>
                          <a:ln>
                            <a:noFill/>
                          </a:ln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>
                              <a:solidFill>
                                <a:schemeClr val="bg1"/>
                              </a:solidFill>
                            </a:endParaRPr>
                          </a:p>
                        </p:txBody>
                      </p:sp>
                    </p:grpSp>
                    <p:sp>
                      <p:nvSpPr>
                        <p:cNvPr id="182" name="TextBox 181">
                          <a:extLst>
                            <a:ext uri="{FF2B5EF4-FFF2-40B4-BE49-F238E27FC236}">
                              <a16:creationId xmlns:a16="http://schemas.microsoft.com/office/drawing/2014/main" id="{7186A5FD-B9F2-4232-0FE2-63750A4253C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202843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AMF</a:t>
                          </a:r>
                        </a:p>
                      </p:txBody>
                    </p:sp>
                    <p:pic>
                      <p:nvPicPr>
                        <p:cNvPr id="183" name="Graphic 182">
                          <a:extLst>
                            <a:ext uri="{FF2B5EF4-FFF2-40B4-BE49-F238E27FC236}">
                              <a16:creationId xmlns:a16="http://schemas.microsoft.com/office/drawing/2014/main" id="{5CC76CF6-3C16-BF02-9DF2-2C6D92632B0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2">
                          <a:extLst>
                            <a:ext uri="{96DAC541-7B7A-43D3-8B79-37D633B846F1}">
                              <asvg:svgBlip xmlns:asvg="http://schemas.microsoft.com/office/drawing/2016/SVG/main" r:embed="rId13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54082" y="2234565"/>
                          <a:ext cx="250946" cy="250946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184" name="TextBox 183">
                          <a:extLst>
                            <a:ext uri="{FF2B5EF4-FFF2-40B4-BE49-F238E27FC236}">
                              <a16:creationId xmlns:a16="http://schemas.microsoft.com/office/drawing/2014/main" id="{CE9ED2EF-10C3-3BB9-D92A-8E921FE6574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335870" y="2505790"/>
                          <a:ext cx="960137" cy="307777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>
                          <a:spAutoFit/>
                        </a:bodyPr>
                        <a:lstStyle/>
                        <a:p>
                          <a:pPr algn="ctr"/>
                          <a:r>
                            <a:rPr lang="en-US" sz="1400" dirty="0">
                              <a:solidFill>
                                <a:schemeClr val="bg1"/>
                              </a:solidFill>
                              <a:latin typeface="Times New Roman" panose="02020603050405020304" pitchFamily="18" charset="0"/>
                              <a:cs typeface="Times New Roman" panose="02020603050405020304" pitchFamily="18" charset="0"/>
                            </a:rPr>
                            <a:t>UPF</a:t>
                          </a:r>
                        </a:p>
                      </p:txBody>
                    </p:sp>
                    <p:pic>
                      <p:nvPicPr>
                        <p:cNvPr id="185" name="Graphic 184">
                          <a:extLst>
                            <a:ext uri="{FF2B5EF4-FFF2-40B4-BE49-F238E27FC236}">
                              <a16:creationId xmlns:a16="http://schemas.microsoft.com/office/drawing/2014/main" id="{43C59E9A-2AF5-FAFB-647B-C72736050E96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14">
                          <a:extLst>
                            <a:ext uri="{96DAC541-7B7A-43D3-8B79-37D633B846F1}">
                              <asvg:svgBlip xmlns:asvg="http://schemas.microsoft.com/office/drawing/2016/SVG/main" r:embed="rId15"/>
                            </a:ext>
                          </a:extLst>
                        </a:blip>
                        <a:srcRect/>
                        <a:stretch/>
                      </p:blipFill>
                      <p:spPr>
                        <a:xfrm rot="16200000">
                          <a:off x="4186516" y="2547257"/>
                          <a:ext cx="218512" cy="218512"/>
                        </a:xfrm>
                        <a:prstGeom prst="rect">
                          <a:avLst/>
                        </a:prstGeom>
                      </p:spPr>
                    </p:pic>
                  </p:grpSp>
                </p:grpSp>
                <p:sp>
                  <p:nvSpPr>
                    <p:cNvPr id="176" name="TextBox 175">
                      <a:extLst>
                        <a:ext uri="{FF2B5EF4-FFF2-40B4-BE49-F238E27FC236}">
                          <a16:creationId xmlns:a16="http://schemas.microsoft.com/office/drawing/2014/main" id="{A0649D89-E505-22A1-9F9B-838D485FC1C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40150" y="3220661"/>
                      <a:ext cx="1568356" cy="276999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200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Open5GS</a:t>
                      </a:r>
                    </a:p>
                  </p:txBody>
                </p:sp>
              </p:grpSp>
              <p:sp>
                <p:nvSpPr>
                  <p:cNvPr id="200" name="Rectangle: Top Corners Rounded 199">
                    <a:extLst>
                      <a:ext uri="{FF2B5EF4-FFF2-40B4-BE49-F238E27FC236}">
                        <a16:creationId xmlns:a16="http://schemas.microsoft.com/office/drawing/2014/main" id="{074F6BA7-4338-23EC-A819-D42EEC10AD53}"/>
                      </a:ext>
                    </a:extLst>
                  </p:cNvPr>
                  <p:cNvSpPr/>
                  <p:nvPr/>
                </p:nvSpPr>
                <p:spPr>
                  <a:xfrm rot="16200000" flipV="1">
                    <a:off x="8464933" y="2550115"/>
                    <a:ext cx="621140" cy="207847"/>
                  </a:xfrm>
                  <a:prstGeom prst="round2SameRect">
                    <a:avLst>
                      <a:gd name="adj1" fmla="val 39753"/>
                      <a:gd name="adj2" fmla="val 0"/>
                    </a:avLst>
                  </a:prstGeom>
                  <a:solidFill>
                    <a:srgbClr val="30303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07" name="Rectangle: Rounded Corners 206">
                    <a:extLst>
                      <a:ext uri="{FF2B5EF4-FFF2-40B4-BE49-F238E27FC236}">
                        <a16:creationId xmlns:a16="http://schemas.microsoft.com/office/drawing/2014/main" id="{2AD042C8-D8C8-686C-04E3-C1DA9627FCDA}"/>
                      </a:ext>
                    </a:extLst>
                  </p:cNvPr>
                  <p:cNvSpPr/>
                  <p:nvPr/>
                </p:nvSpPr>
                <p:spPr>
                  <a:xfrm>
                    <a:off x="7313624" y="2347278"/>
                    <a:ext cx="1565803" cy="618689"/>
                  </a:xfrm>
                  <a:prstGeom prst="roundRect">
                    <a:avLst>
                      <a:gd name="adj" fmla="val 12974"/>
                    </a:avLst>
                  </a:prstGeom>
                  <a:noFill/>
                  <a:ln w="12700">
                    <a:solidFill>
                      <a:schemeClr val="bg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  <p:cxnSp>
            <p:nvCxnSpPr>
              <p:cNvPr id="236" name="Connector: Elbow 235">
                <a:extLst>
                  <a:ext uri="{FF2B5EF4-FFF2-40B4-BE49-F238E27FC236}">
                    <a16:creationId xmlns:a16="http://schemas.microsoft.com/office/drawing/2014/main" id="{AF73C65C-EB2D-83CA-18A4-ED9FC7D18AE9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5806210" y="3005765"/>
                <a:ext cx="1105253" cy="165302"/>
              </a:xfrm>
              <a:prstGeom prst="bentConnector2">
                <a:avLst/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98" name="Group 297">
                <a:extLst>
                  <a:ext uri="{FF2B5EF4-FFF2-40B4-BE49-F238E27FC236}">
                    <a16:creationId xmlns:a16="http://schemas.microsoft.com/office/drawing/2014/main" id="{F4F66483-A881-AB8E-EA24-A1046F52E2A4}"/>
                  </a:ext>
                </a:extLst>
              </p:cNvPr>
              <p:cNvGrpSpPr/>
              <p:nvPr/>
            </p:nvGrpSpPr>
            <p:grpSpPr>
              <a:xfrm>
                <a:off x="2803656" y="1879053"/>
                <a:ext cx="3500830" cy="1617300"/>
                <a:chOff x="4409110" y="1660130"/>
                <a:chExt cx="3500830" cy="1617300"/>
              </a:xfrm>
            </p:grpSpPr>
            <p:sp>
              <p:nvSpPr>
                <p:cNvPr id="299" name="Rectangle: Rounded Corners 298">
                  <a:extLst>
                    <a:ext uri="{FF2B5EF4-FFF2-40B4-BE49-F238E27FC236}">
                      <a16:creationId xmlns:a16="http://schemas.microsoft.com/office/drawing/2014/main" id="{F9387809-F426-D5E8-6E1E-11DD2B11E5EC}"/>
                    </a:ext>
                  </a:extLst>
                </p:cNvPr>
                <p:cNvSpPr/>
                <p:nvPr/>
              </p:nvSpPr>
              <p:spPr>
                <a:xfrm>
                  <a:off x="4409110" y="1660130"/>
                  <a:ext cx="3500830" cy="924852"/>
                </a:xfrm>
                <a:prstGeom prst="roundRect">
                  <a:avLst>
                    <a:gd name="adj" fmla="val 8734"/>
                  </a:avLst>
                </a:prstGeom>
                <a:solidFill>
                  <a:srgbClr val="26262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300" name="Group 299">
                  <a:extLst>
                    <a:ext uri="{FF2B5EF4-FFF2-40B4-BE49-F238E27FC236}">
                      <a16:creationId xmlns:a16="http://schemas.microsoft.com/office/drawing/2014/main" id="{BE3ABA9F-C4F0-6B23-7A0B-536CE88F0275}"/>
                    </a:ext>
                  </a:extLst>
                </p:cNvPr>
                <p:cNvGrpSpPr/>
                <p:nvPr/>
              </p:nvGrpSpPr>
              <p:grpSpPr>
                <a:xfrm>
                  <a:off x="4746251" y="2611103"/>
                  <a:ext cx="3014194" cy="666327"/>
                  <a:chOff x="4854563" y="2611103"/>
                  <a:chExt cx="3014194" cy="666327"/>
                </a:xfrm>
              </p:grpSpPr>
              <p:sp>
                <p:nvSpPr>
                  <p:cNvPr id="301" name="TextBox 300">
                    <a:extLst>
                      <a:ext uri="{FF2B5EF4-FFF2-40B4-BE49-F238E27FC236}">
                        <a16:creationId xmlns:a16="http://schemas.microsoft.com/office/drawing/2014/main" id="{6C148EEF-91F3-60B8-DD63-926E75254BC6}"/>
                      </a:ext>
                    </a:extLst>
                  </p:cNvPr>
                  <p:cNvSpPr txBox="1"/>
                  <p:nvPr/>
                </p:nvSpPr>
                <p:spPr>
                  <a:xfrm>
                    <a:off x="4854563" y="2611103"/>
                    <a:ext cx="3014194" cy="307777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algn="ctr"/>
                    <a:r>
                      <a:rPr lang="en-US" sz="1400" b="1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Near-RT RAN Intelligent Controller</a:t>
                    </a:r>
                  </a:p>
                </p:txBody>
              </p:sp>
              <p:sp>
                <p:nvSpPr>
                  <p:cNvPr id="302" name="TextBox 301">
                    <a:extLst>
                      <a:ext uri="{FF2B5EF4-FFF2-40B4-BE49-F238E27FC236}">
                        <a16:creationId xmlns:a16="http://schemas.microsoft.com/office/drawing/2014/main" id="{9CEF86A8-EAFC-DCF5-1A14-9BEF19C47DC4}"/>
                      </a:ext>
                    </a:extLst>
                  </p:cNvPr>
                  <p:cNvSpPr txBox="1"/>
                  <p:nvPr/>
                </p:nvSpPr>
                <p:spPr>
                  <a:xfrm>
                    <a:off x="5404466" y="2815765"/>
                    <a:ext cx="2078132" cy="461665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O-RAN SC RIC</a:t>
                    </a:r>
                  </a:p>
                  <a:p>
                    <a:pPr marL="285750" indent="-285750">
                      <a:buFont typeface="Arial" panose="020B0604020202020204" pitchFamily="34" charset="0"/>
                      <a:buChar char="•"/>
                    </a:pPr>
                    <a:r>
                      <a:rPr lang="en-US" sz="1200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rPr>
                      <a:t>FlexRIC</a:t>
                    </a:r>
                  </a:p>
                </p:txBody>
              </p:sp>
            </p:grpSp>
          </p:grpSp>
          <p:cxnSp>
            <p:nvCxnSpPr>
              <p:cNvPr id="316" name="Straight Connector 315">
                <a:extLst>
                  <a:ext uri="{FF2B5EF4-FFF2-40B4-BE49-F238E27FC236}">
                    <a16:creationId xmlns:a16="http://schemas.microsoft.com/office/drawing/2014/main" id="{6F0B4269-577E-98FD-100F-DD6A17414AE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304486" y="2146139"/>
                <a:ext cx="984962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318" name="TextBox 317">
                <a:extLst>
                  <a:ext uri="{FF2B5EF4-FFF2-40B4-BE49-F238E27FC236}">
                    <a16:creationId xmlns:a16="http://schemas.microsoft.com/office/drawing/2014/main" id="{5EECCEE8-0AA8-0FC0-E9C6-8A95995C8165}"/>
                  </a:ext>
                </a:extLst>
              </p:cNvPr>
              <p:cNvSpPr txBox="1"/>
              <p:nvPr/>
            </p:nvSpPr>
            <p:spPr>
              <a:xfrm>
                <a:off x="6318121" y="1897625"/>
                <a:ext cx="971328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Policy</a:t>
                </a:r>
              </a:p>
            </p:txBody>
          </p:sp>
          <p:sp>
            <p:nvSpPr>
              <p:cNvPr id="319" name="TextBox 318">
                <a:extLst>
                  <a:ext uri="{FF2B5EF4-FFF2-40B4-BE49-F238E27FC236}">
                    <a16:creationId xmlns:a16="http://schemas.microsoft.com/office/drawing/2014/main" id="{351BDFD2-BC3C-44CA-ACCA-DD137E081438}"/>
                  </a:ext>
                </a:extLst>
              </p:cNvPr>
              <p:cNvSpPr txBox="1"/>
              <p:nvPr/>
            </p:nvSpPr>
            <p:spPr>
              <a:xfrm>
                <a:off x="6407418" y="3202655"/>
                <a:ext cx="2184599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Key Performance Measurement</a:t>
                </a:r>
              </a:p>
              <a:p>
                <a:r>
                  <a:rPr lang="en-US" sz="1200" i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RIC Control</a:t>
                </a:r>
              </a:p>
            </p:txBody>
          </p:sp>
          <p:grpSp>
            <p:nvGrpSpPr>
              <p:cNvPr id="326" name="Group 325">
                <a:extLst>
                  <a:ext uri="{FF2B5EF4-FFF2-40B4-BE49-F238E27FC236}">
                    <a16:creationId xmlns:a16="http://schemas.microsoft.com/office/drawing/2014/main" id="{A3453D33-2D6E-00C9-72F9-A28C5247CD8D}"/>
                  </a:ext>
                </a:extLst>
              </p:cNvPr>
              <p:cNvGrpSpPr/>
              <p:nvPr/>
            </p:nvGrpSpPr>
            <p:grpSpPr>
              <a:xfrm>
                <a:off x="3683988" y="2374246"/>
                <a:ext cx="1234649" cy="310703"/>
                <a:chOff x="3642152" y="2107690"/>
                <a:chExt cx="1143208" cy="310703"/>
              </a:xfrm>
            </p:grpSpPr>
            <p:sp>
              <p:nvSpPr>
                <p:cNvPr id="240" name="Rectangle: Rounded Corners 239">
                  <a:extLst>
                    <a:ext uri="{FF2B5EF4-FFF2-40B4-BE49-F238E27FC236}">
                      <a16:creationId xmlns:a16="http://schemas.microsoft.com/office/drawing/2014/main" id="{4A65C48E-E36E-50DA-D253-3AC63BF3C65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25" name="TextBox 324">
                  <a:extLst>
                    <a:ext uri="{FF2B5EF4-FFF2-40B4-BE49-F238E27FC236}">
                      <a16:creationId xmlns:a16="http://schemas.microsoft.com/office/drawing/2014/main" id="{B086C52C-90A0-EFDE-550F-66D20D667835}"/>
                    </a:ext>
                  </a:extLst>
                </p:cNvPr>
                <p:cNvSpPr txBox="1"/>
                <p:nvPr/>
              </p:nvSpPr>
              <p:spPr>
                <a:xfrm>
                  <a:off x="3642152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KPM Monitor</a:t>
                  </a:r>
                </a:p>
              </p:txBody>
            </p:sp>
          </p:grpSp>
          <p:grpSp>
            <p:nvGrpSpPr>
              <p:cNvPr id="333" name="Group 332">
                <a:extLst>
                  <a:ext uri="{FF2B5EF4-FFF2-40B4-BE49-F238E27FC236}">
                    <a16:creationId xmlns:a16="http://schemas.microsoft.com/office/drawing/2014/main" id="{07E36321-4845-2DC1-D2B9-9B8F056221B6}"/>
                  </a:ext>
                </a:extLst>
              </p:cNvPr>
              <p:cNvGrpSpPr/>
              <p:nvPr/>
            </p:nvGrpSpPr>
            <p:grpSpPr>
              <a:xfrm>
                <a:off x="4916966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4" name="Rectangle: Rounded Corners 333">
                  <a:extLst>
                    <a:ext uri="{FF2B5EF4-FFF2-40B4-BE49-F238E27FC236}">
                      <a16:creationId xmlns:a16="http://schemas.microsoft.com/office/drawing/2014/main" id="{D3E13052-BC5E-8FDC-228F-391E8C378CAF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5" name="TextBox 334">
                  <a:extLst>
                    <a:ext uri="{FF2B5EF4-FFF2-40B4-BE49-F238E27FC236}">
                      <a16:creationId xmlns:a16="http://schemas.microsoft.com/office/drawing/2014/main" id="{D029EA8F-BBA0-5B94-A6E0-EF02786A1ECE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Traffic Steering</a:t>
                  </a:r>
                </a:p>
              </p:txBody>
            </p:sp>
          </p:grpSp>
          <p:grpSp>
            <p:nvGrpSpPr>
              <p:cNvPr id="336" name="Group 335">
                <a:extLst>
                  <a:ext uri="{FF2B5EF4-FFF2-40B4-BE49-F238E27FC236}">
                    <a16:creationId xmlns:a16="http://schemas.microsoft.com/office/drawing/2014/main" id="{84A20A0E-78FB-9D01-1459-3C069A1299BC}"/>
                  </a:ext>
                </a:extLst>
              </p:cNvPr>
              <p:cNvGrpSpPr/>
              <p:nvPr/>
            </p:nvGrpSpPr>
            <p:grpSpPr>
              <a:xfrm>
                <a:off x="3616810" y="1992138"/>
                <a:ext cx="1369001" cy="310703"/>
                <a:chOff x="3579953" y="2107690"/>
                <a:chExt cx="1267610" cy="310703"/>
              </a:xfrm>
            </p:grpSpPr>
            <p:sp>
              <p:nvSpPr>
                <p:cNvPr id="337" name="Rectangle: Rounded Corners 336">
                  <a:extLst>
                    <a:ext uri="{FF2B5EF4-FFF2-40B4-BE49-F238E27FC236}">
                      <a16:creationId xmlns:a16="http://schemas.microsoft.com/office/drawing/2014/main" id="{E58C9A7A-9CC9-A0E6-4D96-B5CC2855D9F2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38" name="TextBox 337">
                  <a:extLst>
                    <a:ext uri="{FF2B5EF4-FFF2-40B4-BE49-F238E27FC236}">
                      <a16:creationId xmlns:a16="http://schemas.microsoft.com/office/drawing/2014/main" id="{A3485B05-CDBC-7ABB-426B-CA02365E2BAD}"/>
                    </a:ext>
                  </a:extLst>
                </p:cNvPr>
                <p:cNvSpPr txBox="1"/>
                <p:nvPr/>
              </p:nvSpPr>
              <p:spPr>
                <a:xfrm>
                  <a:off x="3579953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 err="1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QoE</a:t>
                  </a:r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 Prediction</a:t>
                  </a:r>
                </a:p>
              </p:txBody>
            </p:sp>
          </p:grpSp>
          <p:grpSp>
            <p:nvGrpSpPr>
              <p:cNvPr id="339" name="Group 338">
                <a:extLst>
                  <a:ext uri="{FF2B5EF4-FFF2-40B4-BE49-F238E27FC236}">
                    <a16:creationId xmlns:a16="http://schemas.microsoft.com/office/drawing/2014/main" id="{A8B71324-C15E-9BEE-9D24-A267C3F55BB8}"/>
                  </a:ext>
                </a:extLst>
              </p:cNvPr>
              <p:cNvGrpSpPr/>
              <p:nvPr/>
            </p:nvGrpSpPr>
            <p:grpSpPr>
              <a:xfrm>
                <a:off x="4984143" y="2374246"/>
                <a:ext cx="1234646" cy="310703"/>
                <a:chOff x="3642154" y="2107690"/>
                <a:chExt cx="1143206" cy="310703"/>
              </a:xfrm>
            </p:grpSpPr>
            <p:sp>
              <p:nvSpPr>
                <p:cNvPr id="340" name="Rectangle: Rounded Corners 339">
                  <a:extLst>
                    <a:ext uri="{FF2B5EF4-FFF2-40B4-BE49-F238E27FC236}">
                      <a16:creationId xmlns:a16="http://schemas.microsoft.com/office/drawing/2014/main" id="{77EA2108-4F43-856E-BF34-DC07A4CBBC2A}"/>
                    </a:ext>
                  </a:extLst>
                </p:cNvPr>
                <p:cNvSpPr/>
                <p:nvPr/>
              </p:nvSpPr>
              <p:spPr>
                <a:xfrm>
                  <a:off x="3642155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1" name="TextBox 340">
                  <a:extLst>
                    <a:ext uri="{FF2B5EF4-FFF2-40B4-BE49-F238E27FC236}">
                      <a16:creationId xmlns:a16="http://schemas.microsoft.com/office/drawing/2014/main" id="{DB65914A-4674-4E33-9508-79A71B1F851E}"/>
                    </a:ext>
                  </a:extLst>
                </p:cNvPr>
                <p:cNvSpPr txBox="1"/>
                <p:nvPr/>
              </p:nvSpPr>
              <p:spPr>
                <a:xfrm>
                  <a:off x="3642154" y="2108170"/>
                  <a:ext cx="1143205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RAN Control</a:t>
                  </a:r>
                </a:p>
              </p:txBody>
            </p:sp>
          </p:grpSp>
          <p:grpSp>
            <p:nvGrpSpPr>
              <p:cNvPr id="347" name="Group 346">
                <a:extLst>
                  <a:ext uri="{FF2B5EF4-FFF2-40B4-BE49-F238E27FC236}">
                    <a16:creationId xmlns:a16="http://schemas.microsoft.com/office/drawing/2014/main" id="{5B9BE978-A5DB-D685-10B4-4EA319C39598}"/>
                  </a:ext>
                </a:extLst>
              </p:cNvPr>
              <p:cNvGrpSpPr/>
              <p:nvPr/>
            </p:nvGrpSpPr>
            <p:grpSpPr>
              <a:xfrm>
                <a:off x="9139199" y="2076271"/>
                <a:ext cx="655258" cy="310703"/>
                <a:chOff x="3483267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48" name="Rectangle: Rounded Corners 347">
                  <a:extLst>
                    <a:ext uri="{FF2B5EF4-FFF2-40B4-BE49-F238E27FC236}">
                      <a16:creationId xmlns:a16="http://schemas.microsoft.com/office/drawing/2014/main" id="{3C9841D4-45DC-778F-BEA6-220674ADD499}"/>
                    </a:ext>
                  </a:extLst>
                </p:cNvPr>
                <p:cNvSpPr/>
                <p:nvPr/>
              </p:nvSpPr>
              <p:spPr>
                <a:xfrm>
                  <a:off x="3545470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49" name="TextBox 348">
                  <a:extLst>
                    <a:ext uri="{FF2B5EF4-FFF2-40B4-BE49-F238E27FC236}">
                      <a16:creationId xmlns:a16="http://schemas.microsoft.com/office/drawing/2014/main" id="{492D15C4-5FCA-05B8-E67C-219273E0EB3D}"/>
                    </a:ext>
                  </a:extLst>
                </p:cNvPr>
                <p:cNvSpPr txBox="1"/>
                <p:nvPr/>
              </p:nvSpPr>
              <p:spPr>
                <a:xfrm>
                  <a:off x="3483267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rApps</a:t>
                  </a:r>
                </a:p>
              </p:txBody>
            </p:sp>
          </p:grpSp>
          <p:grpSp>
            <p:nvGrpSpPr>
              <p:cNvPr id="351" name="Group 350">
                <a:extLst>
                  <a:ext uri="{FF2B5EF4-FFF2-40B4-BE49-F238E27FC236}">
                    <a16:creationId xmlns:a16="http://schemas.microsoft.com/office/drawing/2014/main" id="{C0E76DF9-91EC-A649-B11A-91E1BE183B4C}"/>
                  </a:ext>
                </a:extLst>
              </p:cNvPr>
              <p:cNvGrpSpPr/>
              <p:nvPr/>
            </p:nvGrpSpPr>
            <p:grpSpPr>
              <a:xfrm>
                <a:off x="7473233" y="2076384"/>
                <a:ext cx="1712822" cy="310703"/>
                <a:chOff x="3542966" y="2107690"/>
                <a:chExt cx="1267610" cy="310703"/>
              </a:xfrm>
              <a:solidFill>
                <a:schemeClr val="bg1"/>
              </a:solidFill>
            </p:grpSpPr>
            <p:sp>
              <p:nvSpPr>
                <p:cNvPr id="352" name="Rectangle: Rounded Corners 351">
                  <a:extLst>
                    <a:ext uri="{FF2B5EF4-FFF2-40B4-BE49-F238E27FC236}">
                      <a16:creationId xmlns:a16="http://schemas.microsoft.com/office/drawing/2014/main" id="{A35C3105-3252-BC99-072B-85E2366034C7}"/>
                    </a:ext>
                  </a:extLst>
                </p:cNvPr>
                <p:cNvSpPr/>
                <p:nvPr/>
              </p:nvSpPr>
              <p:spPr>
                <a:xfrm>
                  <a:off x="3605168" y="2107690"/>
                  <a:ext cx="1143205" cy="310703"/>
                </a:xfrm>
                <a:prstGeom prst="roundRect">
                  <a:avLst>
                    <a:gd name="adj" fmla="val 12974"/>
                  </a:avLst>
                </a:prstGeom>
                <a:solidFill>
                  <a:schemeClr val="bg2">
                    <a:lumMod val="25000"/>
                  </a:schemeClr>
                </a:solidFill>
                <a:ln w="12700"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353" name="TextBox 352">
                  <a:extLst>
                    <a:ext uri="{FF2B5EF4-FFF2-40B4-BE49-F238E27FC236}">
                      <a16:creationId xmlns:a16="http://schemas.microsoft.com/office/drawing/2014/main" id="{EC5E2325-62FF-4D4A-BD7C-D53E117B8772}"/>
                    </a:ext>
                  </a:extLst>
                </p:cNvPr>
                <p:cNvSpPr txBox="1"/>
                <p:nvPr/>
              </p:nvSpPr>
              <p:spPr>
                <a:xfrm>
                  <a:off x="3542966" y="2108170"/>
                  <a:ext cx="1267610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bg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Policy Management</a:t>
                  </a:r>
                </a:p>
              </p:txBody>
            </p:sp>
          </p:grpSp>
          <p:sp>
            <p:nvSpPr>
              <p:cNvPr id="104" name="TextBox 103">
                <a:extLst>
                  <a:ext uri="{FF2B5EF4-FFF2-40B4-BE49-F238E27FC236}">
                    <a16:creationId xmlns:a16="http://schemas.microsoft.com/office/drawing/2014/main" id="{3342515B-D298-43A1-9E16-E6FD971A6A41}"/>
                  </a:ext>
                </a:extLst>
              </p:cNvPr>
              <p:cNvSpPr txBox="1"/>
              <p:nvPr/>
            </p:nvSpPr>
            <p:spPr>
              <a:xfrm>
                <a:off x="2788486" y="1916665"/>
                <a:ext cx="74262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xApps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11" name="Connector: Elbow 110">
                <a:extLst>
                  <a:ext uri="{FF2B5EF4-FFF2-40B4-BE49-F238E27FC236}">
                    <a16:creationId xmlns:a16="http://schemas.microsoft.com/office/drawing/2014/main" id="{C9D83F41-4194-4299-A450-5523E16454A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561111" y="3806190"/>
                <a:ext cx="808123" cy="148007"/>
              </a:xfrm>
              <a:prstGeom prst="bentConnector3">
                <a:avLst>
                  <a:gd name="adj1" fmla="val 50000"/>
                </a:avLst>
              </a:prstGeom>
              <a:ln w="12700">
                <a:solidFill>
                  <a:schemeClr val="bg1"/>
                </a:solidFill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404898D3-6C70-464B-8171-22EBA9BA462E}"/>
                  </a:ext>
                </a:extLst>
              </p:cNvPr>
              <p:cNvGrpSpPr/>
              <p:nvPr/>
            </p:nvGrpSpPr>
            <p:grpSpPr>
              <a:xfrm>
                <a:off x="9777994" y="3941543"/>
                <a:ext cx="97262" cy="20476"/>
                <a:chOff x="10423398" y="4210335"/>
                <a:chExt cx="97262" cy="20476"/>
              </a:xfrm>
            </p:grpSpPr>
            <p:sp>
              <p:nvSpPr>
                <p:cNvPr id="115" name="Oval 114">
                  <a:extLst>
                    <a:ext uri="{FF2B5EF4-FFF2-40B4-BE49-F238E27FC236}">
                      <a16:creationId xmlns:a16="http://schemas.microsoft.com/office/drawing/2014/main" id="{A4F59B52-4707-44C3-A7FB-893C92767A45}"/>
                    </a:ext>
                  </a:extLst>
                </p:cNvPr>
                <p:cNvSpPr/>
                <p:nvPr/>
              </p:nvSpPr>
              <p:spPr>
                <a:xfrm flipV="1">
                  <a:off x="10423398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7" name="Oval 116">
                  <a:extLst>
                    <a:ext uri="{FF2B5EF4-FFF2-40B4-BE49-F238E27FC236}">
                      <a16:creationId xmlns:a16="http://schemas.microsoft.com/office/drawing/2014/main" id="{6AE6F000-4645-4D6E-B014-5F446A29015B}"/>
                    </a:ext>
                  </a:extLst>
                </p:cNvPr>
                <p:cNvSpPr/>
                <p:nvPr/>
              </p:nvSpPr>
              <p:spPr>
                <a:xfrm flipV="1">
                  <a:off x="10461791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19" name="Oval 118">
                  <a:extLst>
                    <a:ext uri="{FF2B5EF4-FFF2-40B4-BE49-F238E27FC236}">
                      <a16:creationId xmlns:a16="http://schemas.microsoft.com/office/drawing/2014/main" id="{D5F18A58-7DC6-478B-AD16-813A33502DD2}"/>
                    </a:ext>
                  </a:extLst>
                </p:cNvPr>
                <p:cNvSpPr/>
                <p:nvPr/>
              </p:nvSpPr>
              <p:spPr>
                <a:xfrm flipV="1">
                  <a:off x="10500184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3" name="Group 122">
                <a:extLst>
                  <a:ext uri="{FF2B5EF4-FFF2-40B4-BE49-F238E27FC236}">
                    <a16:creationId xmlns:a16="http://schemas.microsoft.com/office/drawing/2014/main" id="{57872673-AAAD-4628-B781-C1A7A5F491EC}"/>
                  </a:ext>
                </a:extLst>
              </p:cNvPr>
              <p:cNvGrpSpPr/>
              <p:nvPr/>
            </p:nvGrpSpPr>
            <p:grpSpPr>
              <a:xfrm>
                <a:off x="9670874" y="2637902"/>
                <a:ext cx="97262" cy="20476"/>
                <a:chOff x="10392777" y="4210335"/>
                <a:chExt cx="97262" cy="20476"/>
              </a:xfrm>
            </p:grpSpPr>
            <p:sp>
              <p:nvSpPr>
                <p:cNvPr id="124" name="Oval 123">
                  <a:extLst>
                    <a:ext uri="{FF2B5EF4-FFF2-40B4-BE49-F238E27FC236}">
                      <a16:creationId xmlns:a16="http://schemas.microsoft.com/office/drawing/2014/main" id="{24631A37-9689-4B10-8ADB-0416A5B0735E}"/>
                    </a:ext>
                  </a:extLst>
                </p:cNvPr>
                <p:cNvSpPr/>
                <p:nvPr/>
              </p:nvSpPr>
              <p:spPr>
                <a:xfrm flipV="1">
                  <a:off x="10392777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5" name="Oval 124">
                  <a:extLst>
                    <a:ext uri="{FF2B5EF4-FFF2-40B4-BE49-F238E27FC236}">
                      <a16:creationId xmlns:a16="http://schemas.microsoft.com/office/drawing/2014/main" id="{0A1B9C14-F6A3-4685-834A-A8A1851159D4}"/>
                    </a:ext>
                  </a:extLst>
                </p:cNvPr>
                <p:cNvSpPr/>
                <p:nvPr/>
              </p:nvSpPr>
              <p:spPr>
                <a:xfrm flipV="1">
                  <a:off x="10431170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B25E1B82-A1FA-4694-AA25-FAEC6C0B5254}"/>
                    </a:ext>
                  </a:extLst>
                </p:cNvPr>
                <p:cNvSpPr/>
                <p:nvPr/>
              </p:nvSpPr>
              <p:spPr>
                <a:xfrm flipV="1">
                  <a:off x="1046956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  <p:grpSp>
            <p:nvGrpSpPr>
              <p:cNvPr id="127" name="Group 126">
                <a:extLst>
                  <a:ext uri="{FF2B5EF4-FFF2-40B4-BE49-F238E27FC236}">
                    <a16:creationId xmlns:a16="http://schemas.microsoft.com/office/drawing/2014/main" id="{26AD37C1-FC4C-445B-A475-2C31F113B111}"/>
                  </a:ext>
                </a:extLst>
              </p:cNvPr>
              <p:cNvGrpSpPr/>
              <p:nvPr/>
            </p:nvGrpSpPr>
            <p:grpSpPr>
              <a:xfrm>
                <a:off x="2976217" y="2643212"/>
                <a:ext cx="97262" cy="20476"/>
                <a:chOff x="10366573" y="4210335"/>
                <a:chExt cx="97262" cy="20476"/>
              </a:xfrm>
            </p:grpSpPr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BE600BD0-3962-416A-B573-62FC9571329A}"/>
                    </a:ext>
                  </a:extLst>
                </p:cNvPr>
                <p:cNvSpPr/>
                <p:nvPr/>
              </p:nvSpPr>
              <p:spPr>
                <a:xfrm flipV="1">
                  <a:off x="10366573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E8DF44-D72F-48F7-BC48-12898EF88200}"/>
                    </a:ext>
                  </a:extLst>
                </p:cNvPr>
                <p:cNvSpPr/>
                <p:nvPr/>
              </p:nvSpPr>
              <p:spPr>
                <a:xfrm flipV="1">
                  <a:off x="10404966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0E65D4E3-D00A-48E5-99ED-8AC57DBB500A}"/>
                    </a:ext>
                  </a:extLst>
                </p:cNvPr>
                <p:cNvSpPr/>
                <p:nvPr/>
              </p:nvSpPr>
              <p:spPr>
                <a:xfrm flipV="1">
                  <a:off x="10443359" y="4210335"/>
                  <a:ext cx="20476" cy="20476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</p:grpSp>
        </p:grp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8AE9E19A-B742-44B1-ABAF-2240637F635F}"/>
                </a:ext>
              </a:extLst>
            </p:cNvPr>
            <p:cNvSpPr txBox="1"/>
            <p:nvPr/>
          </p:nvSpPr>
          <p:spPr>
            <a:xfrm>
              <a:off x="7445360" y="3780699"/>
              <a:ext cx="946329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Tunnel from UPF to UE</a:t>
              </a:r>
              <a:b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sz="1200" i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for internet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45928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8" name="Group 267">
            <a:extLst>
              <a:ext uri="{FF2B5EF4-FFF2-40B4-BE49-F238E27FC236}">
                <a16:creationId xmlns:a16="http://schemas.microsoft.com/office/drawing/2014/main" id="{8F3BE6CA-7DE7-0289-6F16-C0A8B58E71BF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F0739420-0123-DB6F-5885-960E057BE8AB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chemeClr val="bg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389" name="Straight Connector 388">
              <a:extLst>
                <a:ext uri="{FF2B5EF4-FFF2-40B4-BE49-F238E27FC236}">
                  <a16:creationId xmlns:a16="http://schemas.microsoft.com/office/drawing/2014/main" id="{E8158BD4-8CEA-CB0D-3588-00251A11F8D0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3107001"/>
              <a:ext cx="554157" cy="139349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89" name="Group 288">
              <a:extLst>
                <a:ext uri="{FF2B5EF4-FFF2-40B4-BE49-F238E27FC236}">
                  <a16:creationId xmlns:a16="http://schemas.microsoft.com/office/drawing/2014/main" id="{897C35CB-2826-9D45-36E5-D9869AC5C779}"/>
                </a:ext>
              </a:extLst>
            </p:cNvPr>
            <p:cNvGrpSpPr/>
            <p:nvPr/>
          </p:nvGrpSpPr>
          <p:grpSpPr>
            <a:xfrm>
              <a:off x="6498724" y="2172257"/>
              <a:ext cx="2302213" cy="609196"/>
              <a:chOff x="7063677" y="4951549"/>
              <a:chExt cx="2302213" cy="609196"/>
            </a:xfrm>
          </p:grpSpPr>
          <p:grpSp>
            <p:nvGrpSpPr>
              <p:cNvPr id="290" name="Group 289">
                <a:extLst>
                  <a:ext uri="{FF2B5EF4-FFF2-40B4-BE49-F238E27FC236}">
                    <a16:creationId xmlns:a16="http://schemas.microsoft.com/office/drawing/2014/main" id="{9FD17C75-99D0-F3DB-8F70-72BD9907E773}"/>
                  </a:ext>
                </a:extLst>
              </p:cNvPr>
              <p:cNvGrpSpPr/>
              <p:nvPr/>
            </p:nvGrpSpPr>
            <p:grpSpPr>
              <a:xfrm>
                <a:off x="7063677" y="4951549"/>
                <a:ext cx="2239251" cy="333931"/>
                <a:chOff x="7168594" y="4200673"/>
                <a:chExt cx="2239251" cy="299842"/>
              </a:xfrm>
            </p:grpSpPr>
            <p:sp>
              <p:nvSpPr>
                <p:cNvPr id="292" name="Rectangle: Rounded Corners 291">
                  <a:extLst>
                    <a:ext uri="{FF2B5EF4-FFF2-40B4-BE49-F238E27FC236}">
                      <a16:creationId xmlns:a16="http://schemas.microsoft.com/office/drawing/2014/main" id="{94C59FF3-872B-7D38-DDD5-DDE390FD075E}"/>
                    </a:ext>
                  </a:extLst>
                </p:cNvPr>
                <p:cNvSpPr/>
                <p:nvPr/>
              </p:nvSpPr>
              <p:spPr>
                <a:xfrm>
                  <a:off x="7168596" y="4200673"/>
                  <a:ext cx="2239249" cy="299842"/>
                </a:xfrm>
                <a:prstGeom prst="roundRect">
                  <a:avLst>
                    <a:gd name="adj" fmla="val 28947"/>
                  </a:avLst>
                </a:prstGeom>
                <a:solidFill>
                  <a:schemeClr val="bg1">
                    <a:lumMod val="85000"/>
                  </a:schemeClr>
                </a:solidFill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6BE91B1C-BB8A-8A0A-14C1-2CE1DA7B570C}"/>
                    </a:ext>
                  </a:extLst>
                </p:cNvPr>
                <p:cNvSpPr txBox="1"/>
                <p:nvPr/>
              </p:nvSpPr>
              <p:spPr>
                <a:xfrm>
                  <a:off x="7168594" y="4201157"/>
                  <a:ext cx="2238468" cy="27635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en-US" sz="14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Open5GS</a:t>
                  </a:r>
                  <a:endPara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91" name="TextBox 290">
                <a:extLst>
                  <a:ext uri="{FF2B5EF4-FFF2-40B4-BE49-F238E27FC236}">
                    <a16:creationId xmlns:a16="http://schemas.microsoft.com/office/drawing/2014/main" id="{CA6FF32F-AAF7-5B75-CF10-697418E1E78B}"/>
                  </a:ext>
                </a:extLst>
              </p:cNvPr>
              <p:cNvSpPr txBox="1"/>
              <p:nvPr/>
            </p:nvSpPr>
            <p:spPr>
              <a:xfrm>
                <a:off x="7126641" y="52529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Core Network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cxnSp>
          <p:nvCxnSpPr>
            <p:cNvPr id="342" name="Straight Connector 341">
              <a:extLst>
                <a:ext uri="{FF2B5EF4-FFF2-40B4-BE49-F238E27FC236}">
                  <a16:creationId xmlns:a16="http://schemas.microsoft.com/office/drawing/2014/main" id="{19AEC2F8-5A21-3B40-519C-F2CA97AA5EE4}"/>
                </a:ext>
              </a:extLst>
            </p:cNvPr>
            <p:cNvCxnSpPr>
              <a:cxnSpLocks/>
              <a:stCxn id="201" idx="3"/>
              <a:endCxn id="27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7" name="Straight Connector 346">
              <a:extLst>
                <a:ext uri="{FF2B5EF4-FFF2-40B4-BE49-F238E27FC236}">
                  <a16:creationId xmlns:a16="http://schemas.microsoft.com/office/drawing/2014/main" id="{B08242A5-1335-1B3A-F36E-92F7ACADE36C}"/>
                </a:ext>
              </a:extLst>
            </p:cNvPr>
            <p:cNvCxnSpPr>
              <a:cxnSpLocks/>
              <a:stCxn id="200" idx="3"/>
              <a:endCxn id="275" idx="1"/>
            </p:cNvCxnSpPr>
            <p:nvPr/>
          </p:nvCxnSpPr>
          <p:spPr>
            <a:xfrm>
              <a:off x="2929886" y="2642033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0" name="Straight Connector 349">
              <a:extLst>
                <a:ext uri="{FF2B5EF4-FFF2-40B4-BE49-F238E27FC236}">
                  <a16:creationId xmlns:a16="http://schemas.microsoft.com/office/drawing/2014/main" id="{03562168-DCAA-1D7C-522F-29E8943268AD}"/>
                </a:ext>
              </a:extLst>
            </p:cNvPr>
            <p:cNvCxnSpPr>
              <a:cxnSpLocks/>
              <a:stCxn id="202" idx="3"/>
              <a:endCxn id="27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3" name="Straight Connector 352">
              <a:extLst>
                <a:ext uri="{FF2B5EF4-FFF2-40B4-BE49-F238E27FC236}">
                  <a16:creationId xmlns:a16="http://schemas.microsoft.com/office/drawing/2014/main" id="{E96F9127-6829-F9FD-FB9A-07BC9E2C0085}"/>
                </a:ext>
              </a:extLst>
            </p:cNvPr>
            <p:cNvCxnSpPr>
              <a:cxnSpLocks/>
              <a:stCxn id="209" idx="3"/>
              <a:endCxn id="28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6" name="Straight Connector 355">
              <a:extLst>
                <a:ext uri="{FF2B5EF4-FFF2-40B4-BE49-F238E27FC236}">
                  <a16:creationId xmlns:a16="http://schemas.microsoft.com/office/drawing/2014/main" id="{85981B5D-8D58-316D-8BA0-E0B5EC7F6C13}"/>
                </a:ext>
              </a:extLst>
            </p:cNvPr>
            <p:cNvCxnSpPr>
              <a:cxnSpLocks/>
              <a:stCxn id="199" idx="3"/>
              <a:endCxn id="27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9" name="Straight Connector 358">
              <a:extLst>
                <a:ext uri="{FF2B5EF4-FFF2-40B4-BE49-F238E27FC236}">
                  <a16:creationId xmlns:a16="http://schemas.microsoft.com/office/drawing/2014/main" id="{C221BBAA-9FEE-8D9E-6872-58AEB1FAFC02}"/>
                </a:ext>
              </a:extLst>
            </p:cNvPr>
            <p:cNvCxnSpPr>
              <a:cxnSpLocks/>
              <a:stCxn id="237" idx="3"/>
              <a:endCxn id="315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0292EA4F-C1D1-7DDC-D7FC-4367D17C623C}"/>
                </a:ext>
              </a:extLst>
            </p:cNvPr>
            <p:cNvCxnSpPr>
              <a:cxnSpLocks/>
              <a:stCxn id="2" idx="1"/>
              <a:endCxn id="293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1463F92E-A5E1-B471-7536-4E2BB81B1C71}"/>
                </a:ext>
              </a:extLst>
            </p:cNvPr>
            <p:cNvCxnSpPr>
              <a:cxnSpLocks/>
              <a:stCxn id="3" idx="1"/>
              <a:endCxn id="293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203454DD-698B-FE70-9DDA-C59F2DCB67D9}"/>
                </a:ext>
              </a:extLst>
            </p:cNvPr>
            <p:cNvCxnSpPr>
              <a:cxnSpLocks/>
              <a:endCxn id="237" idx="1"/>
            </p:cNvCxnSpPr>
            <p:nvPr/>
          </p:nvCxnSpPr>
          <p:spPr>
            <a:xfrm>
              <a:off x="5943801" y="2493651"/>
              <a:ext cx="554157" cy="75269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6" name="Straight Connector 375">
              <a:extLst>
                <a:ext uri="{FF2B5EF4-FFF2-40B4-BE49-F238E27FC236}">
                  <a16:creationId xmlns:a16="http://schemas.microsoft.com/office/drawing/2014/main" id="{DCB765BE-C6D0-9C88-B79C-0653B5D0E5AF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3107001"/>
              <a:ext cx="554157" cy="43837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0" name="Straight Connector 379">
              <a:extLst>
                <a:ext uri="{FF2B5EF4-FFF2-40B4-BE49-F238E27FC236}">
                  <a16:creationId xmlns:a16="http://schemas.microsoft.com/office/drawing/2014/main" id="{AA778A2D-5D6E-872D-16E0-E2154F72147B}"/>
                </a:ext>
              </a:extLst>
            </p:cNvPr>
            <p:cNvCxnSpPr>
              <a:cxnSpLocks/>
              <a:stCxn id="277" idx="3"/>
              <a:endCxn id="237" idx="1"/>
            </p:cNvCxnSpPr>
            <p:nvPr/>
          </p:nvCxnSpPr>
          <p:spPr>
            <a:xfrm flipV="1">
              <a:off x="5817331" y="3246350"/>
              <a:ext cx="680627" cy="31266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5" name="Straight Connector 384">
              <a:extLst>
                <a:ext uri="{FF2B5EF4-FFF2-40B4-BE49-F238E27FC236}">
                  <a16:creationId xmlns:a16="http://schemas.microsoft.com/office/drawing/2014/main" id="{86974C24-CD13-AB9D-5659-40C787D7C759}"/>
                </a:ext>
              </a:extLst>
            </p:cNvPr>
            <p:cNvCxnSpPr>
              <a:cxnSpLocks/>
              <a:endCxn id="236" idx="1"/>
            </p:cNvCxnSpPr>
            <p:nvPr/>
          </p:nvCxnSpPr>
          <p:spPr>
            <a:xfrm>
              <a:off x="5943801" y="2493651"/>
              <a:ext cx="554157" cy="1051725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Right Brace 1">
              <a:extLst>
                <a:ext uri="{FF2B5EF4-FFF2-40B4-BE49-F238E27FC236}">
                  <a16:creationId xmlns:a16="http://schemas.microsoft.com/office/drawing/2014/main" id="{2A8D8D8A-42F1-94E4-4204-822955899560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ight Brace 2">
              <a:extLst>
                <a:ext uri="{FF2B5EF4-FFF2-40B4-BE49-F238E27FC236}">
                  <a16:creationId xmlns:a16="http://schemas.microsoft.com/office/drawing/2014/main" id="{7E2A8974-C683-F013-EE39-E7DAD5BD85E5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70" name="Group 269">
              <a:extLst>
                <a:ext uri="{FF2B5EF4-FFF2-40B4-BE49-F238E27FC236}">
                  <a16:creationId xmlns:a16="http://schemas.microsoft.com/office/drawing/2014/main" id="{A9832EC4-0E44-30A3-4E70-CD46C82868E4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271" name="Rectangle: Rounded Corners 270">
                <a:extLst>
                  <a:ext uri="{FF2B5EF4-FFF2-40B4-BE49-F238E27FC236}">
                    <a16:creationId xmlns:a16="http://schemas.microsoft.com/office/drawing/2014/main" id="{D7B4D6CF-6257-A2E5-C9CA-3300DB701243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2" name="Rectangle: Top Corners Rounded 271">
                <a:extLst>
                  <a:ext uri="{FF2B5EF4-FFF2-40B4-BE49-F238E27FC236}">
                    <a16:creationId xmlns:a16="http://schemas.microsoft.com/office/drawing/2014/main" id="{9EACF07D-32F6-2137-DA90-32B66227DEC0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3" name="Rectangle 272">
                <a:extLst>
                  <a:ext uri="{FF2B5EF4-FFF2-40B4-BE49-F238E27FC236}">
                    <a16:creationId xmlns:a16="http://schemas.microsoft.com/office/drawing/2014/main" id="{D6075B7C-6B1B-AA09-28DC-A0AB26B8A4EF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4" name="TextBox 273">
                <a:extLst>
                  <a:ext uri="{FF2B5EF4-FFF2-40B4-BE49-F238E27FC236}">
                    <a16:creationId xmlns:a16="http://schemas.microsoft.com/office/drawing/2014/main" id="{0F1D9381-EB89-C1C5-783F-90CB3F61BF0E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75" name="TextBox 274">
                <a:extLst>
                  <a:ext uri="{FF2B5EF4-FFF2-40B4-BE49-F238E27FC236}">
                    <a16:creationId xmlns:a16="http://schemas.microsoft.com/office/drawing/2014/main" id="{A8AE50F6-876D-1B55-54CD-525FF6E92E84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6" name="TextBox 275">
                <a:extLst>
                  <a:ext uri="{FF2B5EF4-FFF2-40B4-BE49-F238E27FC236}">
                    <a16:creationId xmlns:a16="http://schemas.microsoft.com/office/drawing/2014/main" id="{1413A169-90A0-F78F-98F8-C95D3D06F347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277" name="TextBox 276">
                <a:extLst>
                  <a:ext uri="{FF2B5EF4-FFF2-40B4-BE49-F238E27FC236}">
                    <a16:creationId xmlns:a16="http://schemas.microsoft.com/office/drawing/2014/main" id="{96F5014D-82C8-C27A-8EF4-CC8285452C10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278" name="TextBox 277">
                <a:extLst>
                  <a:ext uri="{FF2B5EF4-FFF2-40B4-BE49-F238E27FC236}">
                    <a16:creationId xmlns:a16="http://schemas.microsoft.com/office/drawing/2014/main" id="{3BDAD62F-06B2-79B2-26C5-B0000A989788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79" name="Rectangle 278">
                <a:extLst>
                  <a:ext uri="{FF2B5EF4-FFF2-40B4-BE49-F238E27FC236}">
                    <a16:creationId xmlns:a16="http://schemas.microsoft.com/office/drawing/2014/main" id="{83A50FAE-7494-A2B4-0F14-D16BA097F548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0" name="TextBox 279">
                <a:extLst>
                  <a:ext uri="{FF2B5EF4-FFF2-40B4-BE49-F238E27FC236}">
                    <a16:creationId xmlns:a16="http://schemas.microsoft.com/office/drawing/2014/main" id="{B116DFE2-7F21-FE11-0F36-441A58E9A2C3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81" name="Rectangle: Rounded Corners 280">
                <a:extLst>
                  <a:ext uri="{FF2B5EF4-FFF2-40B4-BE49-F238E27FC236}">
                    <a16:creationId xmlns:a16="http://schemas.microsoft.com/office/drawing/2014/main" id="{4D54D83B-619F-C188-C380-2C35CAF9BF85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27" name="Group 226">
              <a:extLst>
                <a:ext uri="{FF2B5EF4-FFF2-40B4-BE49-F238E27FC236}">
                  <a16:creationId xmlns:a16="http://schemas.microsoft.com/office/drawing/2014/main" id="{7A854522-CD14-6BE1-A26D-F4B8091652DF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210" name="Rectangle: Rounded Corners 209">
                <a:extLst>
                  <a:ext uri="{FF2B5EF4-FFF2-40B4-BE49-F238E27FC236}">
                    <a16:creationId xmlns:a16="http://schemas.microsoft.com/office/drawing/2014/main" id="{70ADBDF1-D32C-AE54-601E-E1D8D6CDE9CC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5" name="Rectangle: Top Corners Rounded 194">
                <a:extLst>
                  <a:ext uri="{FF2B5EF4-FFF2-40B4-BE49-F238E27FC236}">
                    <a16:creationId xmlns:a16="http://schemas.microsoft.com/office/drawing/2014/main" id="{49EE529D-3822-3C34-2FCF-96301FCBDE2B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9D8422CA-4FF5-7187-2D0D-ADC45EB74032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9F8EDD21-A0C6-EE8F-DB27-D2CD5236A366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200" name="TextBox 199">
                <a:extLst>
                  <a:ext uri="{FF2B5EF4-FFF2-40B4-BE49-F238E27FC236}">
                    <a16:creationId xmlns:a16="http://schemas.microsoft.com/office/drawing/2014/main" id="{F4E12DF1-F6ED-9A1D-33B3-ACB6D007555A}"/>
                  </a:ext>
                </a:extLst>
              </p:cNvPr>
              <p:cNvSpPr txBox="1"/>
              <p:nvPr/>
            </p:nvSpPr>
            <p:spPr>
              <a:xfrm>
                <a:off x="3916952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1" name="TextBox 200">
                <a:extLst>
                  <a:ext uri="{FF2B5EF4-FFF2-40B4-BE49-F238E27FC236}">
                    <a16:creationId xmlns:a16="http://schemas.microsoft.com/office/drawing/2014/main" id="{0E36D728-D080-9470-0E71-4C5261DE33FD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16FB98B6-AA11-EA1B-485F-18B0C2E0C57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203" name="TextBox 202">
                <a:extLst>
                  <a:ext uri="{FF2B5EF4-FFF2-40B4-BE49-F238E27FC236}">
                    <a16:creationId xmlns:a16="http://schemas.microsoft.com/office/drawing/2014/main" id="{2BC8A388-630D-2F0A-E362-E58FB4DE4B4B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212011C4-EBF3-EB29-D80C-BEAECBCA7B62}"/>
                  </a:ext>
                </a:extLst>
              </p:cNvPr>
              <p:cNvSpPr/>
              <p:nvPr/>
            </p:nvSpPr>
            <p:spPr>
              <a:xfrm>
                <a:off x="3916950" y="4615547"/>
                <a:ext cx="2239249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9" name="TextBox 208">
                <a:extLst>
                  <a:ext uri="{FF2B5EF4-FFF2-40B4-BE49-F238E27FC236}">
                    <a16:creationId xmlns:a16="http://schemas.microsoft.com/office/drawing/2014/main" id="{84E8EFF1-03BE-6A27-CF24-939A0A21B022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198" name="Rectangle: Rounded Corners 197">
                <a:extLst>
                  <a:ext uri="{FF2B5EF4-FFF2-40B4-BE49-F238E27FC236}">
                    <a16:creationId xmlns:a16="http://schemas.microsoft.com/office/drawing/2014/main" id="{4F21D880-AC22-436C-BBFD-41B6AC956B7F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335" name="Group 334">
              <a:extLst>
                <a:ext uri="{FF2B5EF4-FFF2-40B4-BE49-F238E27FC236}">
                  <a16:creationId xmlns:a16="http://schemas.microsoft.com/office/drawing/2014/main" id="{C7A28311-B01E-C743-5717-5D14FED17C39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314" name="Rectangle: Rounded Corners 313">
                <a:extLst>
                  <a:ext uri="{FF2B5EF4-FFF2-40B4-BE49-F238E27FC236}">
                    <a16:creationId xmlns:a16="http://schemas.microsoft.com/office/drawing/2014/main" id="{C9184302-A9D9-791B-1672-1678F45A7E55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chemeClr val="bg1">
                  <a:lumMod val="85000"/>
                </a:schemeClr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5" name="TextBox 314">
                <a:extLst>
                  <a:ext uri="{FF2B5EF4-FFF2-40B4-BE49-F238E27FC236}">
                    <a16:creationId xmlns:a16="http://schemas.microsoft.com/office/drawing/2014/main" id="{9BDE51E9-FC26-93B1-D16F-98B8FB9FEE2F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16" name="TextBox 315">
                <a:extLst>
                  <a:ext uri="{FF2B5EF4-FFF2-40B4-BE49-F238E27FC236}">
                    <a16:creationId xmlns:a16="http://schemas.microsoft.com/office/drawing/2014/main" id="{C18DB793-99BB-9141-9857-0496732E9F2F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3F4BAE37-81CB-F3FB-EAED-6C481A15D7A4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873989" y="2167447"/>
              <a:chExt cx="2860204" cy="523220"/>
            </a:xfrm>
          </p:grpSpPr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240F11AF-0E17-5252-2864-12FAED76A826}"/>
                  </a:ext>
                </a:extLst>
              </p:cNvPr>
              <p:cNvSpPr/>
              <p:nvPr/>
            </p:nvSpPr>
            <p:spPr>
              <a:xfrm>
                <a:off x="8873989" y="2187921"/>
                <a:ext cx="2787151" cy="5027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6EB7CE28-570D-A649-CDDD-D2D4267E56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323726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4D782A1-F8AE-355C-132E-E89499CD1C8D}"/>
                  </a:ext>
                </a:extLst>
              </p:cNvPr>
              <p:cNvSpPr txBox="1"/>
              <p:nvPr/>
            </p:nvSpPr>
            <p:spPr>
              <a:xfrm>
                <a:off x="9147085" y="2167447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7" name="Straight Connector 6">
                <a:extLst>
                  <a:ext uri="{FF2B5EF4-FFF2-40B4-BE49-F238E27FC236}">
                    <a16:creationId xmlns:a16="http://schemas.microsoft.com/office/drawing/2014/main" id="{E90BE35D-3534-C8E0-8BAC-13AA49C1B7B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967214" y="2541315"/>
                <a:ext cx="21047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45E9855-DB2F-EF47-9B6D-8D24DD2BDB8D}"/>
                </a:ext>
              </a:extLst>
            </p:cNvPr>
            <p:cNvCxnSpPr>
              <a:cxnSpLocks/>
              <a:stCxn id="202" idx="3"/>
              <a:endCxn id="281" idx="1"/>
            </p:cNvCxnSpPr>
            <p:nvPr/>
          </p:nvCxnSpPr>
          <p:spPr>
            <a:xfrm flipV="1">
              <a:off x="2929886" y="2938487"/>
              <a:ext cx="664414" cy="620532"/>
            </a:xfrm>
            <a:prstGeom prst="line">
              <a:avLst/>
            </a:prstGeom>
            <a:ln w="12700">
              <a:solidFill>
                <a:schemeClr val="tx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3" name="Group 232">
              <a:extLst>
                <a:ext uri="{FF2B5EF4-FFF2-40B4-BE49-F238E27FC236}">
                  <a16:creationId xmlns:a16="http://schemas.microsoft.com/office/drawing/2014/main" id="{00ED7F0F-60DC-1536-A747-6184C3BCA9BE}"/>
                </a:ext>
              </a:extLst>
            </p:cNvPr>
            <p:cNvGrpSpPr/>
            <p:nvPr/>
          </p:nvGrpSpPr>
          <p:grpSpPr>
            <a:xfrm>
              <a:off x="6497958" y="2781548"/>
              <a:ext cx="2239249" cy="1233863"/>
              <a:chOff x="1028392" y="2318655"/>
              <a:chExt cx="2239249" cy="1233863"/>
            </a:xfrm>
          </p:grpSpPr>
          <p:sp>
            <p:nvSpPr>
              <p:cNvPr id="234" name="TextBox 233">
                <a:extLst>
                  <a:ext uri="{FF2B5EF4-FFF2-40B4-BE49-F238E27FC236}">
                    <a16:creationId xmlns:a16="http://schemas.microsoft.com/office/drawing/2014/main" id="{1D447C6C-DBB4-1E2B-28C0-122262FFC526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  <a:endParaRPr lang="en-US" sz="1400" b="1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grpSp>
            <p:nvGrpSpPr>
              <p:cNvPr id="235" name="Group 234">
                <a:extLst>
                  <a:ext uri="{FF2B5EF4-FFF2-40B4-BE49-F238E27FC236}">
                    <a16:creationId xmlns:a16="http://schemas.microsoft.com/office/drawing/2014/main" id="{D43FEA2F-F6B1-5C6E-588B-A05B2619077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239" name="Rectangle: Rounded Corners 238">
                  <a:extLst>
                    <a:ext uri="{FF2B5EF4-FFF2-40B4-BE49-F238E27FC236}">
                      <a16:creationId xmlns:a16="http://schemas.microsoft.com/office/drawing/2014/main" id="{A4D60007-5474-BEA2-4BFA-9BC486259CA7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chemeClr val="bg1">
                    <a:lumMod val="85000"/>
                  </a:schemeClr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240" name="Rectangle 239">
                  <a:extLst>
                    <a:ext uri="{FF2B5EF4-FFF2-40B4-BE49-F238E27FC236}">
                      <a16:creationId xmlns:a16="http://schemas.microsoft.com/office/drawing/2014/main" id="{664D770F-BF79-4EE6-E4F3-5C75388C93E3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chemeClr val="bg1">
                    <a:lumMod val="95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1" name="Rectangle: Rounded Corners 240">
                  <a:extLst>
                    <a:ext uri="{FF2B5EF4-FFF2-40B4-BE49-F238E27FC236}">
                      <a16:creationId xmlns:a16="http://schemas.microsoft.com/office/drawing/2014/main" id="{A848D181-7B55-B5B1-5BAE-AF8A42EC5A00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236" name="TextBox 235">
                <a:extLst>
                  <a:ext uri="{FF2B5EF4-FFF2-40B4-BE49-F238E27FC236}">
                    <a16:creationId xmlns:a16="http://schemas.microsoft.com/office/drawing/2014/main" id="{A60306A6-CD1B-62E6-4CD0-FA864383631B}"/>
                  </a:ext>
                </a:extLst>
              </p:cNvPr>
              <p:cNvSpPr txBox="1"/>
              <p:nvPr/>
            </p:nvSpPr>
            <p:spPr>
              <a:xfrm>
                <a:off x="1028392" y="2928594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B43BC923-2C5D-2AAE-BD1F-3637CD533B4A}"/>
                  </a:ext>
                </a:extLst>
              </p:cNvPr>
              <p:cNvSpPr txBox="1"/>
              <p:nvPr/>
            </p:nvSpPr>
            <p:spPr>
              <a:xfrm>
                <a:off x="1028392" y="2629568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  <a:endPara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238" name="TextBox 237">
                <a:extLst>
                  <a:ext uri="{FF2B5EF4-FFF2-40B4-BE49-F238E27FC236}">
                    <a16:creationId xmlns:a16="http://schemas.microsoft.com/office/drawing/2014/main" id="{01F21BA0-7B22-2985-C4B7-BEC32317C4DA}"/>
                  </a:ext>
                </a:extLst>
              </p:cNvPr>
              <p:cNvSpPr txBox="1"/>
              <p:nvPr/>
            </p:nvSpPr>
            <p:spPr>
              <a:xfrm>
                <a:off x="1028392" y="2330542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255" name="Straight Connector 254">
              <a:extLst>
                <a:ext uri="{FF2B5EF4-FFF2-40B4-BE49-F238E27FC236}">
                  <a16:creationId xmlns:a16="http://schemas.microsoft.com/office/drawing/2014/main" id="{91DD07F7-2F86-0E54-F54F-7BDC7A59D6BD}"/>
                </a:ext>
              </a:extLst>
            </p:cNvPr>
            <p:cNvCxnSpPr>
              <a:cxnSpLocks/>
              <a:stCxn id="238" idx="3"/>
              <a:endCxn id="315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446868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Rectangle 197">
            <a:extLst>
              <a:ext uri="{FF2B5EF4-FFF2-40B4-BE49-F238E27FC236}">
                <a16:creationId xmlns:a16="http://schemas.microsoft.com/office/drawing/2014/main" id="{48F3AFCA-C6E8-6EAA-EE14-23BCAADE7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117"/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8E01907-679C-CCC9-D3A2-B1DF57432798}"/>
              </a:ext>
            </a:extLst>
          </p:cNvPr>
          <p:cNvGrpSpPr/>
          <p:nvPr/>
        </p:nvGrpSpPr>
        <p:grpSpPr>
          <a:xfrm>
            <a:off x="496467" y="2455375"/>
            <a:ext cx="11199066" cy="1947249"/>
            <a:chOff x="575839" y="2069432"/>
            <a:chExt cx="11199066" cy="1947249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82EB370-06F7-A3C6-2D9D-767AE910B3C2}"/>
                </a:ext>
              </a:extLst>
            </p:cNvPr>
            <p:cNvSpPr/>
            <p:nvPr/>
          </p:nvSpPr>
          <p:spPr>
            <a:xfrm>
              <a:off x="575839" y="2069432"/>
              <a:ext cx="11199066" cy="1945979"/>
            </a:xfrm>
            <a:prstGeom prst="roundRect">
              <a:avLst>
                <a:gd name="adj" fmla="val 3896"/>
              </a:avLst>
            </a:prstGeom>
            <a:solidFill>
              <a:srgbClr val="0D1117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9E7BD0CD-0AD8-F766-F38F-1FB50716D247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16526"/>
              <a:ext cx="554158" cy="139732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94C82875-16D7-328F-D44F-2C1A08F28D46}"/>
                </a:ext>
              </a:extLst>
            </p:cNvPr>
            <p:cNvGrpSpPr/>
            <p:nvPr/>
          </p:nvGrpSpPr>
          <p:grpSpPr>
            <a:xfrm>
              <a:off x="6498724" y="2172257"/>
              <a:ext cx="2239251" cy="333931"/>
              <a:chOff x="7168594" y="4200673"/>
              <a:chExt cx="2239251" cy="299842"/>
            </a:xfrm>
          </p:grpSpPr>
          <p:sp>
            <p:nvSpPr>
              <p:cNvPr id="69" name="Rectangle: Rounded Corners 68">
                <a:extLst>
                  <a:ext uri="{FF2B5EF4-FFF2-40B4-BE49-F238E27FC236}">
                    <a16:creationId xmlns:a16="http://schemas.microsoft.com/office/drawing/2014/main" id="{E3E5506D-785E-C802-0B5C-83BCF4D57BC8}"/>
                  </a:ext>
                </a:extLst>
              </p:cNvPr>
              <p:cNvSpPr/>
              <p:nvPr/>
            </p:nvSpPr>
            <p:spPr>
              <a:xfrm>
                <a:off x="7168596" y="4200673"/>
                <a:ext cx="2239249" cy="299842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A6BD8DC3-F519-6540-99EC-9071E4B84D62}"/>
                  </a:ext>
                </a:extLst>
              </p:cNvPr>
              <p:cNvSpPr txBox="1"/>
              <p:nvPr/>
            </p:nvSpPr>
            <p:spPr>
              <a:xfrm>
                <a:off x="7168594" y="4201157"/>
                <a:ext cx="2238468" cy="276358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Open5GS</a:t>
                </a:r>
              </a:p>
            </p:txBody>
          </p:sp>
        </p:grp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2A79DEC-8744-1300-577F-E137537AD2F9}"/>
                </a:ext>
              </a:extLst>
            </p:cNvPr>
            <p:cNvCxnSpPr>
              <a:cxnSpLocks/>
              <a:stCxn id="45" idx="3"/>
              <a:endCxn id="56" idx="1"/>
            </p:cNvCxnSpPr>
            <p:nvPr/>
          </p:nvCxnSpPr>
          <p:spPr>
            <a:xfrm>
              <a:off x="2929887" y="2336371"/>
              <a:ext cx="676819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4C38DF5-DD28-45E9-2507-546631986FEC}"/>
                </a:ext>
              </a:extLst>
            </p:cNvPr>
            <p:cNvCxnSpPr>
              <a:cxnSpLocks/>
              <a:stCxn id="44" idx="3"/>
              <a:endCxn id="55" idx="1"/>
            </p:cNvCxnSpPr>
            <p:nvPr/>
          </p:nvCxnSpPr>
          <p:spPr>
            <a:xfrm>
              <a:off x="2931791" y="2642033"/>
              <a:ext cx="678726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5ECED138-8687-8AC9-B515-1F21C20F5556}"/>
                </a:ext>
              </a:extLst>
            </p:cNvPr>
            <p:cNvCxnSpPr>
              <a:cxnSpLocks/>
              <a:stCxn id="46" idx="3"/>
              <a:endCxn id="56" idx="1"/>
            </p:cNvCxnSpPr>
            <p:nvPr/>
          </p:nvCxnSpPr>
          <p:spPr>
            <a:xfrm flipV="1">
              <a:off x="2929886" y="2336371"/>
              <a:ext cx="676820" cy="1222648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1515E354-6DA8-293E-5366-4FCC379F89CE}"/>
                </a:ext>
              </a:extLst>
            </p:cNvPr>
            <p:cNvCxnSpPr>
              <a:cxnSpLocks/>
              <a:stCxn id="49" idx="3"/>
              <a:endCxn id="60" idx="1"/>
            </p:cNvCxnSpPr>
            <p:nvPr/>
          </p:nvCxnSpPr>
          <p:spPr>
            <a:xfrm>
              <a:off x="2929886" y="3253357"/>
              <a:ext cx="680631" cy="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FB2657DE-F9D4-6A96-5B71-8BE2C8C90454}"/>
                </a:ext>
              </a:extLst>
            </p:cNvPr>
            <p:cNvCxnSpPr>
              <a:cxnSpLocks/>
              <a:stCxn id="43" idx="3"/>
              <a:endCxn id="54" idx="1"/>
            </p:cNvCxnSpPr>
            <p:nvPr/>
          </p:nvCxnSpPr>
          <p:spPr>
            <a:xfrm>
              <a:off x="2929886" y="2947695"/>
              <a:ext cx="665196" cy="0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7B8C0992-8C5B-0CFA-F351-BDE45110AE40}"/>
                </a:ext>
              </a:extLst>
            </p:cNvPr>
            <p:cNvCxnSpPr>
              <a:cxnSpLocks/>
              <a:stCxn id="81" idx="3"/>
              <a:endCxn id="30" idx="1"/>
            </p:cNvCxnSpPr>
            <p:nvPr/>
          </p:nvCxnSpPr>
          <p:spPr>
            <a:xfrm>
              <a:off x="8737207" y="3246350"/>
              <a:ext cx="639703" cy="29079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A0F3449C-2283-DACE-FB13-38396C4B7FB9}"/>
                </a:ext>
              </a:extLst>
            </p:cNvPr>
            <p:cNvCxnSpPr>
              <a:cxnSpLocks/>
              <a:stCxn id="23" idx="1"/>
              <a:endCxn id="70" idx="1"/>
            </p:cNvCxnSpPr>
            <p:nvPr/>
          </p:nvCxnSpPr>
          <p:spPr>
            <a:xfrm flipV="1">
              <a:off x="5943801" y="2326685"/>
              <a:ext cx="554923" cy="16696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A0F3409B-9BA3-B0DD-2840-A8BFD7EB2EFD}"/>
                </a:ext>
              </a:extLst>
            </p:cNvPr>
            <p:cNvCxnSpPr>
              <a:cxnSpLocks/>
              <a:stCxn id="24" idx="1"/>
              <a:endCxn id="70" idx="1"/>
            </p:cNvCxnSpPr>
            <p:nvPr/>
          </p:nvCxnSpPr>
          <p:spPr>
            <a:xfrm flipV="1">
              <a:off x="5943801" y="2326685"/>
              <a:ext cx="554923" cy="780316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936E016-28E0-8BF0-9431-64131BB8293D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503176"/>
              <a:ext cx="554158" cy="753082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085886D-3B15-DB08-3633-1E75D9D54A31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3107001"/>
              <a:ext cx="554158" cy="442679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464B0A35-8F04-98CF-A4D8-50AD8B8C9AA5}"/>
                </a:ext>
              </a:extLst>
            </p:cNvPr>
            <p:cNvCxnSpPr>
              <a:cxnSpLocks/>
              <a:stCxn id="57" idx="3"/>
            </p:cNvCxnSpPr>
            <p:nvPr/>
          </p:nvCxnSpPr>
          <p:spPr>
            <a:xfrm flipV="1">
              <a:off x="5817331" y="3256258"/>
              <a:ext cx="680628" cy="302761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3820C6D9-0E3D-0876-944B-2DAB23175A99}"/>
                </a:ext>
              </a:extLst>
            </p:cNvPr>
            <p:cNvCxnSpPr>
              <a:cxnSpLocks/>
            </p:cNvCxnSpPr>
            <p:nvPr/>
          </p:nvCxnSpPr>
          <p:spPr>
            <a:xfrm>
              <a:off x="5943801" y="2493651"/>
              <a:ext cx="554158" cy="1056029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AA953FD7-0D5A-D260-FEA5-A750D4B0B26B}"/>
                </a:ext>
              </a:extLst>
            </p:cNvPr>
            <p:cNvGrpSpPr/>
            <p:nvPr/>
          </p:nvGrpSpPr>
          <p:grpSpPr>
            <a:xfrm>
              <a:off x="8873989" y="2167447"/>
              <a:ext cx="2860204" cy="523220"/>
              <a:chOff x="8962221" y="4222565"/>
              <a:chExt cx="2860204" cy="523220"/>
            </a:xfrm>
          </p:grpSpPr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A59D6F40-6E6F-232E-ECC9-A4EB8C8693B0}"/>
                  </a:ext>
                </a:extLst>
              </p:cNvPr>
              <p:cNvSpPr/>
              <p:nvPr/>
            </p:nvSpPr>
            <p:spPr>
              <a:xfrm>
                <a:off x="8962221" y="4243039"/>
                <a:ext cx="2787151" cy="502746"/>
              </a:xfrm>
              <a:prstGeom prst="rect">
                <a:avLst/>
              </a:prstGeom>
              <a:solidFill>
                <a:srgbClr val="0D1117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D14BEA91-F3A3-C660-8A23-F11C29E56CD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378844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7248227-D8ED-62C9-8498-3B65A1AFBC5C}"/>
                  </a:ext>
                </a:extLst>
              </p:cNvPr>
              <p:cNvSpPr txBox="1"/>
              <p:nvPr/>
            </p:nvSpPr>
            <p:spPr>
              <a:xfrm>
                <a:off x="9235317" y="4222565"/>
                <a:ext cx="2587108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by default installation</a:t>
                </a:r>
                <a:b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</a:b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Supported after adjusting configs</a:t>
                </a:r>
              </a:p>
            </p:txBody>
          </p: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D72BCCD9-0ADB-0E7D-4D13-D2CC2EA6735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55446" y="4596433"/>
                <a:ext cx="210474" cy="0"/>
              </a:xfrm>
              <a:prstGeom prst="line">
                <a:avLst/>
              </a:prstGeom>
              <a:ln w="12700">
                <a:solidFill>
                  <a:schemeClr val="bg1"/>
                </a:solidFill>
                <a:prstDash val="sysDot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sp>
          <p:nvSpPr>
            <p:cNvPr id="23" name="Right Brace 22">
              <a:extLst>
                <a:ext uri="{FF2B5EF4-FFF2-40B4-BE49-F238E27FC236}">
                  <a16:creationId xmlns:a16="http://schemas.microsoft.com/office/drawing/2014/main" id="{A7991ECF-F9B7-7535-37FB-A57CED3BF203}"/>
                </a:ext>
              </a:extLst>
            </p:cNvPr>
            <p:cNvSpPr/>
            <p:nvPr/>
          </p:nvSpPr>
          <p:spPr>
            <a:xfrm>
              <a:off x="5861045" y="220620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Right Brace 23">
              <a:extLst>
                <a:ext uri="{FF2B5EF4-FFF2-40B4-BE49-F238E27FC236}">
                  <a16:creationId xmlns:a16="http://schemas.microsoft.com/office/drawing/2014/main" id="{20C8E6D4-A40E-D435-BF8F-F8C003ACF650}"/>
                </a:ext>
              </a:extLst>
            </p:cNvPr>
            <p:cNvSpPr/>
            <p:nvPr/>
          </p:nvSpPr>
          <p:spPr>
            <a:xfrm>
              <a:off x="5861045" y="2819553"/>
              <a:ext cx="82756" cy="574896"/>
            </a:xfrm>
            <a:prstGeom prst="rightBrace">
              <a:avLst>
                <a:gd name="adj1" fmla="val 88901"/>
                <a:gd name="adj2" fmla="val 50000"/>
              </a:avLst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5" name="Group 24">
              <a:extLst>
                <a:ext uri="{FF2B5EF4-FFF2-40B4-BE49-F238E27FC236}">
                  <a16:creationId xmlns:a16="http://schemas.microsoft.com/office/drawing/2014/main" id="{7A087A7C-EBC3-7D25-0193-6488C85E22BB}"/>
                </a:ext>
              </a:extLst>
            </p:cNvPr>
            <p:cNvGrpSpPr/>
            <p:nvPr/>
          </p:nvGrpSpPr>
          <p:grpSpPr>
            <a:xfrm>
              <a:off x="3594298" y="2171378"/>
              <a:ext cx="2263961" cy="1844033"/>
              <a:chOff x="3916949" y="3691197"/>
              <a:chExt cx="2263961" cy="1844033"/>
            </a:xfrm>
          </p:grpSpPr>
          <p:sp>
            <p:nvSpPr>
              <p:cNvPr id="51" name="Rectangle: Rounded Corners 50">
                <a:extLst>
                  <a:ext uri="{FF2B5EF4-FFF2-40B4-BE49-F238E27FC236}">
                    <a16:creationId xmlns:a16="http://schemas.microsoft.com/office/drawing/2014/main" id="{B3D7257C-B989-E6D2-FBC9-EEE63B1B672D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2" name="Rectangle: Top Corners Rounded 51">
                <a:extLst>
                  <a:ext uri="{FF2B5EF4-FFF2-40B4-BE49-F238E27FC236}">
                    <a16:creationId xmlns:a16="http://schemas.microsoft.com/office/drawing/2014/main" id="{DBC9B431-FC85-98F1-7802-3B3651BE6F8D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19AB0D5D-41E1-ECDD-6800-6D04A0A25D57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A40C2853-5546-FC7B-38EC-F30D79A444C7}"/>
                  </a:ext>
                </a:extLst>
              </p:cNvPr>
              <p:cNvSpPr txBox="1"/>
              <p:nvPr/>
            </p:nvSpPr>
            <p:spPr>
              <a:xfrm>
                <a:off x="3917733" y="4313625"/>
                <a:ext cx="223768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63618131-BAB2-A494-D3FA-1003A22DEB82}"/>
                  </a:ext>
                </a:extLst>
              </p:cNvPr>
              <p:cNvSpPr txBox="1"/>
              <p:nvPr/>
            </p:nvSpPr>
            <p:spPr>
              <a:xfrm>
                <a:off x="3933168" y="4007963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30B92E24-1934-475B-8C5E-87A7F5F0D58C}"/>
                  </a:ext>
                </a:extLst>
              </p:cNvPr>
              <p:cNvSpPr txBox="1"/>
              <p:nvPr/>
            </p:nvSpPr>
            <p:spPr>
              <a:xfrm>
                <a:off x="3929357" y="3702301"/>
                <a:ext cx="220681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srsRAN_Project</a:t>
                </a:r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: USRP</a:t>
                </a:r>
              </a:p>
            </p:txBody>
          </p:sp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0B8C8F01-0D4B-E516-9B28-D04D18700C28}"/>
                  </a:ext>
                </a:extLst>
              </p:cNvPr>
              <p:cNvSpPr txBox="1"/>
              <p:nvPr/>
            </p:nvSpPr>
            <p:spPr>
              <a:xfrm>
                <a:off x="3933168" y="4924949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E2 Simulator</a:t>
                </a: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E1692A11-3785-2962-B861-CAA171F11677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Next Generation Node B</a:t>
                </a: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31BF9939-6DC0-9767-200A-9AA00ED4DFCB}"/>
                  </a:ext>
                </a:extLst>
              </p:cNvPr>
              <p:cNvSpPr/>
              <p:nvPr/>
            </p:nvSpPr>
            <p:spPr>
              <a:xfrm>
                <a:off x="3916950" y="4607247"/>
                <a:ext cx="2239249" cy="3318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590EF321-DED3-3E92-2D8E-023FCA46B884}"/>
                  </a:ext>
                </a:extLst>
              </p:cNvPr>
              <p:cNvSpPr txBox="1"/>
              <p:nvPr/>
            </p:nvSpPr>
            <p:spPr>
              <a:xfrm>
                <a:off x="3933168" y="4619287"/>
                <a:ext cx="220681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61" name="Rectangle: Rounded Corners 60">
                <a:extLst>
                  <a:ext uri="{FF2B5EF4-FFF2-40B4-BE49-F238E27FC236}">
                    <a16:creationId xmlns:a16="http://schemas.microsoft.com/office/drawing/2014/main" id="{26FE37A3-1994-C0D5-B06F-E32D4E2A9E9D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6" name="Group 25">
              <a:extLst>
                <a:ext uri="{FF2B5EF4-FFF2-40B4-BE49-F238E27FC236}">
                  <a16:creationId xmlns:a16="http://schemas.microsoft.com/office/drawing/2014/main" id="{738FE746-EA93-3F84-2E49-EB596828B714}"/>
                </a:ext>
              </a:extLst>
            </p:cNvPr>
            <p:cNvGrpSpPr/>
            <p:nvPr/>
          </p:nvGrpSpPr>
          <p:grpSpPr>
            <a:xfrm>
              <a:off x="690637" y="2171378"/>
              <a:ext cx="2263961" cy="1844033"/>
              <a:chOff x="3916949" y="3691197"/>
              <a:chExt cx="2263961" cy="1844033"/>
            </a:xfrm>
          </p:grpSpPr>
          <p:sp>
            <p:nvSpPr>
              <p:cNvPr id="40" name="Rectangle: Rounded Corners 39">
                <a:extLst>
                  <a:ext uri="{FF2B5EF4-FFF2-40B4-BE49-F238E27FC236}">
                    <a16:creationId xmlns:a16="http://schemas.microsoft.com/office/drawing/2014/main" id="{06932116-A947-404E-B203-2C38A8952496}"/>
                  </a:ext>
                </a:extLst>
              </p:cNvPr>
              <p:cNvSpPr/>
              <p:nvPr/>
            </p:nvSpPr>
            <p:spPr>
              <a:xfrm>
                <a:off x="3916949" y="3692460"/>
                <a:ext cx="2239249" cy="1531642"/>
              </a:xfrm>
              <a:prstGeom prst="roundRect">
                <a:avLst>
                  <a:gd name="adj" fmla="val 5859"/>
                </a:avLst>
              </a:prstGeom>
              <a:solidFill>
                <a:srgbClr val="262626"/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1" name="Rectangle: Top Corners Rounded 40">
                <a:extLst>
                  <a:ext uri="{FF2B5EF4-FFF2-40B4-BE49-F238E27FC236}">
                    <a16:creationId xmlns:a16="http://schemas.microsoft.com/office/drawing/2014/main" id="{AB9DCAB6-A723-7C47-DA69-4A1D35F5520F}"/>
                  </a:ext>
                </a:extLst>
              </p:cNvPr>
              <p:cNvSpPr/>
              <p:nvPr/>
            </p:nvSpPr>
            <p:spPr>
              <a:xfrm rot="10800000">
                <a:off x="3916952" y="4613172"/>
                <a:ext cx="2239248" cy="323588"/>
              </a:xfrm>
              <a:prstGeom prst="round2SameRect">
                <a:avLst>
                  <a:gd name="adj1" fmla="val 28890"/>
                  <a:gd name="adj2" fmla="val 0"/>
                </a:avLst>
              </a:prstGeom>
              <a:solidFill>
                <a:srgbClr val="F2F2F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059024B3-E725-8F4D-57EF-E266332C0F1D}"/>
                  </a:ext>
                </a:extLst>
              </p:cNvPr>
              <p:cNvSpPr/>
              <p:nvPr/>
            </p:nvSpPr>
            <p:spPr>
              <a:xfrm>
                <a:off x="3916951" y="3990559"/>
                <a:ext cx="2239249" cy="323587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F539C13-3DA0-CDD5-906F-B7B23E40A3DD}"/>
                  </a:ext>
                </a:extLst>
              </p:cNvPr>
              <p:cNvSpPr txBox="1"/>
              <p:nvPr/>
            </p:nvSpPr>
            <p:spPr>
              <a:xfrm>
                <a:off x="3916952" y="4313625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USRP</a:t>
                </a:r>
              </a:p>
            </p:txBody>
          </p:sp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DA83BE73-067A-6A36-CE79-E9C8F7848B03}"/>
                  </a:ext>
                </a:extLst>
              </p:cNvPr>
              <p:cNvSpPr txBox="1"/>
              <p:nvPr/>
            </p:nvSpPr>
            <p:spPr>
              <a:xfrm>
                <a:off x="3918857" y="4007963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</a:t>
                </a:r>
                <a:r>
                  <a:rPr lang="en-US" sz="1400" dirty="0" err="1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ZeroMQ</a:t>
                </a:r>
                <a:endParaRPr lang="en-US" sz="1400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92A8990-5727-46D2-F53B-BB54ADC83038}"/>
                  </a:ext>
                </a:extLst>
              </p:cNvPr>
              <p:cNvSpPr txBox="1"/>
              <p:nvPr/>
            </p:nvSpPr>
            <p:spPr>
              <a:xfrm>
                <a:off x="3916951" y="3702301"/>
                <a:ext cx="22392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srsRAN_4G : USRP</a:t>
                </a:r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2E6A652-08FB-05C2-F5D5-25D5E1D5B523}"/>
                  </a:ext>
                </a:extLst>
              </p:cNvPr>
              <p:cNvSpPr txBox="1"/>
              <p:nvPr/>
            </p:nvSpPr>
            <p:spPr>
              <a:xfrm>
                <a:off x="3916952" y="4924949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5G Mobile Phone</a:t>
                </a: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29036365-8CEE-A19F-B173-8499CDCFCABA}"/>
                  </a:ext>
                </a:extLst>
              </p:cNvPr>
              <p:cNvSpPr txBox="1"/>
              <p:nvPr/>
            </p:nvSpPr>
            <p:spPr>
              <a:xfrm>
                <a:off x="3941661" y="5227453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User Equipment</a:t>
                </a: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D925D158-702C-A0D3-8A57-4736AFF32367}"/>
                  </a:ext>
                </a:extLst>
              </p:cNvPr>
              <p:cNvSpPr/>
              <p:nvPr/>
            </p:nvSpPr>
            <p:spPr>
              <a:xfrm>
                <a:off x="3916950" y="4611639"/>
                <a:ext cx="2239249" cy="327496"/>
              </a:xfrm>
              <a:prstGeom prst="rect">
                <a:avLst/>
              </a:prstGeom>
              <a:solidFill>
                <a:srgbClr val="3A3A3A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D8772B8B-14B6-19AA-9DFC-643F7AF6818D}"/>
                  </a:ext>
                </a:extLst>
              </p:cNvPr>
              <p:cNvSpPr txBox="1"/>
              <p:nvPr/>
            </p:nvSpPr>
            <p:spPr>
              <a:xfrm>
                <a:off x="3916952" y="4619287"/>
                <a:ext cx="2239246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OAI : RF Simulator</a:t>
                </a:r>
              </a:p>
            </p:txBody>
          </p:sp>
          <p:sp>
            <p:nvSpPr>
              <p:cNvPr id="50" name="Rectangle: Rounded Corners 49">
                <a:extLst>
                  <a:ext uri="{FF2B5EF4-FFF2-40B4-BE49-F238E27FC236}">
                    <a16:creationId xmlns:a16="http://schemas.microsoft.com/office/drawing/2014/main" id="{A0CE4E09-8DF3-9F5F-9E61-B32DC3A4E44A}"/>
                  </a:ext>
                </a:extLst>
              </p:cNvPr>
              <p:cNvSpPr/>
              <p:nvPr/>
            </p:nvSpPr>
            <p:spPr>
              <a:xfrm>
                <a:off x="3916951" y="3691197"/>
                <a:ext cx="2239249" cy="1534218"/>
              </a:xfrm>
              <a:prstGeom prst="roundRect">
                <a:avLst>
                  <a:gd name="adj" fmla="val 5819"/>
                </a:avLst>
              </a:prstGeom>
              <a:noFill/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60B8761-A333-E78A-907F-AD48533196CD}"/>
                </a:ext>
              </a:extLst>
            </p:cNvPr>
            <p:cNvGrpSpPr/>
            <p:nvPr/>
          </p:nvGrpSpPr>
          <p:grpSpPr>
            <a:xfrm>
              <a:off x="9376910" y="3369385"/>
              <a:ext cx="2302213" cy="647296"/>
              <a:chOff x="9110915" y="4521647"/>
              <a:chExt cx="2302213" cy="647296"/>
            </a:xfrm>
          </p:grpSpPr>
          <p:sp>
            <p:nvSpPr>
              <p:cNvPr id="29" name="Rectangle: Rounded Corners 28">
                <a:extLst>
                  <a:ext uri="{FF2B5EF4-FFF2-40B4-BE49-F238E27FC236}">
                    <a16:creationId xmlns:a16="http://schemas.microsoft.com/office/drawing/2014/main" id="{022DC171-A3EC-050F-5AC8-CA1EDEC48D5E}"/>
                  </a:ext>
                </a:extLst>
              </p:cNvPr>
              <p:cNvSpPr/>
              <p:nvPr/>
            </p:nvSpPr>
            <p:spPr>
              <a:xfrm>
                <a:off x="9110917" y="4521647"/>
                <a:ext cx="2239249" cy="333931"/>
              </a:xfrm>
              <a:prstGeom prst="roundRect">
                <a:avLst>
                  <a:gd name="adj" fmla="val 28947"/>
                </a:avLst>
              </a:prstGeom>
              <a:solidFill>
                <a:srgbClr val="262626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78F29ACD-A658-CB33-2DDC-6428BDD4405E}"/>
                  </a:ext>
                </a:extLst>
              </p:cNvPr>
              <p:cNvSpPr txBox="1"/>
              <p:nvPr/>
            </p:nvSpPr>
            <p:spPr>
              <a:xfrm>
                <a:off x="9110915" y="4535517"/>
                <a:ext cx="223846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Non-RT RIC</a:t>
                </a: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F2D46F8-64B8-9102-13D1-EC6356B1DA86}"/>
                  </a:ext>
                </a:extLst>
              </p:cNvPr>
              <p:cNvSpPr txBox="1"/>
              <p:nvPr/>
            </p:nvSpPr>
            <p:spPr>
              <a:xfrm>
                <a:off x="9173879" y="4861166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Non-RT RIC</a:t>
                </a:r>
              </a:p>
            </p:txBody>
          </p:sp>
        </p:grpSp>
        <p:cxnSp>
          <p:nvCxnSpPr>
            <p:cNvPr id="2" name="Straight Connector 1">
              <a:extLst>
                <a:ext uri="{FF2B5EF4-FFF2-40B4-BE49-F238E27FC236}">
                  <a16:creationId xmlns:a16="http://schemas.microsoft.com/office/drawing/2014/main" id="{A259E58A-9111-E91B-A5A5-A6C4526B5B70}"/>
                </a:ext>
              </a:extLst>
            </p:cNvPr>
            <p:cNvCxnSpPr>
              <a:cxnSpLocks/>
              <a:stCxn id="46" idx="3"/>
              <a:endCxn id="54" idx="1"/>
            </p:cNvCxnSpPr>
            <p:nvPr/>
          </p:nvCxnSpPr>
          <p:spPr>
            <a:xfrm flipV="1">
              <a:off x="2929886" y="2947695"/>
              <a:ext cx="665196" cy="611324"/>
            </a:xfrm>
            <a:prstGeom prst="line">
              <a:avLst/>
            </a:prstGeom>
            <a:ln w="12700">
              <a:solidFill>
                <a:schemeClr val="bg1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4F0FF1D2-F883-D4BA-E0FF-D67304C298C7}"/>
                </a:ext>
              </a:extLst>
            </p:cNvPr>
            <p:cNvGrpSpPr/>
            <p:nvPr/>
          </p:nvGrpSpPr>
          <p:grpSpPr>
            <a:xfrm>
              <a:off x="6496054" y="2781548"/>
              <a:ext cx="2241153" cy="1233863"/>
              <a:chOff x="1026488" y="2318655"/>
              <a:chExt cx="2241153" cy="1233863"/>
            </a:xfrm>
          </p:grpSpPr>
          <p:sp>
            <p:nvSpPr>
              <p:cNvPr id="78" name="TextBox 77">
                <a:extLst>
                  <a:ext uri="{FF2B5EF4-FFF2-40B4-BE49-F238E27FC236}">
                    <a16:creationId xmlns:a16="http://schemas.microsoft.com/office/drawing/2014/main" id="{8692BA8C-8BFD-D4AF-1AAD-285177594A04}"/>
                  </a:ext>
                </a:extLst>
              </p:cNvPr>
              <p:cNvSpPr txBox="1"/>
              <p:nvPr/>
            </p:nvSpPr>
            <p:spPr>
              <a:xfrm>
                <a:off x="1028392" y="3244741"/>
                <a:ext cx="2239249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Near-RT RIC</a:t>
                </a:r>
              </a:p>
            </p:txBody>
          </p:sp>
          <p:grpSp>
            <p:nvGrpSpPr>
              <p:cNvPr id="79" name="Group 78">
                <a:extLst>
                  <a:ext uri="{FF2B5EF4-FFF2-40B4-BE49-F238E27FC236}">
                    <a16:creationId xmlns:a16="http://schemas.microsoft.com/office/drawing/2014/main" id="{3DE97752-AB53-3ACA-903E-641E201E9234}"/>
                  </a:ext>
                </a:extLst>
              </p:cNvPr>
              <p:cNvGrpSpPr/>
              <p:nvPr/>
            </p:nvGrpSpPr>
            <p:grpSpPr>
              <a:xfrm>
                <a:off x="1028392" y="2318655"/>
                <a:ext cx="2239249" cy="923272"/>
                <a:chOff x="1590040" y="5303322"/>
                <a:chExt cx="2374765" cy="923272"/>
              </a:xfrm>
            </p:grpSpPr>
            <p:sp>
              <p:nvSpPr>
                <p:cNvPr id="83" name="Rectangle: Rounded Corners 82">
                  <a:extLst>
                    <a:ext uri="{FF2B5EF4-FFF2-40B4-BE49-F238E27FC236}">
                      <a16:creationId xmlns:a16="http://schemas.microsoft.com/office/drawing/2014/main" id="{71E07B19-72A9-960B-E632-3DF83E0D2A9A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466"/>
                  </a:avLst>
                </a:prstGeom>
                <a:solidFill>
                  <a:srgbClr val="262626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84" name="Rectangle 83">
                  <a:extLst>
                    <a:ext uri="{FF2B5EF4-FFF2-40B4-BE49-F238E27FC236}">
                      <a16:creationId xmlns:a16="http://schemas.microsoft.com/office/drawing/2014/main" id="{90FAC063-73E1-9FCD-9F9C-9F943B1D6B62}"/>
                    </a:ext>
                  </a:extLst>
                </p:cNvPr>
                <p:cNvSpPr/>
                <p:nvPr/>
              </p:nvSpPr>
              <p:spPr>
                <a:xfrm>
                  <a:off x="1590040" y="5603165"/>
                  <a:ext cx="2374765" cy="323587"/>
                </a:xfrm>
                <a:prstGeom prst="rect">
                  <a:avLst/>
                </a:prstGeom>
                <a:solidFill>
                  <a:srgbClr val="3A3A3A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Rectangle: Rounded Corners 84">
                  <a:extLst>
                    <a:ext uri="{FF2B5EF4-FFF2-40B4-BE49-F238E27FC236}">
                      <a16:creationId xmlns:a16="http://schemas.microsoft.com/office/drawing/2014/main" id="{97D48B6F-4051-F261-5713-9BF4699D9936}"/>
                    </a:ext>
                  </a:extLst>
                </p:cNvPr>
                <p:cNvSpPr/>
                <p:nvPr/>
              </p:nvSpPr>
              <p:spPr>
                <a:xfrm>
                  <a:off x="1590040" y="5303322"/>
                  <a:ext cx="2374765" cy="923272"/>
                </a:xfrm>
                <a:prstGeom prst="roundRect">
                  <a:avLst>
                    <a:gd name="adj" fmla="val 9879"/>
                  </a:avLst>
                </a:prstGeom>
                <a:noFill/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F1059630-8383-0B66-68A0-1B624EC69700}"/>
                  </a:ext>
                </a:extLst>
              </p:cNvPr>
              <p:cNvSpPr txBox="1"/>
              <p:nvPr/>
            </p:nvSpPr>
            <p:spPr>
              <a:xfrm>
                <a:off x="1026488" y="2928594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Mosaic5G : FlexRIC</a:t>
                </a: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7FE2B9E7-212A-DA2F-8016-28CC6B67159F}"/>
                  </a:ext>
                </a:extLst>
              </p:cNvPr>
              <p:cNvSpPr txBox="1"/>
              <p:nvPr/>
            </p:nvSpPr>
            <p:spPr>
              <a:xfrm>
                <a:off x="1026488" y="2629568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Near-RT RIC</a:t>
                </a:r>
              </a:p>
            </p:txBody>
          </p:sp>
          <p:sp>
            <p:nvSpPr>
              <p:cNvPr id="82" name="TextBox 81">
                <a:extLst>
                  <a:ext uri="{FF2B5EF4-FFF2-40B4-BE49-F238E27FC236}">
                    <a16:creationId xmlns:a16="http://schemas.microsoft.com/office/drawing/2014/main" id="{467B0EE3-8C81-7DF0-9524-0DB7433CFFAF}"/>
                  </a:ext>
                </a:extLst>
              </p:cNvPr>
              <p:cNvSpPr txBox="1"/>
              <p:nvPr/>
            </p:nvSpPr>
            <p:spPr>
              <a:xfrm>
                <a:off x="1026488" y="2330542"/>
                <a:ext cx="2241153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dirty="0">
                    <a:solidFill>
                      <a:schemeClr val="bg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O-RAN SC : A1 Simulator</a:t>
                </a:r>
              </a:p>
            </p:txBody>
          </p:sp>
        </p:grp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8716AD2C-5E04-6500-20A3-966FF14ADD37}"/>
                </a:ext>
              </a:extLst>
            </p:cNvPr>
            <p:cNvCxnSpPr>
              <a:cxnSpLocks/>
              <a:stCxn id="82" idx="3"/>
              <a:endCxn id="30" idx="1"/>
            </p:cNvCxnSpPr>
            <p:nvPr/>
          </p:nvCxnSpPr>
          <p:spPr>
            <a:xfrm>
              <a:off x="8737207" y="2947324"/>
              <a:ext cx="639703" cy="589820"/>
            </a:xfrm>
            <a:prstGeom prst="line">
              <a:avLst/>
            </a:prstGeom>
            <a:ln w="12700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4ED17CE-4528-0EEC-AB9C-36F0BCB17D7E}"/>
                </a:ext>
              </a:extLst>
            </p:cNvPr>
            <p:cNvSpPr txBox="1"/>
            <p:nvPr/>
          </p:nvSpPr>
          <p:spPr>
            <a:xfrm>
              <a:off x="6561688" y="2473676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bg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5G Core Network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22301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1F1C2E85-70FA-F3AF-5835-4DDBDE1FC0EB}"/>
              </a:ext>
            </a:extLst>
          </p:cNvPr>
          <p:cNvGrpSpPr/>
          <p:nvPr/>
        </p:nvGrpSpPr>
        <p:grpSpPr>
          <a:xfrm>
            <a:off x="412247" y="458846"/>
            <a:ext cx="1637614" cy="523700"/>
            <a:chOff x="3423671" y="1867158"/>
            <a:chExt cx="1637614" cy="52370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0DE1AD32-18BE-07D1-4819-E93C1902D708}"/>
                </a:ext>
              </a:extLst>
            </p:cNvPr>
            <p:cNvSpPr/>
            <p:nvPr/>
          </p:nvSpPr>
          <p:spPr>
            <a:xfrm>
              <a:off x="3423671" y="1867158"/>
              <a:ext cx="1637614" cy="523220"/>
            </a:xfrm>
            <a:prstGeom prst="roundRect">
              <a:avLst>
                <a:gd name="adj" fmla="val 12974"/>
              </a:avLst>
            </a:prstGeom>
            <a:solidFill>
              <a:schemeClr val="bg1">
                <a:lumMod val="85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86B25B-27D4-ED9E-4290-51E8EA8B1A63}"/>
                </a:ext>
              </a:extLst>
            </p:cNvPr>
            <p:cNvSpPr txBox="1"/>
            <p:nvPr/>
          </p:nvSpPr>
          <p:spPr>
            <a:xfrm>
              <a:off x="3557978" y="1867638"/>
              <a:ext cx="1369001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OpenAirInterface5G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7AC3C24-5D93-8C7A-BF1B-FB95124CC532}"/>
              </a:ext>
            </a:extLst>
          </p:cNvPr>
          <p:cNvGrpSpPr/>
          <p:nvPr/>
        </p:nvGrpSpPr>
        <p:grpSpPr>
          <a:xfrm>
            <a:off x="5451307" y="440618"/>
            <a:ext cx="2283381" cy="1233863"/>
            <a:chOff x="1028392" y="2318655"/>
            <a:chExt cx="2283381" cy="1233863"/>
          </a:xfrm>
        </p:grpSpPr>
        <p:sp>
          <p:nvSpPr>
            <p:cNvPr id="146" name="TextBox 145">
              <a:extLst>
                <a:ext uri="{FF2B5EF4-FFF2-40B4-BE49-F238E27FC236}">
                  <a16:creationId xmlns:a16="http://schemas.microsoft.com/office/drawing/2014/main" id="{3D2C051E-CEAC-BF62-49F2-C16CA11A4610}"/>
                </a:ext>
              </a:extLst>
            </p:cNvPr>
            <p:cNvSpPr txBox="1"/>
            <p:nvPr/>
          </p:nvSpPr>
          <p:spPr>
            <a:xfrm>
              <a:off x="1028392" y="3244741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16B62768-79CA-CE53-4D99-435EA269FFFD}"/>
                </a:ext>
              </a:extLst>
            </p:cNvPr>
            <p:cNvGrpSpPr/>
            <p:nvPr/>
          </p:nvGrpSpPr>
          <p:grpSpPr>
            <a:xfrm>
              <a:off x="1028392" y="2318655"/>
              <a:ext cx="2239249" cy="923272"/>
              <a:chOff x="1590040" y="5303322"/>
              <a:chExt cx="2374765" cy="923272"/>
            </a:xfrm>
          </p:grpSpPr>
          <p:sp>
            <p:nvSpPr>
              <p:cNvPr id="157" name="Rectangle: Rounded Corners 156">
                <a:extLst>
                  <a:ext uri="{FF2B5EF4-FFF2-40B4-BE49-F238E27FC236}">
                    <a16:creationId xmlns:a16="http://schemas.microsoft.com/office/drawing/2014/main" id="{528EBC03-1854-3E22-EDF7-C6702650CE13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466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9EE93C6C-9A09-52B2-8968-AB606F0E55D6}"/>
                  </a:ext>
                </a:extLst>
              </p:cNvPr>
              <p:cNvSpPr/>
              <p:nvPr/>
            </p:nvSpPr>
            <p:spPr>
              <a:xfrm>
                <a:off x="1590040" y="5603165"/>
                <a:ext cx="2374765" cy="32358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Rectangle: Rounded Corners 158">
                <a:extLst>
                  <a:ext uri="{FF2B5EF4-FFF2-40B4-BE49-F238E27FC236}">
                    <a16:creationId xmlns:a16="http://schemas.microsoft.com/office/drawing/2014/main" id="{14EF32EA-D114-017F-DBFE-F63D79959F99}"/>
                  </a:ext>
                </a:extLst>
              </p:cNvPr>
              <p:cNvSpPr/>
              <p:nvPr/>
            </p:nvSpPr>
            <p:spPr>
              <a:xfrm>
                <a:off x="1590040" y="5303322"/>
                <a:ext cx="2374765" cy="923272"/>
              </a:xfrm>
              <a:prstGeom prst="roundRect">
                <a:avLst>
                  <a:gd name="adj" fmla="val 9879"/>
                </a:avLst>
              </a:prstGeom>
              <a:noFill/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D086D922-3E57-7D55-1D13-0524DE570C58}"/>
                </a:ext>
              </a:extLst>
            </p:cNvPr>
            <p:cNvSpPr txBox="1"/>
            <p:nvPr/>
          </p:nvSpPr>
          <p:spPr>
            <a:xfrm>
              <a:off x="1342370" y="2928594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2" name="TextBox 151">
              <a:extLst>
                <a:ext uri="{FF2B5EF4-FFF2-40B4-BE49-F238E27FC236}">
                  <a16:creationId xmlns:a16="http://schemas.microsoft.com/office/drawing/2014/main" id="{2F4E4E72-ECFE-B991-CB49-4F95696D47F8}"/>
                </a:ext>
              </a:extLst>
            </p:cNvPr>
            <p:cNvSpPr txBox="1"/>
            <p:nvPr/>
          </p:nvSpPr>
          <p:spPr>
            <a:xfrm>
              <a:off x="1342370" y="2629568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53" name="TextBox 152">
              <a:extLst>
                <a:ext uri="{FF2B5EF4-FFF2-40B4-BE49-F238E27FC236}">
                  <a16:creationId xmlns:a16="http://schemas.microsoft.com/office/drawing/2014/main" id="{85EFAFED-45ED-1FDD-79F8-2BED0AC5076B}"/>
                </a:ext>
              </a:extLst>
            </p:cNvPr>
            <p:cNvSpPr txBox="1"/>
            <p:nvPr/>
          </p:nvSpPr>
          <p:spPr>
            <a:xfrm>
              <a:off x="1342370" y="2330542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6A8650A-9B1A-7398-6972-598AB9FAD8E5}"/>
              </a:ext>
            </a:extLst>
          </p:cNvPr>
          <p:cNvGrpSpPr/>
          <p:nvPr/>
        </p:nvGrpSpPr>
        <p:grpSpPr>
          <a:xfrm>
            <a:off x="8216865" y="440618"/>
            <a:ext cx="2239249" cy="1557651"/>
            <a:chOff x="4580556" y="3243709"/>
            <a:chExt cx="2239249" cy="1557651"/>
          </a:xfrm>
        </p:grpSpPr>
        <p:sp>
          <p:nvSpPr>
            <p:cNvPr id="184" name="Rectangle: Top Corners Rounded 183">
              <a:extLst>
                <a:ext uri="{FF2B5EF4-FFF2-40B4-BE49-F238E27FC236}">
                  <a16:creationId xmlns:a16="http://schemas.microsoft.com/office/drawing/2014/main" id="{229EA9B1-6BFD-E3FF-F3FF-C5C9B53DF06F}"/>
                </a:ext>
              </a:extLst>
            </p:cNvPr>
            <p:cNvSpPr/>
            <p:nvPr/>
          </p:nvSpPr>
          <p:spPr>
            <a:xfrm rot="10800000">
              <a:off x="4580557" y="4166644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5" name="Rectangle: Top Corners Rounded 184">
              <a:extLst>
                <a:ext uri="{FF2B5EF4-FFF2-40B4-BE49-F238E27FC236}">
                  <a16:creationId xmlns:a16="http://schemas.microsoft.com/office/drawing/2014/main" id="{73FB63BF-5717-D110-52A5-F3B146F5CB6B}"/>
                </a:ext>
              </a:extLst>
            </p:cNvPr>
            <p:cNvSpPr/>
            <p:nvPr/>
          </p:nvSpPr>
          <p:spPr>
            <a:xfrm>
              <a:off x="4580556" y="3243709"/>
              <a:ext cx="2239248" cy="923272"/>
            </a:xfrm>
            <a:prstGeom prst="round2SameRect">
              <a:avLst>
                <a:gd name="adj1" fmla="val 13584"/>
                <a:gd name="adj2" fmla="val 0"/>
              </a:avLst>
            </a:prstGeom>
            <a:solidFill>
              <a:srgbClr val="D9D9D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6" name="Rectangle 185">
              <a:extLst>
                <a:ext uri="{FF2B5EF4-FFF2-40B4-BE49-F238E27FC236}">
                  <a16:creationId xmlns:a16="http://schemas.microsoft.com/office/drawing/2014/main" id="{BFE8DF71-9149-613C-4600-80E2A3014CBA}"/>
                </a:ext>
              </a:extLst>
            </p:cNvPr>
            <p:cNvSpPr/>
            <p:nvPr/>
          </p:nvSpPr>
          <p:spPr>
            <a:xfrm>
              <a:off x="4580556" y="3544031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7" name="Rectangle: Rounded Corners 186">
              <a:extLst>
                <a:ext uri="{FF2B5EF4-FFF2-40B4-BE49-F238E27FC236}">
                  <a16:creationId xmlns:a16="http://schemas.microsoft.com/office/drawing/2014/main" id="{1AEFF849-F882-E815-BA68-80B76190EC0D}"/>
                </a:ext>
              </a:extLst>
            </p:cNvPr>
            <p:cNvSpPr/>
            <p:nvPr/>
          </p:nvSpPr>
          <p:spPr>
            <a:xfrm>
              <a:off x="4580556" y="3244668"/>
              <a:ext cx="2239249" cy="1246101"/>
            </a:xfrm>
            <a:prstGeom prst="roundRect">
              <a:avLst>
                <a:gd name="adj" fmla="val 7433"/>
              </a:avLst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8" name="TextBox 187">
              <a:extLst>
                <a:ext uri="{FF2B5EF4-FFF2-40B4-BE49-F238E27FC236}">
                  <a16:creationId xmlns:a16="http://schemas.microsoft.com/office/drawing/2014/main" id="{33579F1E-6CB2-0193-BAA2-1247E7FCBDEF}"/>
                </a:ext>
              </a:extLst>
            </p:cNvPr>
            <p:cNvSpPr txBox="1"/>
            <p:nvPr/>
          </p:nvSpPr>
          <p:spPr>
            <a:xfrm>
              <a:off x="4651773" y="38538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89" name="TextBox 188">
              <a:extLst>
                <a:ext uri="{FF2B5EF4-FFF2-40B4-BE49-F238E27FC236}">
                  <a16:creationId xmlns:a16="http://schemas.microsoft.com/office/drawing/2014/main" id="{AFC220C3-24C2-039B-DB95-799285B4D7EF}"/>
                </a:ext>
              </a:extLst>
            </p:cNvPr>
            <p:cNvSpPr txBox="1"/>
            <p:nvPr/>
          </p:nvSpPr>
          <p:spPr>
            <a:xfrm>
              <a:off x="4651773" y="355479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0" name="TextBox 189">
              <a:extLst>
                <a:ext uri="{FF2B5EF4-FFF2-40B4-BE49-F238E27FC236}">
                  <a16:creationId xmlns:a16="http://schemas.microsoft.com/office/drawing/2014/main" id="{66E1370B-F4E9-A649-A767-EE11BD3748F2}"/>
                </a:ext>
              </a:extLst>
            </p:cNvPr>
            <p:cNvSpPr txBox="1"/>
            <p:nvPr/>
          </p:nvSpPr>
          <p:spPr>
            <a:xfrm>
              <a:off x="4651771" y="3255773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srsRAN_Project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1" name="TextBox 190">
              <a:extLst>
                <a:ext uri="{FF2B5EF4-FFF2-40B4-BE49-F238E27FC236}">
                  <a16:creationId xmlns:a16="http://schemas.microsoft.com/office/drawing/2014/main" id="{B9116D2E-B36D-257B-A7FE-ED45BAEF10A0}"/>
                </a:ext>
              </a:extLst>
            </p:cNvPr>
            <p:cNvSpPr txBox="1"/>
            <p:nvPr/>
          </p:nvSpPr>
          <p:spPr>
            <a:xfrm>
              <a:off x="4651773" y="417361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2" name="TextBox 191">
              <a:extLst>
                <a:ext uri="{FF2B5EF4-FFF2-40B4-BE49-F238E27FC236}">
                  <a16:creationId xmlns:a16="http://schemas.microsoft.com/office/drawing/2014/main" id="{E6E33893-429F-F317-B564-C4D037064D7E}"/>
                </a:ext>
              </a:extLst>
            </p:cNvPr>
            <p:cNvSpPr txBox="1"/>
            <p:nvPr/>
          </p:nvSpPr>
          <p:spPr>
            <a:xfrm>
              <a:off x="4580556" y="449358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Next Generation Node B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53784BD-0F53-3A78-9BF8-4EDBA6EF7876}"/>
              </a:ext>
            </a:extLst>
          </p:cNvPr>
          <p:cNvGrpSpPr/>
          <p:nvPr/>
        </p:nvGrpSpPr>
        <p:grpSpPr>
          <a:xfrm>
            <a:off x="8946149" y="2752413"/>
            <a:ext cx="2263961" cy="1844033"/>
            <a:chOff x="3916949" y="3691197"/>
            <a:chExt cx="2263961" cy="1844033"/>
          </a:xfrm>
        </p:grpSpPr>
        <p:sp>
          <p:nvSpPr>
            <p:cNvPr id="210" name="Rectangle: Rounded Corners 209">
              <a:extLst>
                <a:ext uri="{FF2B5EF4-FFF2-40B4-BE49-F238E27FC236}">
                  <a16:creationId xmlns:a16="http://schemas.microsoft.com/office/drawing/2014/main" id="{70ADBDF1-D32C-AE54-601E-E1D8D6CDE9CC}"/>
                </a:ext>
              </a:extLst>
            </p:cNvPr>
            <p:cNvSpPr/>
            <p:nvPr/>
          </p:nvSpPr>
          <p:spPr>
            <a:xfrm>
              <a:off x="3916949" y="3692460"/>
              <a:ext cx="2239249" cy="1531642"/>
            </a:xfrm>
            <a:prstGeom prst="roundRect">
              <a:avLst>
                <a:gd name="adj" fmla="val 5859"/>
              </a:avLst>
            </a:prstGeom>
            <a:solidFill>
              <a:schemeClr val="bg1">
                <a:lumMod val="85000"/>
              </a:schemeClr>
            </a:solidFill>
            <a:ln w="285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95" name="Rectangle: Top Corners Rounded 194">
              <a:extLst>
                <a:ext uri="{FF2B5EF4-FFF2-40B4-BE49-F238E27FC236}">
                  <a16:creationId xmlns:a16="http://schemas.microsoft.com/office/drawing/2014/main" id="{49EE529D-3822-3C34-2FCF-96301FCBDE2B}"/>
                </a:ext>
              </a:extLst>
            </p:cNvPr>
            <p:cNvSpPr/>
            <p:nvPr/>
          </p:nvSpPr>
          <p:spPr>
            <a:xfrm rot="10800000">
              <a:off x="3916952" y="4613172"/>
              <a:ext cx="2239248" cy="323588"/>
            </a:xfrm>
            <a:prstGeom prst="round2SameRect">
              <a:avLst>
                <a:gd name="adj1" fmla="val 28890"/>
                <a:gd name="adj2" fmla="val 0"/>
              </a:avLst>
            </a:prstGeom>
            <a:solidFill>
              <a:srgbClr val="F2F2F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9D8422CA-4FF5-7187-2D0D-ADC45EB74032}"/>
                </a:ext>
              </a:extLst>
            </p:cNvPr>
            <p:cNvSpPr/>
            <p:nvPr/>
          </p:nvSpPr>
          <p:spPr>
            <a:xfrm>
              <a:off x="3916951" y="3990559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9F8EDD21-A0C6-EE8F-DB27-D2CD5236A366}"/>
                </a:ext>
              </a:extLst>
            </p:cNvPr>
            <p:cNvSpPr txBox="1"/>
            <p:nvPr/>
          </p:nvSpPr>
          <p:spPr>
            <a:xfrm>
              <a:off x="3988167" y="4313625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F4E12DF1-F6ED-9A1D-33B3-ACB6D007555A}"/>
                </a:ext>
              </a:extLst>
            </p:cNvPr>
            <p:cNvSpPr txBox="1"/>
            <p:nvPr/>
          </p:nvSpPr>
          <p:spPr>
            <a:xfrm>
              <a:off x="3988167" y="4007963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201" name="TextBox 200">
              <a:extLst>
                <a:ext uri="{FF2B5EF4-FFF2-40B4-BE49-F238E27FC236}">
                  <a16:creationId xmlns:a16="http://schemas.microsoft.com/office/drawing/2014/main" id="{0E36D728-D080-9470-0E71-4C5261DE33FD}"/>
                </a:ext>
              </a:extLst>
            </p:cNvPr>
            <p:cNvSpPr txBox="1"/>
            <p:nvPr/>
          </p:nvSpPr>
          <p:spPr>
            <a:xfrm>
              <a:off x="3988166" y="3702301"/>
              <a:ext cx="2096818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srsRAN_4G</a:t>
              </a:r>
            </a:p>
          </p:txBody>
        </p: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16FB98B6-AA11-EA1B-485F-18B0C2E0C573}"/>
                </a:ext>
              </a:extLst>
            </p:cNvPr>
            <p:cNvSpPr txBox="1"/>
            <p:nvPr/>
          </p:nvSpPr>
          <p:spPr>
            <a:xfrm>
              <a:off x="3988167" y="4924949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3" name="TextBox 202">
              <a:extLst>
                <a:ext uri="{FF2B5EF4-FFF2-40B4-BE49-F238E27FC236}">
                  <a16:creationId xmlns:a16="http://schemas.microsoft.com/office/drawing/2014/main" id="{2BC8A388-630D-2F0A-E362-E58FB4DE4B4B}"/>
                </a:ext>
              </a:extLst>
            </p:cNvPr>
            <p:cNvSpPr txBox="1"/>
            <p:nvPr/>
          </p:nvSpPr>
          <p:spPr>
            <a:xfrm>
              <a:off x="3941661" y="5227453"/>
              <a:ext cx="2239249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User Equipment</a:t>
              </a:r>
              <a:endPara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8" name="Rectangle 207">
              <a:extLst>
                <a:ext uri="{FF2B5EF4-FFF2-40B4-BE49-F238E27FC236}">
                  <a16:creationId xmlns:a16="http://schemas.microsoft.com/office/drawing/2014/main" id="{212011C4-EBF3-EB29-D80C-BEAECBCA7B62}"/>
                </a:ext>
              </a:extLst>
            </p:cNvPr>
            <p:cNvSpPr/>
            <p:nvPr/>
          </p:nvSpPr>
          <p:spPr>
            <a:xfrm>
              <a:off x="3916950" y="4615547"/>
              <a:ext cx="2239249" cy="32358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84E8EFF1-03BE-6A27-CF24-939A0A21B022}"/>
                </a:ext>
              </a:extLst>
            </p:cNvPr>
            <p:cNvSpPr txBox="1"/>
            <p:nvPr/>
          </p:nvSpPr>
          <p:spPr>
            <a:xfrm>
              <a:off x="3988167" y="4619287"/>
              <a:ext cx="2096816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OAI RF Simulator</a:t>
              </a:r>
            </a:p>
          </p:txBody>
        </p:sp>
        <p:sp>
          <p:nvSpPr>
            <p:cNvPr id="198" name="Rectangle: Rounded Corners 197">
              <a:extLst>
                <a:ext uri="{FF2B5EF4-FFF2-40B4-BE49-F238E27FC236}">
                  <a16:creationId xmlns:a16="http://schemas.microsoft.com/office/drawing/2014/main" id="{4F21D880-AC22-436C-BBFD-41B6AC956B7F}"/>
                </a:ext>
              </a:extLst>
            </p:cNvPr>
            <p:cNvSpPr/>
            <p:nvPr/>
          </p:nvSpPr>
          <p:spPr>
            <a:xfrm>
              <a:off x="3916951" y="3691197"/>
              <a:ext cx="2239249" cy="1534218"/>
            </a:xfrm>
            <a:prstGeom prst="roundRect">
              <a:avLst>
                <a:gd name="adj" fmla="val 5819"/>
              </a:avLst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C49EF465-001C-7783-5F6C-57A25CF61BB4}"/>
              </a:ext>
            </a:extLst>
          </p:cNvPr>
          <p:cNvGrpSpPr/>
          <p:nvPr/>
        </p:nvGrpSpPr>
        <p:grpSpPr>
          <a:xfrm>
            <a:off x="2854729" y="476549"/>
            <a:ext cx="2283381" cy="618690"/>
            <a:chOff x="4021891" y="2194877"/>
            <a:chExt cx="2283381" cy="618690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4C17C7CA-3D88-352F-013F-B179FDCA2E4C}"/>
                </a:ext>
              </a:extLst>
            </p:cNvPr>
            <p:cNvGrpSpPr/>
            <p:nvPr/>
          </p:nvGrpSpPr>
          <p:grpSpPr>
            <a:xfrm>
              <a:off x="4021891" y="2194877"/>
              <a:ext cx="2239249" cy="618690"/>
              <a:chOff x="4021891" y="2194877"/>
              <a:chExt cx="2239249" cy="618690"/>
            </a:xfrm>
          </p:grpSpPr>
          <p:sp>
            <p:nvSpPr>
              <p:cNvPr id="18" name="Rectangle: Rounded Corners 17">
                <a:extLst>
                  <a:ext uri="{FF2B5EF4-FFF2-40B4-BE49-F238E27FC236}">
                    <a16:creationId xmlns:a16="http://schemas.microsoft.com/office/drawing/2014/main" id="{C8F751A2-1FD4-CEF2-3A17-68FE14A70D80}"/>
                  </a:ext>
                </a:extLst>
              </p:cNvPr>
              <p:cNvSpPr/>
              <p:nvPr/>
            </p:nvSpPr>
            <p:spPr>
              <a:xfrm>
                <a:off x="4021891" y="2194877"/>
                <a:ext cx="2239249" cy="618689"/>
              </a:xfrm>
              <a:prstGeom prst="roundRect">
                <a:avLst>
                  <a:gd name="adj" fmla="val 12974"/>
                </a:avLst>
              </a:prstGeom>
              <a:solidFill>
                <a:schemeClr val="bg1">
                  <a:lumMod val="85000"/>
                </a:schemeClr>
              </a:solidFill>
              <a:ln w="285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9" name="Rectangle: Top Corners Rounded 18">
                <a:extLst>
                  <a:ext uri="{FF2B5EF4-FFF2-40B4-BE49-F238E27FC236}">
                    <a16:creationId xmlns:a16="http://schemas.microsoft.com/office/drawing/2014/main" id="{6B20333F-70B2-82D0-0236-16367BE204FC}"/>
                  </a:ext>
                </a:extLst>
              </p:cNvPr>
              <p:cNvSpPr/>
              <p:nvPr/>
            </p:nvSpPr>
            <p:spPr>
              <a:xfrm flipV="1">
                <a:off x="4022672" y="2504431"/>
                <a:ext cx="2238468" cy="307778"/>
              </a:xfrm>
              <a:prstGeom prst="round2SameRect">
                <a:avLst>
                  <a:gd name="adj1" fmla="val 28674"/>
                  <a:gd name="adj2" fmla="val 0"/>
                </a:avLst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: Rounded Corners 19">
                <a:extLst>
                  <a:ext uri="{FF2B5EF4-FFF2-40B4-BE49-F238E27FC236}">
                    <a16:creationId xmlns:a16="http://schemas.microsoft.com/office/drawing/2014/main" id="{4935954C-C150-F87D-E950-5626530C6397}"/>
                  </a:ext>
                </a:extLst>
              </p:cNvPr>
              <p:cNvSpPr/>
              <p:nvPr/>
            </p:nvSpPr>
            <p:spPr>
              <a:xfrm>
                <a:off x="4021891" y="2194878"/>
                <a:ext cx="2239249" cy="618689"/>
              </a:xfrm>
              <a:prstGeom prst="roundRect">
                <a:avLst>
                  <a:gd name="adj" fmla="val 12974"/>
                </a:avLst>
              </a:prstGeom>
              <a:noFill/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p:grp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2B8321BA-AFD2-0D5A-A1EF-8F267B242282}"/>
                </a:ext>
              </a:extLst>
            </p:cNvPr>
            <p:cNvSpPr txBox="1"/>
            <p:nvPr/>
          </p:nvSpPr>
          <p:spPr>
            <a:xfrm>
              <a:off x="4335869" y="2202843"/>
              <a:ext cx="1969403" cy="2062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Software-Defined Radio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838E587D-7FC7-DCA8-A87C-348E0BC5049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rcRect/>
            <a:stretch/>
          </p:blipFill>
          <p:spPr>
            <a:xfrm>
              <a:off x="4134842" y="2215325"/>
              <a:ext cx="289426" cy="289426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89E10690-E616-98D7-E1BE-87ABD688169C}"/>
                </a:ext>
              </a:extLst>
            </p:cNvPr>
            <p:cNvSpPr txBox="1"/>
            <p:nvPr/>
          </p:nvSpPr>
          <p:spPr>
            <a:xfrm>
              <a:off x="4335869" y="2505790"/>
              <a:ext cx="1969403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400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RF Simulator / </a:t>
              </a:r>
              <a:r>
                <a:rPr lang="en-US" sz="1400" dirty="0" err="1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ZeroMQ</a:t>
              </a:r>
              <a:endParaRPr lang="en-US" sz="140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pic>
          <p:nvPicPr>
            <p:cNvPr id="17" name="Graphic 16">
              <a:extLst>
                <a:ext uri="{FF2B5EF4-FFF2-40B4-BE49-F238E27FC236}">
                  <a16:creationId xmlns:a16="http://schemas.microsoft.com/office/drawing/2014/main" id="{623624F3-1900-AB14-665C-2ED82DEB8D1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4167277" y="2528018"/>
              <a:ext cx="256990" cy="256990"/>
            </a:xfrm>
            <a:prstGeom prst="rect">
              <a:avLst/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3A6B4BEF-4393-C342-1C07-D6E23E30CC41}"/>
              </a:ext>
            </a:extLst>
          </p:cNvPr>
          <p:cNvSpPr txBox="1"/>
          <p:nvPr/>
        </p:nvSpPr>
        <p:spPr>
          <a:xfrm>
            <a:off x="2049861" y="4285318"/>
            <a:ext cx="4092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ighlight>
                  <a:srgbClr val="FFFF00"/>
                </a:highlight>
              </a:rPr>
              <a:t>[ Template objects for future diagrams ]</a:t>
            </a:r>
          </a:p>
        </p:txBody>
      </p:sp>
    </p:spTree>
    <p:extLst>
      <p:ext uri="{BB962C8B-B14F-4D97-AF65-F5344CB8AC3E}">
        <p14:creationId xmlns:p14="http://schemas.microsoft.com/office/powerpoint/2010/main" val="3201538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O-RAN gNB Overview — srsRAN Project documentation">
            <a:extLst>
              <a:ext uri="{FF2B5EF4-FFF2-40B4-BE49-F238E27FC236}">
                <a16:creationId xmlns:a16="http://schemas.microsoft.com/office/drawing/2014/main" id="{A7394ECF-42BA-F193-3EA6-8F345F13FC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0519"/>
          <a:stretch/>
        </p:blipFill>
        <p:spPr bwMode="auto">
          <a:xfrm>
            <a:off x="4905375" y="228842"/>
            <a:ext cx="7186484" cy="1147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5G Overview">
            <a:extLst>
              <a:ext uri="{FF2B5EF4-FFF2-40B4-BE49-F238E27FC236}">
                <a16:creationId xmlns:a16="http://schemas.microsoft.com/office/drawing/2014/main" id="{36465057-85AD-DA2B-2937-4F577F8457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69211" y="1595627"/>
            <a:ext cx="4876800" cy="1647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5G Requirement: New Network Architecture | Smart Telecom Edu">
            <a:extLst>
              <a:ext uri="{FF2B5EF4-FFF2-40B4-BE49-F238E27FC236}">
                <a16:creationId xmlns:a16="http://schemas.microsoft.com/office/drawing/2014/main" id="{08726F91-2B0F-0AF5-A3EE-44C77597D60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91491" y="3771899"/>
            <a:ext cx="4908658" cy="2606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5G Protocol Stack | LTEProtocol.com: Your Gateway to Wireless Excellence">
            <a:extLst>
              <a:ext uri="{FF2B5EF4-FFF2-40B4-BE49-F238E27FC236}">
                <a16:creationId xmlns:a16="http://schemas.microsoft.com/office/drawing/2014/main" id="{6291FB33-293F-C88F-93BA-161477BAD4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141" y="3620598"/>
            <a:ext cx="6991350" cy="31718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B71D96-4F2C-919A-704A-46D0C3DA274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5989" y="221000"/>
            <a:ext cx="4414709" cy="3016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6791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</TotalTime>
  <Words>754</Words>
  <Application>Microsoft Office PowerPoint</Application>
  <PresentationFormat>Widescreen</PresentationFormat>
  <Paragraphs>247</Paragraphs>
  <Slides>10</Slides>
  <Notes>0</Notes>
  <HiddenSlides>4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Wuthier, Simeon J. (Assoc)</dc:creator>
  <cp:lastModifiedBy>Wuthier, Simeon J. (Assoc)</cp:lastModifiedBy>
  <cp:revision>99</cp:revision>
  <dcterms:created xsi:type="dcterms:W3CDTF">2025-03-21T23:15:08Z</dcterms:created>
  <dcterms:modified xsi:type="dcterms:W3CDTF">2025-08-22T18:03:20Z</dcterms:modified>
</cp:coreProperties>
</file>